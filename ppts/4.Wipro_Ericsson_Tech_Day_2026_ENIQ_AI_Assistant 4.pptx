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45320E-8E7C-4B27-ABEC-05609EEF2A62}" v="16" dt="2026-07-07T08:54:30.6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CC45320E-8E7C-4B27-ABEC-05609EEF2A62}"/>
    <pc:docChg chg="modSld">
      <pc:chgData name="" userId="" providerId="" clId="Web-{CC45320E-8E7C-4B27-ABEC-05609EEF2A62}" dt="2026-07-07T08:54:30.638" v="15" actId="14100"/>
      <pc:docMkLst>
        <pc:docMk/>
      </pc:docMkLst>
      <pc:sldChg chg="addSp delSp modSp">
        <pc:chgData name="" userId="" providerId="" clId="Web-{CC45320E-8E7C-4B27-ABEC-05609EEF2A62}" dt="2026-07-07T08:54:30.638" v="15" actId="14100"/>
        <pc:sldMkLst>
          <pc:docMk/>
          <pc:sldMk cId="0" sldId="259"/>
        </pc:sldMkLst>
        <pc:spChg chg="mod">
          <ac:chgData name="" userId="" providerId="" clId="Web-{CC45320E-8E7C-4B27-ABEC-05609EEF2A62}" dt="2026-07-07T08:53:14.495" v="7" actId="1076"/>
          <ac:spMkLst>
            <pc:docMk/>
            <pc:sldMk cId="0" sldId="259"/>
            <ac:spMk id="2" creationId="{00000000-0000-0000-0000-000000000000}"/>
          </ac:spMkLst>
        </pc:spChg>
        <pc:spChg chg="del mod">
          <ac:chgData name="" userId="" providerId="" clId="Web-{CC45320E-8E7C-4B27-ABEC-05609EEF2A62}" dt="2026-07-07T08:51:33.211" v="2"/>
          <ac:spMkLst>
            <pc:docMk/>
            <pc:sldMk cId="0" sldId="259"/>
            <ac:spMk id="37" creationId="{00000000-0000-0000-0000-000000000000}"/>
          </ac:spMkLst>
        </pc:spChg>
        <pc:spChg chg="add mod">
          <ac:chgData name="" userId="" providerId="" clId="Web-{CC45320E-8E7C-4B27-ABEC-05609EEF2A62}" dt="2026-07-07T08:52:32.603" v="5" actId="1076"/>
          <ac:spMkLst>
            <pc:docMk/>
            <pc:sldMk cId="0" sldId="259"/>
            <ac:spMk id="42" creationId="{CE964C90-A821-6949-D0E0-E9C5CB91F8D6}"/>
          </ac:spMkLst>
        </pc:spChg>
        <pc:spChg chg="add mod">
          <ac:chgData name="" userId="" providerId="" clId="Web-{CC45320E-8E7C-4B27-ABEC-05609EEF2A62}" dt="2026-07-07T08:54:30.638" v="15" actId="14100"/>
          <ac:spMkLst>
            <pc:docMk/>
            <pc:sldMk cId="0" sldId="259"/>
            <ac:spMk id="43" creationId="{EB53CE37-32D2-C6D1-5169-3C030C9B624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296768-C54E-47E1-8890-C192D6868DC0}" type="datetimeFigureOut">
              <a:t>7/7/2026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8B15CE-6341-4391-BF9B-D176304F7C3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859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ENIQ_AI_Assistant_Demo.md: title, event positioning, powered by Kiro AI Engine, and tool integration content.
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ENIQ_AI_Assistant_Demo.md: problem statement and need for a single intelligent assistant.
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ENIQ_AI_Assistant_Demo.md: AI chat, per-user credentials, session persistence and tool integrations.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ENIQ_AI_Assistant_Demo.md: architecture components and ports; JIRA, Jenkins, Gerrit and Confluence integration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ENIQ_AI_Assistant_Demo.md: benefit metrics, additional benefits and future roadmap.
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81160" y="137160"/>
            <a:ext cx="2560320" cy="178308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5138928"/>
            <a:ext cx="2331720" cy="1078992"/>
          </a:xfrm>
          <a:prstGeom prst="ellipse">
            <a:avLst/>
          </a:prstGeom>
          <a:solidFill>
            <a:srgbClr val="E0F2FE">
              <a:alpha val="90000"/>
            </a:srgbClr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pic>
        <p:nvPicPr>
          <p:cNvPr id="5" name="Image 0" descr="/mnt/data/8bf6c666be.png"/>
          <p:cNvPicPr>
            <a:picLocks noChangeAspect="1"/>
          </p:cNvPicPr>
          <p:nvPr/>
        </p:nvPicPr>
        <p:blipFill>
          <a:blip r:embed="rId3"/>
          <a:srcRect l="21200" r="21200"/>
          <a:stretch/>
        </p:blipFill>
        <p:spPr>
          <a:xfrm>
            <a:off x="6263640" y="0"/>
            <a:ext cx="5925312" cy="6858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0"/>
            <a:ext cx="6446520" cy="6858000"/>
          </a:xfrm>
          <a:prstGeom prst="rect">
            <a:avLst/>
          </a:prstGeom>
          <a:solidFill>
            <a:srgbClr val="F8FAFC">
              <a:alpha val="97000"/>
            </a:srgbClr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603504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Wipro - Ericsson Tech Day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94944" y="1170432"/>
            <a:ext cx="54864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ENIQ AI DevOps Assistant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731520" y="2322576"/>
            <a:ext cx="5166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Intelligent DevOps automation for project delivery teams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749808" y="2971800"/>
            <a:ext cx="2514600" cy="31089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41248" y="3054096"/>
            <a:ext cx="2331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Category: AI in Project Management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438144" y="297180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529584" y="3054096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Kiro AI Engine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749808" y="3794760"/>
            <a:ext cx="4800600" cy="1298448"/>
          </a:xfrm>
          <a:prstGeom prst="roundRect">
            <a:avLst>
              <a:gd name="adj" fmla="val 126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987552" y="4069080"/>
            <a:ext cx="4315968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conversational interface to ask, trace, diagnose and summarize across JIRA, Jenkins, Gerrit and Confluence.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594360" y="6519672"/>
            <a:ext cx="11018520" cy="0"/>
          </a:xfrm>
          <a:prstGeom prst="line">
            <a:avLst/>
          </a:prstGeom>
          <a:noFill/>
          <a:ln w="12700">
            <a:solidFill>
              <a:srgbClr val="D8E2E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1792" y="6583680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Wipro - Ericsson Tech Day 2026 | AI in Project Management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01400" y="656539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81160" y="137160"/>
            <a:ext cx="2560320" cy="178308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5138928"/>
            <a:ext cx="2331720" cy="1078992"/>
          </a:xfrm>
          <a:prstGeom prst="ellipse">
            <a:avLst/>
          </a:prstGeom>
          <a:solidFill>
            <a:srgbClr val="E0F2FE">
              <a:alpha val="90000"/>
            </a:srgbClr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347472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PROJECT-MANAGEMENT FRICTION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621792"/>
            <a:ext cx="8869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Overview: Why This Matters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94360" y="6519672"/>
            <a:ext cx="11018520" cy="0"/>
          </a:xfrm>
          <a:prstGeom prst="line">
            <a:avLst/>
          </a:prstGeom>
          <a:noFill/>
          <a:ln w="12700">
            <a:solidFill>
              <a:srgbClr val="D8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6583680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Wipro - Ericsson Tech Day 2026 | AI in Project Management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201400" y="656539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800" dirty="0"/>
          </a:p>
        </p:txBody>
      </p:sp>
      <p:pic>
        <p:nvPicPr>
          <p:cNvPr id="10" name="Image 0" descr="/mnt/data/30cbc017b1.png"/>
          <p:cNvPicPr>
            <a:picLocks noChangeAspect="1"/>
          </p:cNvPicPr>
          <p:nvPr/>
        </p:nvPicPr>
        <p:blipFill>
          <a:blip r:embed="rId3"/>
          <a:srcRect l="12366" r="12366"/>
          <a:stretch/>
        </p:blipFill>
        <p:spPr>
          <a:xfrm>
            <a:off x="6656832" y="1152144"/>
            <a:ext cx="4800600" cy="4251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656832" y="1152144"/>
            <a:ext cx="4800600" cy="4251960"/>
          </a:xfrm>
          <a:prstGeom prst="roundRect">
            <a:avLst>
              <a:gd name="adj" fmla="val 5161"/>
            </a:avLst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13232" y="1325880"/>
            <a:ext cx="2606040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  <a:effectLst>
            <a:outerShdw blurRad="19050" dist="1016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13232" y="1325880"/>
            <a:ext cx="73152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41832" y="14904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Multiple Tools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41832" y="1856232"/>
            <a:ext cx="2194560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Engineers move between JIRA, Jenkins, Gerrit and Confluence during daily investigations.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3547872" y="1325880"/>
            <a:ext cx="2606040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  <a:effectLst>
            <a:outerShdw blurRad="19050" dist="1016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547872" y="1325880"/>
            <a:ext cx="73152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776472" y="14904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Context Switching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776472" y="1856232"/>
            <a:ext cx="2194560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failures, code changes and user stories require correlating information across several systems.</a:t>
            </a:r>
            <a:endParaRPr lang="en-US" sz="920" dirty="0"/>
          </a:p>
        </p:txBody>
      </p:sp>
      <p:sp>
        <p:nvSpPr>
          <p:cNvPr id="20" name="Shape 17"/>
          <p:cNvSpPr/>
          <p:nvPr/>
        </p:nvSpPr>
        <p:spPr>
          <a:xfrm>
            <a:off x="713232" y="3054096"/>
            <a:ext cx="2606040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  <a:effectLst>
            <a:outerShdw blurRad="19050" dist="1016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13232" y="3054096"/>
            <a:ext cx="73152" cy="1417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41832" y="32186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Manual Analysis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941832" y="3584448"/>
            <a:ext cx="2194560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 analysis and platform searches consume time and slow project follow-up.</a:t>
            </a:r>
            <a:endParaRPr lang="en-US" sz="920" dirty="0"/>
          </a:p>
        </p:txBody>
      </p:sp>
      <p:sp>
        <p:nvSpPr>
          <p:cNvPr id="24" name="Shape 21"/>
          <p:cNvSpPr/>
          <p:nvPr/>
        </p:nvSpPr>
        <p:spPr>
          <a:xfrm>
            <a:off x="3547872" y="3054096"/>
            <a:ext cx="2606040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  <a:effectLst>
            <a:outerShdw blurRad="19050" dist="1016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3547872" y="3054096"/>
            <a:ext cx="73152" cy="1417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776472" y="32186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Silos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3776472" y="3584448"/>
            <a:ext cx="2194560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engineers need help navigating CI/CD pipelines and team documentation.</a:t>
            </a:r>
            <a:endParaRPr lang="en-US" sz="920" dirty="0"/>
          </a:p>
        </p:txBody>
      </p:sp>
      <p:sp>
        <p:nvSpPr>
          <p:cNvPr id="28" name="Shape 25"/>
          <p:cNvSpPr/>
          <p:nvPr/>
        </p:nvSpPr>
        <p:spPr>
          <a:xfrm>
            <a:off x="822960" y="4983480"/>
            <a:ext cx="5138928" cy="658368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24128" y="5175504"/>
            <a:ext cx="4736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Need: a single intelligent assistant that understands context and correlates project data across DevOps tools.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81160" y="137160"/>
            <a:ext cx="2560320" cy="178308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5138928"/>
            <a:ext cx="2331720" cy="1078992"/>
          </a:xfrm>
          <a:prstGeom prst="ellipse">
            <a:avLst/>
          </a:prstGeom>
          <a:solidFill>
            <a:srgbClr val="E0F2FE">
              <a:alpha val="90000"/>
            </a:srgbClr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347472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CONVERSATIONAL AI FOR PROJECT EXECUTION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621792"/>
            <a:ext cx="8869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Solution: ENIQ AI DevOps Assistant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94360" y="6519672"/>
            <a:ext cx="11018520" cy="0"/>
          </a:xfrm>
          <a:prstGeom prst="line">
            <a:avLst/>
          </a:prstGeom>
          <a:noFill/>
          <a:ln w="12700">
            <a:solidFill>
              <a:srgbClr val="D8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6583680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Wipro - Ericsson Tech Day 2026 | AI in Project Management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201400" y="656539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0" y="1892808"/>
            <a:ext cx="2880360" cy="288036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84064" y="2633472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7C3A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</a:t>
            </a:r>
            <a:endParaRPr lang="en-US" sz="2300" dirty="0"/>
          </a:p>
          <a:p>
            <a:pPr marL="0" indent="0" algn="ctr">
              <a:buNone/>
            </a:pPr>
            <a:r>
              <a:rPr lang="en-US" sz="2300" b="1" dirty="0">
                <a:solidFill>
                  <a:srgbClr val="7C3A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Assistant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713232" y="1325880"/>
            <a:ext cx="3657600" cy="960120"/>
          </a:xfrm>
          <a:prstGeom prst="roundRect">
            <a:avLst>
              <a:gd name="adj" fmla="val 1714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  <a:effectLst>
            <a:outerShdw blurRad="19050" dist="1016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1545336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1655064"/>
            <a:ext cx="347472" cy="34747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627632" y="1545336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AI-Powered Chat</a:t>
            </a:r>
            <a:endParaRPr lang="en-US" sz="1220" dirty="0"/>
          </a:p>
        </p:txBody>
      </p:sp>
      <p:sp>
        <p:nvSpPr>
          <p:cNvPr id="16" name="Text 13"/>
          <p:cNvSpPr/>
          <p:nvPr/>
        </p:nvSpPr>
        <p:spPr>
          <a:xfrm>
            <a:off x="1627632" y="1847088"/>
            <a:ext cx="25328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Natural-language queries processed by Kiro AI.</a:t>
            </a:r>
            <a:endParaRPr lang="en-US" sz="880" dirty="0"/>
          </a:p>
        </p:txBody>
      </p:sp>
      <p:sp>
        <p:nvSpPr>
          <p:cNvPr id="17" name="Shape 14"/>
          <p:cNvSpPr/>
          <p:nvPr/>
        </p:nvSpPr>
        <p:spPr>
          <a:xfrm>
            <a:off x="7818120" y="1325880"/>
            <a:ext cx="3611880" cy="960120"/>
          </a:xfrm>
          <a:prstGeom prst="roundRect">
            <a:avLst>
              <a:gd name="adj" fmla="val 17143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  <a:effectLst>
            <a:outerShdw blurRad="19050" dist="1016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019288" y="1545336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29016" y="1655064"/>
            <a:ext cx="347472" cy="34747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732520" y="154533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Per-User Credentials</a:t>
            </a:r>
            <a:endParaRPr lang="en-US" sz="1220" dirty="0"/>
          </a:p>
        </p:txBody>
      </p:sp>
      <p:sp>
        <p:nvSpPr>
          <p:cNvPr id="21" name="Text 17"/>
          <p:cNvSpPr/>
          <p:nvPr/>
        </p:nvSpPr>
        <p:spPr>
          <a:xfrm>
            <a:off x="8732520" y="1847088"/>
            <a:ext cx="248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configure secure personal tokens for each service.</a:t>
            </a:r>
            <a:endParaRPr lang="en-US" sz="880" dirty="0"/>
          </a:p>
        </p:txBody>
      </p:sp>
      <p:sp>
        <p:nvSpPr>
          <p:cNvPr id="22" name="Shape 18"/>
          <p:cNvSpPr/>
          <p:nvPr/>
        </p:nvSpPr>
        <p:spPr>
          <a:xfrm>
            <a:off x="713232" y="4315968"/>
            <a:ext cx="3657600" cy="960120"/>
          </a:xfrm>
          <a:prstGeom prst="roundRect">
            <a:avLst>
              <a:gd name="adj" fmla="val 17143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  <a:effectLst>
            <a:outerShdw blurRad="19050" dist="1016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914400" y="4535424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4128" y="4645152"/>
            <a:ext cx="347472" cy="34747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627632" y="453542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Session Persistence</a:t>
            </a:r>
            <a:endParaRPr lang="en-US" sz="1220" dirty="0"/>
          </a:p>
        </p:txBody>
      </p:sp>
      <p:sp>
        <p:nvSpPr>
          <p:cNvPr id="26" name="Text 21"/>
          <p:cNvSpPr/>
          <p:nvPr/>
        </p:nvSpPr>
        <p:spPr>
          <a:xfrm>
            <a:off x="1627632" y="4837176"/>
            <a:ext cx="25328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Follow-up questions keep conversation context per user.</a:t>
            </a:r>
            <a:endParaRPr lang="en-US" sz="880" dirty="0"/>
          </a:p>
        </p:txBody>
      </p:sp>
      <p:sp>
        <p:nvSpPr>
          <p:cNvPr id="27" name="Shape 22"/>
          <p:cNvSpPr/>
          <p:nvPr/>
        </p:nvSpPr>
        <p:spPr>
          <a:xfrm>
            <a:off x="7818120" y="4315968"/>
            <a:ext cx="3611880" cy="960120"/>
          </a:xfrm>
          <a:prstGeom prst="roundRect">
            <a:avLst>
              <a:gd name="adj" fmla="val 17143"/>
            </a:avLst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  <a:effectLst>
            <a:outerShdw blurRad="19050" dist="1016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8019288" y="4535424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29016" y="4645152"/>
            <a:ext cx="347472" cy="34747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8732520" y="453542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Tool Integrations</a:t>
            </a:r>
            <a:endParaRPr lang="en-US" sz="1220" dirty="0"/>
          </a:p>
        </p:txBody>
      </p:sp>
      <p:sp>
        <p:nvSpPr>
          <p:cNvPr id="31" name="Text 25"/>
          <p:cNvSpPr/>
          <p:nvPr/>
        </p:nvSpPr>
        <p:spPr>
          <a:xfrm>
            <a:off x="8732520" y="4837176"/>
            <a:ext cx="248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JIRA, Jenkins fem6/fem7, Gerrit and Confluence access.</a:t>
            </a:r>
            <a:endParaRPr lang="en-US" sz="880" dirty="0"/>
          </a:p>
        </p:txBody>
      </p:sp>
      <p:sp>
        <p:nvSpPr>
          <p:cNvPr id="32" name="Shape 26"/>
          <p:cNvSpPr/>
          <p:nvPr/>
        </p:nvSpPr>
        <p:spPr>
          <a:xfrm>
            <a:off x="4370832" y="1828800"/>
            <a:ext cx="292608" cy="54864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33" name="Shape 27"/>
          <p:cNvSpPr/>
          <p:nvPr/>
        </p:nvSpPr>
        <p:spPr>
          <a:xfrm>
            <a:off x="7443216" y="1828800"/>
            <a:ext cx="374904" cy="530352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34" name="Shape 28"/>
          <p:cNvSpPr/>
          <p:nvPr/>
        </p:nvSpPr>
        <p:spPr>
          <a:xfrm>
            <a:off x="4370832" y="4754880"/>
            <a:ext cx="31089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35" name="Shape 29"/>
          <p:cNvSpPr/>
          <p:nvPr/>
        </p:nvSpPr>
        <p:spPr>
          <a:xfrm>
            <a:off x="7452360" y="4754880"/>
            <a:ext cx="36576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36" name="Text 30"/>
          <p:cNvSpPr/>
          <p:nvPr/>
        </p:nvSpPr>
        <p:spPr>
          <a:xfrm>
            <a:off x="1417320" y="5632704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Project-management value: teams can ask one question and receive a correlated answer instead of manually stitching data across tools.</a:t>
            </a:r>
            <a:endParaRPr lang="en-US" sz="12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771" y="-188686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81160" y="137160"/>
            <a:ext cx="2560320" cy="1783080"/>
          </a:xfrm>
          <a:prstGeom prst="ellipse">
            <a:avLst/>
          </a:prstGeom>
          <a:solidFill>
            <a:srgbClr val="F0FDFA"/>
          </a:solidFill>
          <a:ln w="12700">
            <a:solidFill>
              <a:srgbClr val="F0FDF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5138928"/>
            <a:ext cx="2331720" cy="1078992"/>
          </a:xfrm>
          <a:prstGeom prst="ellipse">
            <a:avLst/>
          </a:prstGeom>
          <a:solidFill>
            <a:srgbClr val="E0F2FE">
              <a:alpha val="90000"/>
            </a:srgbClr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347472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 -&gt; BACKEND -&gt; AI ENGINE -&gt; ENTERPRISE TOOLS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621792"/>
            <a:ext cx="8869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Diagram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94360" y="6519672"/>
            <a:ext cx="11018520" cy="0"/>
          </a:xfrm>
          <a:prstGeom prst="line">
            <a:avLst/>
          </a:prstGeom>
          <a:noFill/>
          <a:ln w="12700">
            <a:solidFill>
              <a:srgbClr val="D8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6583680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Wipro - Ericsson Tech Day 2026 | AI in Project Management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201400" y="656539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0" y="1207008"/>
            <a:ext cx="4892040" cy="841248"/>
          </a:xfrm>
          <a:prstGeom prst="roundRect">
            <a:avLst>
              <a:gd name="adj" fmla="val 18478"/>
            </a:avLst>
          </a:prstGeom>
          <a:solidFill>
            <a:srgbClr val="DBEAFE"/>
          </a:solidFill>
          <a:ln w="14605">
            <a:solidFill>
              <a:srgbClr val="2563EB"/>
            </a:solidFill>
            <a:prstDash val="solid"/>
          </a:ln>
          <a:effectLst>
            <a:outerShdw blurRad="19050" dist="1016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85616" y="1371600"/>
            <a:ext cx="4636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Browser UI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3803904" y="1682496"/>
            <a:ext cx="459943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E-UI SDK / Lit Web Components | Port 5000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3657600" y="2542032"/>
            <a:ext cx="4892040" cy="868680"/>
          </a:xfrm>
          <a:prstGeom prst="roundRect">
            <a:avLst>
              <a:gd name="adj" fmla="val 17895"/>
            </a:avLst>
          </a:prstGeom>
          <a:solidFill>
            <a:srgbClr val="EDE9FE"/>
          </a:solidFill>
          <a:ln w="14605">
            <a:solidFill>
              <a:srgbClr val="7C3AED"/>
            </a:solidFill>
            <a:prstDash val="solid"/>
          </a:ln>
          <a:effectLst>
            <a:outerShdw blurRad="19050" dist="1016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85616" y="2706624"/>
            <a:ext cx="4636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7C3A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Flask Backend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3803904" y="3017520"/>
            <a:ext cx="459943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 5050 | Routes -&gt; Controllers -&gt; Services -&gt; Integrations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3657600" y="3886200"/>
            <a:ext cx="4892040" cy="868680"/>
          </a:xfrm>
          <a:prstGeom prst="roundRect">
            <a:avLst>
              <a:gd name="adj" fmla="val 17895"/>
            </a:avLst>
          </a:prstGeom>
          <a:solidFill>
            <a:srgbClr val="DCFCE7"/>
          </a:solidFill>
          <a:ln w="14605">
            <a:solidFill>
              <a:srgbClr val="16A34A"/>
            </a:solidFill>
            <a:prstDash val="solid"/>
          </a:ln>
          <a:effectLst>
            <a:outerShdw blurRad="19050" dist="1016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785616" y="4050792"/>
            <a:ext cx="4636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16A3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Kiro CLI Engine</a:t>
            </a:r>
            <a:endParaRPr lang="en-US" sz="1280" dirty="0"/>
          </a:p>
        </p:txBody>
      </p:sp>
      <p:sp>
        <p:nvSpPr>
          <p:cNvPr id="18" name="Text 16"/>
          <p:cNvSpPr/>
          <p:nvPr/>
        </p:nvSpPr>
        <p:spPr>
          <a:xfrm>
            <a:off x="3803904" y="4361688"/>
            <a:ext cx="459943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reasoning + tool execution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6108192" y="2048256"/>
            <a:ext cx="0" cy="493776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6245352" y="220370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/api/* proxy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108192" y="3410712"/>
            <a:ext cx="0" cy="475488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6245352" y="355701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calls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77240" y="5376672"/>
            <a:ext cx="1920240" cy="676656"/>
          </a:xfrm>
          <a:prstGeom prst="roundRect">
            <a:avLst>
              <a:gd name="adj" fmla="val 22973"/>
            </a:avLst>
          </a:prstGeom>
          <a:solidFill>
            <a:srgbClr val="DBEAFE"/>
          </a:solidFill>
          <a:ln w="14605">
            <a:solidFill>
              <a:srgbClr val="2563EB"/>
            </a:solidFill>
            <a:prstDash val="solid"/>
          </a:ln>
          <a:effectLst>
            <a:outerShdw blurRad="19050" dist="1016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05256" y="5541264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JIRA</a:t>
            </a:r>
            <a:endParaRPr lang="en-US" sz="1280" dirty="0"/>
          </a:p>
        </p:txBody>
      </p:sp>
      <p:sp>
        <p:nvSpPr>
          <p:cNvPr id="25" name="Text 23"/>
          <p:cNvSpPr/>
          <p:nvPr/>
        </p:nvSpPr>
        <p:spPr>
          <a:xfrm>
            <a:off x="923544" y="5852160"/>
            <a:ext cx="1627632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Alpha | tickets and user stories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3154680" y="5376672"/>
            <a:ext cx="1920240" cy="676656"/>
          </a:xfrm>
          <a:prstGeom prst="roundRect">
            <a:avLst>
              <a:gd name="adj" fmla="val 22973"/>
            </a:avLst>
          </a:prstGeom>
          <a:solidFill>
            <a:srgbClr val="FFEDD5"/>
          </a:solidFill>
          <a:ln w="14605">
            <a:solidFill>
              <a:srgbClr val="F97316"/>
            </a:solidFill>
            <a:prstDash val="solid"/>
          </a:ln>
          <a:effectLst>
            <a:outerShdw blurRad="19050" dist="1016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282696" y="5541264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973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Jenkins</a:t>
            </a:r>
            <a:endParaRPr lang="en-US" sz="1280" dirty="0"/>
          </a:p>
        </p:txBody>
      </p:sp>
      <p:sp>
        <p:nvSpPr>
          <p:cNvPr id="28" name="Text 26"/>
          <p:cNvSpPr/>
          <p:nvPr/>
        </p:nvSpPr>
        <p:spPr>
          <a:xfrm>
            <a:off x="3300984" y="5852160"/>
            <a:ext cx="1627632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fem6/fem7 | build status and logs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532120" y="5376672"/>
            <a:ext cx="1920240" cy="676656"/>
          </a:xfrm>
          <a:prstGeom prst="roundRect">
            <a:avLst>
              <a:gd name="adj" fmla="val 22973"/>
            </a:avLst>
          </a:prstGeom>
          <a:solidFill>
            <a:srgbClr val="EDE9FE"/>
          </a:solidFill>
          <a:ln w="14605">
            <a:solidFill>
              <a:srgbClr val="7C3AED"/>
            </a:solidFill>
            <a:prstDash val="solid"/>
          </a:ln>
          <a:effectLst>
            <a:outerShdw blurRad="19050" dist="1016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660136" y="5541264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7C3A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Gerrit</a:t>
            </a:r>
            <a:endParaRPr lang="en-US" sz="1280" dirty="0"/>
          </a:p>
        </p:txBody>
      </p:sp>
      <p:sp>
        <p:nvSpPr>
          <p:cNvPr id="31" name="Text 29"/>
          <p:cNvSpPr/>
          <p:nvPr/>
        </p:nvSpPr>
        <p:spPr>
          <a:xfrm>
            <a:off x="5678424" y="5852160"/>
            <a:ext cx="1627632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Gamma | code reviews and diffs</a:t>
            </a:r>
            <a:endParaRPr lang="en-US" sz="860" dirty="0"/>
          </a:p>
        </p:txBody>
      </p:sp>
      <p:sp>
        <p:nvSpPr>
          <p:cNvPr id="32" name="Shape 30"/>
          <p:cNvSpPr/>
          <p:nvPr/>
        </p:nvSpPr>
        <p:spPr>
          <a:xfrm>
            <a:off x="7909560" y="5376672"/>
            <a:ext cx="2331720" cy="676656"/>
          </a:xfrm>
          <a:prstGeom prst="roundRect">
            <a:avLst>
              <a:gd name="adj" fmla="val 22973"/>
            </a:avLst>
          </a:prstGeom>
          <a:solidFill>
            <a:srgbClr val="DCFCE7"/>
          </a:solidFill>
          <a:ln w="14605">
            <a:solidFill>
              <a:srgbClr val="16A34A"/>
            </a:solidFill>
            <a:prstDash val="solid"/>
          </a:ln>
          <a:effectLst>
            <a:outerShdw blurRad="19050" dist="1016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037576" y="5541264"/>
            <a:ext cx="2075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16A3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Confluence</a:t>
            </a:r>
            <a:endParaRPr lang="en-US" sz="1280" dirty="0"/>
          </a:p>
        </p:txBody>
      </p:sp>
      <p:sp>
        <p:nvSpPr>
          <p:cNvPr id="34" name="Text 32"/>
          <p:cNvSpPr/>
          <p:nvPr/>
        </p:nvSpPr>
        <p:spPr>
          <a:xfrm>
            <a:off x="8055864" y="5852160"/>
            <a:ext cx="2039112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eteamspace | documentation search</a:t>
            </a:r>
            <a:endParaRPr lang="en-US" sz="860" dirty="0"/>
          </a:p>
        </p:txBody>
      </p:sp>
      <p:sp>
        <p:nvSpPr>
          <p:cNvPr id="35" name="Shape 33"/>
          <p:cNvSpPr/>
          <p:nvPr/>
        </p:nvSpPr>
        <p:spPr>
          <a:xfrm>
            <a:off x="6108192" y="4754880"/>
            <a:ext cx="0" cy="621792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108192" y="4754880"/>
            <a:ext cx="0" cy="621792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108192" y="4754880"/>
            <a:ext cx="2944368" cy="621792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10442448" y="2011680"/>
            <a:ext cx="1115568" cy="1965960"/>
          </a:xfrm>
          <a:prstGeom prst="roundRect">
            <a:avLst>
              <a:gd name="adj" fmla="val 11475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561320" y="2487168"/>
            <a:ext cx="8778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per-user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tokens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549640" y="2971800"/>
            <a:ext cx="1892808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</a:ln>
        </p:spPr>
      </p:sp>
      <p:sp>
        <p:nvSpPr>
          <p:cNvPr id="42" name="Shape 36">
            <a:extLst>
              <a:ext uri="{FF2B5EF4-FFF2-40B4-BE49-F238E27FC236}">
                <a16:creationId xmlns:a16="http://schemas.microsoft.com/office/drawing/2014/main" id="{CE964C90-A821-6949-D0E0-E9C5CB91F8D6}"/>
              </a:ext>
            </a:extLst>
          </p:cNvPr>
          <p:cNvSpPr/>
          <p:nvPr/>
        </p:nvSpPr>
        <p:spPr>
          <a:xfrm flipH="1">
            <a:off x="3885474" y="4791165"/>
            <a:ext cx="2244488" cy="570992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3" name="Shape 36">
            <a:extLst>
              <a:ext uri="{FF2B5EF4-FFF2-40B4-BE49-F238E27FC236}">
                <a16:creationId xmlns:a16="http://schemas.microsoft.com/office/drawing/2014/main" id="{EB53CE37-32D2-C6D1-5169-3C030C9B624C}"/>
              </a:ext>
            </a:extLst>
          </p:cNvPr>
          <p:cNvSpPr/>
          <p:nvPr/>
        </p:nvSpPr>
        <p:spPr>
          <a:xfrm flipH="1">
            <a:off x="2274388" y="4783909"/>
            <a:ext cx="3790260" cy="585506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81160" y="137160"/>
            <a:ext cx="2560320" cy="1783080"/>
          </a:xfrm>
          <a:prstGeom prst="ellipse">
            <a:avLst/>
          </a:prstGeom>
          <a:solidFill>
            <a:srgbClr val="FFF7ED"/>
          </a:solidFill>
          <a:ln w="12700">
            <a:solidFill>
              <a:srgbClr val="FFF7E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5138928"/>
            <a:ext cx="2331720" cy="1078992"/>
          </a:xfrm>
          <a:prstGeom prst="ellipse">
            <a:avLst/>
          </a:prstGeom>
          <a:solidFill>
            <a:srgbClr val="E0F2FE">
              <a:alpha val="90000"/>
            </a:srgbClr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347472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 FOR AI IN PROJECT MANAGEMENT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621792"/>
            <a:ext cx="8869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Benefits and Tech Day Takeaway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94360" y="6519672"/>
            <a:ext cx="11018520" cy="0"/>
          </a:xfrm>
          <a:prstGeom prst="line">
            <a:avLst/>
          </a:prstGeom>
          <a:noFill/>
          <a:ln w="12700">
            <a:solidFill>
              <a:srgbClr val="D8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6583680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Wipro - Ericsson Tech Day 2026 | AI in Project Management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201400" y="656539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800" dirty="0"/>
          </a:p>
        </p:txBody>
      </p:sp>
      <p:pic>
        <p:nvPicPr>
          <p:cNvPr id="10" name="Image 0" descr="/mnt/data/6b8e26d90a.png"/>
          <p:cNvPicPr>
            <a:picLocks noChangeAspect="1"/>
          </p:cNvPicPr>
          <p:nvPr/>
        </p:nvPicPr>
        <p:blipFill>
          <a:blip r:embed="rId3"/>
          <a:srcRect l="15060" r="15060"/>
          <a:stretch/>
        </p:blipFill>
        <p:spPr>
          <a:xfrm>
            <a:off x="7452360" y="1170432"/>
            <a:ext cx="3977640" cy="37947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13232" y="1298448"/>
            <a:ext cx="6355080" cy="3584448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87552" y="15544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Measurable benefits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987552" y="19933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3977640" y="19933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349240" y="19933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932688" y="2258568"/>
            <a:ext cx="5788152" cy="402336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42416" y="2368296"/>
            <a:ext cx="2606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failure diagnosis</a:t>
            </a:r>
            <a:endParaRPr lang="en-US" sz="920" dirty="0"/>
          </a:p>
        </p:txBody>
      </p:sp>
      <p:sp>
        <p:nvSpPr>
          <p:cNvPr id="18" name="Text 15"/>
          <p:cNvSpPr/>
          <p:nvPr/>
        </p:nvSpPr>
        <p:spPr>
          <a:xfrm>
            <a:off x="3813048" y="2350008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DC26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15-30 min</a:t>
            </a:r>
            <a:endParaRPr lang="en-US" sz="1060" dirty="0"/>
          </a:p>
        </p:txBody>
      </p:sp>
      <p:sp>
        <p:nvSpPr>
          <p:cNvPr id="19" name="Text 16"/>
          <p:cNvSpPr/>
          <p:nvPr/>
        </p:nvSpPr>
        <p:spPr>
          <a:xfrm>
            <a:off x="5138928" y="2350008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16A3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&lt; 1 min</a:t>
            </a:r>
            <a:endParaRPr lang="en-US" sz="1060" dirty="0"/>
          </a:p>
        </p:txBody>
      </p:sp>
      <p:sp>
        <p:nvSpPr>
          <p:cNvPr id="20" name="Shape 17"/>
          <p:cNvSpPr/>
          <p:nvPr/>
        </p:nvSpPr>
        <p:spPr>
          <a:xfrm>
            <a:off x="932688" y="2825496"/>
            <a:ext cx="5788152" cy="40233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42416" y="2935224"/>
            <a:ext cx="2606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 open simultaneously</a:t>
            </a:r>
            <a:endParaRPr lang="en-US" sz="920" dirty="0"/>
          </a:p>
        </p:txBody>
      </p:sp>
      <p:sp>
        <p:nvSpPr>
          <p:cNvPr id="22" name="Text 19"/>
          <p:cNvSpPr/>
          <p:nvPr/>
        </p:nvSpPr>
        <p:spPr>
          <a:xfrm>
            <a:off x="3813048" y="2916936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DC26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4-5</a:t>
            </a:r>
            <a:endParaRPr lang="en-US" sz="1060" dirty="0"/>
          </a:p>
        </p:txBody>
      </p:sp>
      <p:sp>
        <p:nvSpPr>
          <p:cNvPr id="23" name="Text 20"/>
          <p:cNvSpPr/>
          <p:nvPr/>
        </p:nvSpPr>
        <p:spPr>
          <a:xfrm>
            <a:off x="5138928" y="2916936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060" dirty="0"/>
          </a:p>
        </p:txBody>
      </p:sp>
      <p:sp>
        <p:nvSpPr>
          <p:cNvPr id="24" name="Shape 21"/>
          <p:cNvSpPr/>
          <p:nvPr/>
        </p:nvSpPr>
        <p:spPr>
          <a:xfrm>
            <a:off x="932688" y="3392424"/>
            <a:ext cx="5788152" cy="402336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42416" y="3502152"/>
            <a:ext cx="2606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engineer onboarding</a:t>
            </a:r>
            <a:endParaRPr lang="en-US" sz="920" dirty="0"/>
          </a:p>
        </p:txBody>
      </p:sp>
      <p:sp>
        <p:nvSpPr>
          <p:cNvPr id="26" name="Text 23"/>
          <p:cNvSpPr/>
          <p:nvPr/>
        </p:nvSpPr>
        <p:spPr>
          <a:xfrm>
            <a:off x="3813048" y="3483864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DC26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Days</a:t>
            </a:r>
            <a:endParaRPr lang="en-US" sz="1060" dirty="0"/>
          </a:p>
        </p:txBody>
      </p:sp>
      <p:sp>
        <p:nvSpPr>
          <p:cNvPr id="27" name="Text 24"/>
          <p:cNvSpPr/>
          <p:nvPr/>
        </p:nvSpPr>
        <p:spPr>
          <a:xfrm>
            <a:off x="5138928" y="3483864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7C3A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Hours</a:t>
            </a:r>
            <a:endParaRPr lang="en-US" sz="1060" dirty="0"/>
          </a:p>
        </p:txBody>
      </p:sp>
      <p:sp>
        <p:nvSpPr>
          <p:cNvPr id="28" name="Shape 25"/>
          <p:cNvSpPr/>
          <p:nvPr/>
        </p:nvSpPr>
        <p:spPr>
          <a:xfrm>
            <a:off x="932688" y="3959352"/>
            <a:ext cx="5788152" cy="40233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42416" y="4069080"/>
            <a:ext cx="2606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switches / investigation</a:t>
            </a:r>
            <a:endParaRPr lang="en-US" sz="920" dirty="0"/>
          </a:p>
        </p:txBody>
      </p:sp>
      <p:sp>
        <p:nvSpPr>
          <p:cNvPr id="30" name="Text 27"/>
          <p:cNvSpPr/>
          <p:nvPr/>
        </p:nvSpPr>
        <p:spPr>
          <a:xfrm>
            <a:off x="3813048" y="4050792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DC26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10+</a:t>
            </a:r>
            <a:endParaRPr lang="en-US" sz="1060" dirty="0"/>
          </a:p>
        </p:txBody>
      </p:sp>
      <p:sp>
        <p:nvSpPr>
          <p:cNvPr id="31" name="Text 28"/>
          <p:cNvSpPr/>
          <p:nvPr/>
        </p:nvSpPr>
        <p:spPr>
          <a:xfrm>
            <a:off x="5138928" y="4050792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973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1060" dirty="0"/>
          </a:p>
        </p:txBody>
      </p:sp>
      <p:sp>
        <p:nvSpPr>
          <p:cNvPr id="32" name="Shape 29"/>
          <p:cNvSpPr/>
          <p:nvPr/>
        </p:nvSpPr>
        <p:spPr>
          <a:xfrm>
            <a:off x="713232" y="5184648"/>
            <a:ext cx="3520440" cy="896112"/>
          </a:xfrm>
          <a:prstGeom prst="roundRect">
            <a:avLst>
              <a:gd name="adj" fmla="val 15306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  <a:effectLst>
            <a:outerShdw blurRad="19050" dist="1016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713232" y="5184648"/>
            <a:ext cx="73152" cy="8961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41832" y="5349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delivery value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941832" y="5715000"/>
            <a:ext cx="31089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Natural-language investigation, consistent summaries and audit trail for every user query.</a:t>
            </a:r>
            <a:endParaRPr lang="en-US" sz="920" dirty="0"/>
          </a:p>
        </p:txBody>
      </p:sp>
      <p:sp>
        <p:nvSpPr>
          <p:cNvPr id="36" name="Shape 33"/>
          <p:cNvSpPr/>
          <p:nvPr/>
        </p:nvSpPr>
        <p:spPr>
          <a:xfrm>
            <a:off x="4462272" y="5184648"/>
            <a:ext cx="3520440" cy="896112"/>
          </a:xfrm>
          <a:prstGeom prst="roundRect">
            <a:avLst>
              <a:gd name="adj" fmla="val 15306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  <a:effectLst>
            <a:outerShdw blurRad="19050" dist="1016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4462272" y="5184648"/>
            <a:ext cx="73152" cy="8961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690872" y="5349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Roadmap direction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4690872" y="5715000"/>
            <a:ext cx="31089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health views, automated alerts, proactive suggestions and usage analytics.</a:t>
            </a:r>
            <a:endParaRPr lang="en-US" sz="920" dirty="0"/>
          </a:p>
        </p:txBody>
      </p:sp>
      <p:sp>
        <p:nvSpPr>
          <p:cNvPr id="40" name="Shape 37"/>
          <p:cNvSpPr/>
          <p:nvPr/>
        </p:nvSpPr>
        <p:spPr>
          <a:xfrm>
            <a:off x="7772400" y="5184648"/>
            <a:ext cx="3383280" cy="896112"/>
          </a:xfrm>
          <a:prstGeom prst="roundRect">
            <a:avLst>
              <a:gd name="adj" fmla="val 18367"/>
            </a:avLst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Text 38"/>
          <p:cNvSpPr/>
          <p:nvPr/>
        </p:nvSpPr>
        <p:spPr>
          <a:xfrm>
            <a:off x="8028432" y="5358384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 Day message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8028432" y="5632704"/>
            <a:ext cx="2862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transforms project management from manual coordination to context-aware execution support.</a:t>
            </a:r>
            <a:endParaRPr lang="en-US" sz="8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F6C47639219C8468A0D98F9A082EF44" ma:contentTypeVersion="23" ma:contentTypeDescription="Create a new document." ma:contentTypeScope="" ma:versionID="b81bdb1088f307d1cfc8f34f0100fd19">
  <xsd:schema xmlns:xsd="http://www.w3.org/2001/XMLSchema" xmlns:xs="http://www.w3.org/2001/XMLSchema" xmlns:p="http://schemas.microsoft.com/office/2006/metadata/properties" xmlns:ns1="http://schemas.microsoft.com/sharepoint/v3" xmlns:ns2="7d448632-807b-4369-bd0d-e154416c3237" xmlns:ns3="8702e0de-234b-4481-933a-668b39ac738d" targetNamespace="http://schemas.microsoft.com/office/2006/metadata/properties" ma:root="true" ma:fieldsID="3d8cdb8c30e839d9f23d6342f992fc14" ns1:_="" ns2:_="" ns3:_="">
    <xsd:import namespace="http://schemas.microsoft.com/sharepoint/v3"/>
    <xsd:import namespace="7d448632-807b-4369-bd0d-e154416c3237"/>
    <xsd:import namespace="8702e0de-234b-4481-933a-668b39ac738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2:MediaServiceAutoKeyPoints" minOccurs="0"/>
                <xsd:element ref="ns2:MediaServiceKeyPoints" minOccurs="0"/>
                <xsd:element ref="ns2:MediaServiceSearchProperties" minOccurs="0"/>
                <xsd:element ref="ns2:MediaServiceLocation" minOccurs="0"/>
                <xsd:element ref="ns2:MediaServiceOCR" minOccurs="0"/>
                <xsd:element ref="ns2:MediaServiceObjectDetectorVersions" minOccurs="0"/>
                <xsd:element ref="ns2:Remarks" minOccurs="0"/>
                <xsd:element ref="ns1:_ip_UnifiedCompliancePolicyProperties" minOccurs="0"/>
                <xsd:element ref="ns1:_ip_UnifiedCompliancePolicyUIAc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448632-807b-4369-bd0d-e154416c323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726df4c0-9ee9-406c-8b5c-a0fe24c95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Remarks" ma:index="25" nillable="true" ma:displayName="Remarks" ma:format="Dropdown" ma:internalName="Remarks">
      <xsd:simpleType>
        <xsd:restriction base="dms:Text">
          <xsd:maxLength value="255"/>
        </xsd:restriction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02e0de-234b-4481-933a-668b39ac738d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e8671c5e-7923-448b-9598-66361d6032a3}" ma:internalName="TaxCatchAll" ma:showField="CatchAllData" ma:web="8702e0de-234b-4481-933a-668b39ac738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lcf76f155ced4ddcb4097134ff3c332f xmlns="7d448632-807b-4369-bd0d-e154416c3237">
      <Terms xmlns="http://schemas.microsoft.com/office/infopath/2007/PartnerControls"/>
    </lcf76f155ced4ddcb4097134ff3c332f>
    <_ip_UnifiedCompliancePolicyProperties xmlns="http://schemas.microsoft.com/sharepoint/v3" xsi:nil="true"/>
    <Remarks xmlns="7d448632-807b-4369-bd0d-e154416c3237" xsi:nil="true"/>
    <TaxCatchAll xmlns="8702e0de-234b-4481-933a-668b39ac738d" xsi:nil="true"/>
  </documentManagement>
</p:properties>
</file>

<file path=customXml/itemProps1.xml><?xml version="1.0" encoding="utf-8"?>
<ds:datastoreItem xmlns:ds="http://schemas.openxmlformats.org/officeDocument/2006/customXml" ds:itemID="{C085EE88-3104-44CC-A0A3-EBF5A4A13D19}"/>
</file>

<file path=customXml/itemProps2.xml><?xml version="1.0" encoding="utf-8"?>
<ds:datastoreItem xmlns:ds="http://schemas.openxmlformats.org/officeDocument/2006/customXml" ds:itemID="{DE9B5FA3-A06B-4B99-9008-69A446F72B61}"/>
</file>

<file path=customXml/itemProps3.xml><?xml version="1.0" encoding="utf-8"?>
<ds:datastoreItem xmlns:ds="http://schemas.openxmlformats.org/officeDocument/2006/customXml" ds:itemID="{346A1DF9-FF99-4808-ACD7-3C73DCD39692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5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Wipro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ENIQ AI DevOps Assistant</dc:title>
  <dc:subject>Wipro - Ericsson Tech Day 2026 | AI in Project Management</dc:subject>
  <dc:creator>Rachapalli Vinod Kumar</dc:creator>
  <cp:lastModifiedBy>Rachapalli Vinod Kumar</cp:lastModifiedBy>
  <cp:revision>17</cp:revision>
  <dcterms:created xsi:type="dcterms:W3CDTF">2026-07-07T08:19:54Z</dcterms:created>
  <dcterms:modified xsi:type="dcterms:W3CDTF">2026-07-07T08:54:33Z</dcterms:modified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2" name="ContentTypeId">
    <vt:lpwstr>0x010100EF6C47639219C8468A0D98F9A082EF44</vt:lpwstr>
  </property>
  <property fmtid="{D5CDD505-2E9C-101B-9397-08002B2CF9AE}" pid="3" name="MSIP_Label_a8c544ca-bb84-4280-906e-934547e1d30c_Enabled">
    <vt:lpwstr>True</vt:lpwstr>
  </property>
  <property fmtid="{D5CDD505-2E9C-101B-9397-08002B2CF9AE}" pid="4" name="MSIP_Label_a8c544ca-bb84-4280-906e-934547e1d30c_SiteId">
    <vt:lpwstr>258ac4e4-146a-411e-9dc8-79a9e12fd6da</vt:lpwstr>
  </property>
  <property fmtid="{D5CDD505-2E9C-101B-9397-08002B2CF9AE}" pid="5" name="MSIP_Label_a8c544ca-bb84-4280-906e-934547e1d30c_SetDate">
    <vt:lpwstr>2026-07-07T09:06:31Z</vt:lpwstr>
  </property>
  <property fmtid="{D5CDD505-2E9C-101B-9397-08002B2CF9AE}" pid="6" name="MSIP_Label_a8c544ca-bb84-4280-906e-934547e1d30c_Name">
    <vt:lpwstr>Internal - General Use</vt:lpwstr>
  </property>
  <property fmtid="{D5CDD505-2E9C-101B-9397-08002B2CF9AE}" pid="7" name="MSIP_Label_a8c544ca-bb84-4280-906e-934547e1d30c_ActionId">
    <vt:lpwstr>bd6b8cac-930f-486a-9172-7b2347d4d8f3</vt:lpwstr>
  </property>
  <property fmtid="{D5CDD505-2E9C-101B-9397-08002B2CF9AE}" pid="8" name="MSIP_Label_a8c544ca-bb84-4280-906e-934547e1d30c_Removed">
    <vt:lpwstr>False</vt:lpwstr>
  </property>
  <property fmtid="{D5CDD505-2E9C-101B-9397-08002B2CF9AE}" pid="9" name="MSIP_Label_a8c544ca-bb84-4280-906e-934547e1d30c_Extended_MSFT_Method">
    <vt:lpwstr>Standard</vt:lpwstr>
  </property>
  <property fmtid="{D5CDD505-2E9C-101B-9397-08002B2CF9AE}" pid="10" name="Sensitivity">
    <vt:lpwstr>Internal - General Use</vt:lpwstr>
  </property>
</Properties>
</file>