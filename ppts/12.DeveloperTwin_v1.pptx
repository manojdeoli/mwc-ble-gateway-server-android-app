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4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94805-0FF9-4E6C-B933-F9F17C92329F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CF093-980F-4CC6-99C8-240244D13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4E03-29EF-D495-7C30-DB5C28D0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45521-8952-3C3B-E549-8E17830FA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B3BF-EC68-C22F-AC40-C792FDD1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1CB5-D55C-3375-33BD-19D7568E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8624-D57D-F2B8-FA56-BFF8267E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CB1B-F8E7-9728-A13B-761D9F8D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4DBC-B6A8-15C8-7E74-C14BC695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78EB6-E4F7-D35D-DBFE-A2FCC4C1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17D2-F4A1-422E-91CF-E1116712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BA07-8CC7-A906-ADE4-8844704A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1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57FA-9077-A2AA-C015-69D00D9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4C37C-18BC-641F-16BA-EF0F7078F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750E5-C704-AB1F-1E27-80AB8C8C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988B9-A350-0A6F-1E5A-1A958947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6DAF3-6DCD-35CF-9E5A-54728A86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2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0F0F-52B1-D6F2-0430-EE24AC9F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08AE-3211-982C-5CE4-A11CC22C0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20375-1A43-C857-DDA8-6277C89DB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4842-D75C-6721-B749-4872EBD9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834BB-2C46-39E1-2830-F3F9B000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C5E63-B218-6A7D-C897-EE06DB4C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4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FEC3-87CA-4FBF-7741-B7FF504A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8E92A-0AD1-AA2D-536C-B116F472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B1F1F-439B-2A95-ADF0-6C6A14BF3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B9B75-56F9-53FC-0623-415825F43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0B3AA-8DF4-702A-D2D2-B8BDBE1D1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2B7DA-0B2A-5620-0710-9D674480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4FDFD-B8D3-D674-50D1-47117A8C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009A8-79DB-8CC9-8E7E-5F0BEBB8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4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F524-80A2-BAD3-1E51-E8B1F346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F32D5-59DE-8EF2-CC09-FDA5E564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1E039-DEA6-8B9C-DCC5-1DC42999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91483-A73D-A801-A0EE-DA7219B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4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0F30B-9F47-1BA6-1E0A-DA4C4B4E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D6ACA-E066-3AB4-579F-EF7D2160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381FF-509D-6B6A-AF20-E9FFC564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5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7AED-E1E9-3E2B-5739-330C8448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2D012-09D3-0414-AB1D-5197BD183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6E3D0-8C83-FB06-3BF5-BB734434D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3B4CA-0A27-BBA6-5608-6DA444CA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39E44-4F77-026B-0C53-6840CA13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03169-0FC9-6076-7EA5-867D70EF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0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2679-003E-3829-A14E-1A936E2FD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16782A-C5AD-96DD-0D90-D24191273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D020E-AC03-DC4E-F516-9A516C9F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730B6-E2F1-EA2E-653D-3FD79E8F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A706F-EFFD-BE08-33D4-418D68ED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A3A39-ABB3-FA67-1651-E22D7541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6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4423-EC1C-C9F8-8DF8-C7098ED9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789DB-B3AE-C7F2-9487-1F31C382E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ED9AC-5042-28B0-A4A8-230C59B9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6FA22-85A6-3617-BD31-31488D8E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826D6-D2B6-C547-8C2A-6D4D38C3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9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C14CB-243C-A63B-B936-844E188D7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07DA1-3621-7863-A20F-0BA00578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7E96-FC31-CFFE-9164-16E06537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931AF-B6B9-3EEE-28E4-387567F3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2D35B-4EB3-8145-1E6B-A3F6661C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35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64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0BF8E-A302-7C59-09B0-37595F67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E6E3-6FF7-10DE-9BB8-CF9D3E374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B1F5A-C3FE-59CD-CA7C-3D498001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5A069-04EA-4783-A1E1-56792BB1A44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DA47-2088-B145-D998-6FC3A129F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E6C8-88FD-A750-7164-3DBC2A798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9CE4D-CEAB-45F9-99B0-39C1588CF6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306FE-BDDF-749E-0749-32A75F065C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290594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7068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9290304" y="414528"/>
            <a:ext cx="2414016" cy="512064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12700">
            <a:solidFill>
              <a:srgbClr val="D8E2F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436608" y="512064"/>
            <a:ext cx="316992" cy="316992"/>
          </a:xfrm>
          <a:prstGeom prst="ellipse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436608" y="512064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9826752" y="414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9863328" y="493776"/>
            <a:ext cx="1840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kern="0" spc="213" dirty="0">
                <a:solidFill>
                  <a:srgbClr val="1A4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609600" y="755904"/>
            <a:ext cx="84124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Your </a:t>
            </a:r>
            <a:r>
              <a:rPr lang="en-US" sz="3600" b="1" dirty="0">
                <a:solidFill>
                  <a:srgbClr val="1A4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Twin</a:t>
            </a:r>
            <a:endParaRPr lang="en-US" sz="3600" dirty="0">
              <a:solidFill>
                <a:srgbClr val="1A46C7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1731264"/>
            <a:ext cx="4084320" cy="4267200"/>
          </a:xfrm>
          <a:prstGeom prst="rect">
            <a:avLst/>
          </a:prstGeom>
          <a:solidFill>
            <a:srgbClr val="1A46C7"/>
          </a:solidFill>
          <a:ln/>
          <a:effectLst>
            <a:outerShdw blurRad="114300" dist="38100" dir="5400000" algn="bl" rotWithShape="0">
              <a:srgbClr val="8CA3D8">
                <a:alpha val="2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2048256" y="2097024"/>
            <a:ext cx="1219200" cy="121920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248" y="2414016"/>
            <a:ext cx="585216" cy="585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3440" y="3474720"/>
            <a:ext cx="359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autonomous AI teammate</a:t>
            </a:r>
            <a:endParaRPr lang="en-US" sz="2133" dirty="0"/>
          </a:p>
        </p:txBody>
      </p:sp>
      <p:sp>
        <p:nvSpPr>
          <p:cNvPr id="13" name="Text 10"/>
          <p:cNvSpPr/>
          <p:nvPr/>
        </p:nvSpPr>
        <p:spPr>
          <a:xfrm>
            <a:off x="877824" y="4267200"/>
            <a:ext cx="353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4000"/>
              </a:lnSpc>
            </a:pPr>
            <a:r>
              <a:rPr lang="en-US" sz="1533" dirty="0">
                <a:solidFill>
                  <a:srgbClr val="D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development and bug fixes from story creation to code push — with minimal human intervention.</a:t>
            </a:r>
            <a:endParaRPr lang="en-US" sz="1533" dirty="0"/>
          </a:p>
        </p:txBody>
      </p:sp>
      <p:sp>
        <p:nvSpPr>
          <p:cNvPr id="35" name="Text 28"/>
          <p:cNvSpPr/>
          <p:nvPr/>
        </p:nvSpPr>
        <p:spPr>
          <a:xfrm>
            <a:off x="609600" y="643737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Twin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in SDLC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096000" y="643737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bug resolution — story to code push</a:t>
            </a:r>
            <a:endParaRPr lang="en-US" sz="1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2E9B59-916C-AABC-4EB0-4EA585FB1900}"/>
              </a:ext>
            </a:extLst>
          </p:cNvPr>
          <p:cNvGrpSpPr/>
          <p:nvPr/>
        </p:nvGrpSpPr>
        <p:grpSpPr>
          <a:xfrm>
            <a:off x="5010912" y="1511808"/>
            <a:ext cx="6827520" cy="4486656"/>
            <a:chOff x="4815840" y="1731264"/>
            <a:chExt cx="6827520" cy="4486656"/>
          </a:xfrm>
        </p:grpSpPr>
        <p:sp>
          <p:nvSpPr>
            <p:cNvPr id="38" name="Text 12">
              <a:extLst>
                <a:ext uri="{FF2B5EF4-FFF2-40B4-BE49-F238E27FC236}">
                  <a16:creationId xmlns:a16="http://schemas.microsoft.com/office/drawing/2014/main" id="{AEEA378E-99F8-4F7E-B8D5-FE124E52B90D}"/>
                </a:ext>
              </a:extLst>
            </p:cNvPr>
            <p:cNvSpPr/>
            <p:nvPr/>
          </p:nvSpPr>
          <p:spPr>
            <a:xfrm>
              <a:off x="4815840" y="1731264"/>
              <a:ext cx="6827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67" b="1" kern="0" spc="187" dirty="0">
                  <a:solidFill>
                    <a:srgbClr val="1A46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END-TO-END FLOW</a:t>
              </a:r>
              <a:endParaRPr lang="en-US" sz="1467" dirty="0"/>
            </a:p>
          </p:txBody>
        </p:sp>
        <p:sp>
          <p:nvSpPr>
            <p:cNvPr id="39" name="Shape 13">
              <a:extLst>
                <a:ext uri="{FF2B5EF4-FFF2-40B4-BE49-F238E27FC236}">
                  <a16:creationId xmlns:a16="http://schemas.microsoft.com/office/drawing/2014/main" id="{720C8150-C058-ECB0-61B3-330CB63D089F}"/>
                </a:ext>
              </a:extLst>
            </p:cNvPr>
            <p:cNvSpPr/>
            <p:nvPr/>
          </p:nvSpPr>
          <p:spPr>
            <a:xfrm>
              <a:off x="4815840" y="2194560"/>
              <a:ext cx="6827520" cy="731520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8E2F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Shape 14">
              <a:extLst>
                <a:ext uri="{FF2B5EF4-FFF2-40B4-BE49-F238E27FC236}">
                  <a16:creationId xmlns:a16="http://schemas.microsoft.com/office/drawing/2014/main" id="{F5E41C74-59D0-A4B8-7856-953800EADFF7}"/>
                </a:ext>
              </a:extLst>
            </p:cNvPr>
            <p:cNvSpPr/>
            <p:nvPr/>
          </p:nvSpPr>
          <p:spPr>
            <a:xfrm>
              <a:off x="4949952" y="2340864"/>
              <a:ext cx="438912" cy="438912"/>
            </a:xfrm>
            <a:prstGeom prst="ellipse">
              <a:avLst/>
            </a:prstGeom>
            <a:solidFill>
              <a:srgbClr val="1A46C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1" name="Text 15">
              <a:extLst>
                <a:ext uri="{FF2B5EF4-FFF2-40B4-BE49-F238E27FC236}">
                  <a16:creationId xmlns:a16="http://schemas.microsoft.com/office/drawing/2014/main" id="{E08D167B-20EC-9376-5543-16925D06331F}"/>
                </a:ext>
              </a:extLst>
            </p:cNvPr>
            <p:cNvSpPr/>
            <p:nvPr/>
          </p:nvSpPr>
          <p:spPr>
            <a:xfrm>
              <a:off x="4949952" y="2340864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1600" dirty="0"/>
            </a:p>
          </p:txBody>
        </p:sp>
        <p:pic>
          <p:nvPicPr>
            <p:cNvPr id="42" name="Image 1" descr="preencoded.png">
              <a:extLst>
                <a:ext uri="{FF2B5EF4-FFF2-40B4-BE49-F238E27FC236}">
                  <a16:creationId xmlns:a16="http://schemas.microsoft.com/office/drawing/2014/main" id="{0985FC4B-35C7-A753-E7FE-915800ED8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2704" y="2401824"/>
              <a:ext cx="341376" cy="341376"/>
            </a:xfrm>
            <a:prstGeom prst="rect">
              <a:avLst/>
            </a:prstGeom>
          </p:spPr>
        </p:pic>
        <p:sp>
          <p:nvSpPr>
            <p:cNvPr id="43" name="Text 16">
              <a:extLst>
                <a:ext uri="{FF2B5EF4-FFF2-40B4-BE49-F238E27FC236}">
                  <a16:creationId xmlns:a16="http://schemas.microsoft.com/office/drawing/2014/main" id="{A195F84D-CC13-968C-F58B-FF328313A1D9}"/>
                </a:ext>
              </a:extLst>
            </p:cNvPr>
            <p:cNvSpPr/>
            <p:nvPr/>
          </p:nvSpPr>
          <p:spPr>
            <a:xfrm>
              <a:off x="6120384" y="2194560"/>
              <a:ext cx="5425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b="1" dirty="0">
                  <a:solidFill>
                    <a:srgbClr val="0E1F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Poll   </a:t>
              </a:r>
              <a:r>
                <a:rPr lang="en-US" sz="1400" dirty="0">
                  <a:solidFill>
                    <a:srgbClr val="3A4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Watch Jira / mail for new bugs assigned to me</a:t>
              </a:r>
              <a:endParaRPr lang="en-US" sz="1667" dirty="0"/>
            </a:p>
          </p:txBody>
        </p:sp>
        <p:sp>
          <p:nvSpPr>
            <p:cNvPr id="44" name="Shape 17">
              <a:extLst>
                <a:ext uri="{FF2B5EF4-FFF2-40B4-BE49-F238E27FC236}">
                  <a16:creationId xmlns:a16="http://schemas.microsoft.com/office/drawing/2014/main" id="{BB92000C-BF9E-313E-D9A1-867E5EAD731B}"/>
                </a:ext>
              </a:extLst>
            </p:cNvPr>
            <p:cNvSpPr/>
            <p:nvPr/>
          </p:nvSpPr>
          <p:spPr>
            <a:xfrm>
              <a:off x="4815840" y="3017520"/>
              <a:ext cx="6827520" cy="731520"/>
            </a:xfrm>
            <a:prstGeom prst="rect">
              <a:avLst/>
            </a:prstGeom>
            <a:solidFill>
              <a:srgbClr val="EAF0FD"/>
            </a:solidFill>
            <a:ln w="12700">
              <a:solidFill>
                <a:srgbClr val="D8E2F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5" name="Shape 18">
              <a:extLst>
                <a:ext uri="{FF2B5EF4-FFF2-40B4-BE49-F238E27FC236}">
                  <a16:creationId xmlns:a16="http://schemas.microsoft.com/office/drawing/2014/main" id="{7645BE49-39C9-A50B-91DD-4890FDC86F45}"/>
                </a:ext>
              </a:extLst>
            </p:cNvPr>
            <p:cNvSpPr/>
            <p:nvPr/>
          </p:nvSpPr>
          <p:spPr>
            <a:xfrm>
              <a:off x="4949952" y="3163824"/>
              <a:ext cx="438912" cy="438912"/>
            </a:xfrm>
            <a:prstGeom prst="ellipse">
              <a:avLst/>
            </a:prstGeom>
            <a:solidFill>
              <a:srgbClr val="1A46C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19">
              <a:extLst>
                <a:ext uri="{FF2B5EF4-FFF2-40B4-BE49-F238E27FC236}">
                  <a16:creationId xmlns:a16="http://schemas.microsoft.com/office/drawing/2014/main" id="{9E7C6C8D-49D4-DCE6-27EC-6233D0FA1853}"/>
                </a:ext>
              </a:extLst>
            </p:cNvPr>
            <p:cNvSpPr/>
            <p:nvPr/>
          </p:nvSpPr>
          <p:spPr>
            <a:xfrm>
              <a:off x="4949952" y="3163824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1600" dirty="0"/>
            </a:p>
          </p:txBody>
        </p:sp>
        <p:pic>
          <p:nvPicPr>
            <p:cNvPr id="47" name="Image 2" descr="preencoded.png">
              <a:extLst>
                <a:ext uri="{FF2B5EF4-FFF2-40B4-BE49-F238E27FC236}">
                  <a16:creationId xmlns:a16="http://schemas.microsoft.com/office/drawing/2014/main" id="{3076C5AF-948D-9E58-8125-5F1BA4313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2704" y="3224784"/>
              <a:ext cx="341376" cy="341376"/>
            </a:xfrm>
            <a:prstGeom prst="rect">
              <a:avLst/>
            </a:prstGeom>
          </p:spPr>
        </p:pic>
        <p:sp>
          <p:nvSpPr>
            <p:cNvPr id="48" name="Text 20">
              <a:extLst>
                <a:ext uri="{FF2B5EF4-FFF2-40B4-BE49-F238E27FC236}">
                  <a16:creationId xmlns:a16="http://schemas.microsoft.com/office/drawing/2014/main" id="{E0C7072F-FA24-CD9F-93D8-CF1BEDE8A5A6}"/>
                </a:ext>
              </a:extLst>
            </p:cNvPr>
            <p:cNvSpPr/>
            <p:nvPr/>
          </p:nvSpPr>
          <p:spPr>
            <a:xfrm>
              <a:off x="6120384" y="3017520"/>
              <a:ext cx="5425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b="1" dirty="0">
                  <a:solidFill>
                    <a:srgbClr val="0E1F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Gather   </a:t>
              </a:r>
              <a:r>
                <a:rPr lang="en-US" sz="1400" dirty="0">
                  <a:solidFill>
                    <a:srgbClr val="3A4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Pull context from Jira, Confluence &amp; Gerrit</a:t>
              </a:r>
              <a:endParaRPr lang="en-US" sz="1667" dirty="0"/>
            </a:p>
          </p:txBody>
        </p:sp>
        <p:sp>
          <p:nvSpPr>
            <p:cNvPr id="49" name="Shape 21">
              <a:extLst>
                <a:ext uri="{FF2B5EF4-FFF2-40B4-BE49-F238E27FC236}">
                  <a16:creationId xmlns:a16="http://schemas.microsoft.com/office/drawing/2014/main" id="{1E4BD9A0-7159-1803-7BB0-4D865077436A}"/>
                </a:ext>
              </a:extLst>
            </p:cNvPr>
            <p:cNvSpPr/>
            <p:nvPr/>
          </p:nvSpPr>
          <p:spPr>
            <a:xfrm>
              <a:off x="4815840" y="3840480"/>
              <a:ext cx="6827520" cy="731520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8E2F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0" name="Shape 22">
              <a:extLst>
                <a:ext uri="{FF2B5EF4-FFF2-40B4-BE49-F238E27FC236}">
                  <a16:creationId xmlns:a16="http://schemas.microsoft.com/office/drawing/2014/main" id="{D2ADB8A0-D509-D001-211E-55E8C41006AC}"/>
                </a:ext>
              </a:extLst>
            </p:cNvPr>
            <p:cNvSpPr/>
            <p:nvPr/>
          </p:nvSpPr>
          <p:spPr>
            <a:xfrm>
              <a:off x="4949952" y="3986784"/>
              <a:ext cx="438912" cy="438912"/>
            </a:xfrm>
            <a:prstGeom prst="ellipse">
              <a:avLst/>
            </a:prstGeom>
            <a:solidFill>
              <a:srgbClr val="1A46C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1" name="Text 23">
              <a:extLst>
                <a:ext uri="{FF2B5EF4-FFF2-40B4-BE49-F238E27FC236}">
                  <a16:creationId xmlns:a16="http://schemas.microsoft.com/office/drawing/2014/main" id="{4A0A5211-BB71-FBFF-9497-7056D946D3B6}"/>
                </a:ext>
              </a:extLst>
            </p:cNvPr>
            <p:cNvSpPr/>
            <p:nvPr/>
          </p:nvSpPr>
          <p:spPr>
            <a:xfrm>
              <a:off x="4949952" y="3986784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1600" dirty="0"/>
            </a:p>
          </p:txBody>
        </p:sp>
        <p:pic>
          <p:nvPicPr>
            <p:cNvPr id="52" name="Image 3" descr="preencoded.png">
              <a:extLst>
                <a:ext uri="{FF2B5EF4-FFF2-40B4-BE49-F238E27FC236}">
                  <a16:creationId xmlns:a16="http://schemas.microsoft.com/office/drawing/2014/main" id="{44490992-942A-FBA0-5706-567F2003E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32704" y="4047744"/>
              <a:ext cx="341376" cy="341376"/>
            </a:xfrm>
            <a:prstGeom prst="rect">
              <a:avLst/>
            </a:prstGeom>
          </p:spPr>
        </p:pic>
        <p:sp>
          <p:nvSpPr>
            <p:cNvPr id="53" name="Text 24">
              <a:extLst>
                <a:ext uri="{FF2B5EF4-FFF2-40B4-BE49-F238E27FC236}">
                  <a16:creationId xmlns:a16="http://schemas.microsoft.com/office/drawing/2014/main" id="{FBA51563-C411-DAC6-A308-8B1143D91263}"/>
                </a:ext>
              </a:extLst>
            </p:cNvPr>
            <p:cNvSpPr/>
            <p:nvPr/>
          </p:nvSpPr>
          <p:spPr>
            <a:xfrm>
              <a:off x="6120384" y="3840480"/>
              <a:ext cx="5425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b="1" dirty="0">
                  <a:solidFill>
                    <a:srgbClr val="0E1F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  </a:t>
              </a:r>
              <a:r>
                <a:rPr lang="en-US" sz="1400" dirty="0">
                  <a:solidFill>
                    <a:srgbClr val="3A4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Kiro CLI writes the fix + unit test cases</a:t>
              </a:r>
              <a:endParaRPr lang="en-US" sz="1667" dirty="0"/>
            </a:p>
          </p:txBody>
        </p:sp>
        <p:sp>
          <p:nvSpPr>
            <p:cNvPr id="54" name="Shape 25">
              <a:extLst>
                <a:ext uri="{FF2B5EF4-FFF2-40B4-BE49-F238E27FC236}">
                  <a16:creationId xmlns:a16="http://schemas.microsoft.com/office/drawing/2014/main" id="{6E4BEF91-94DD-7DC3-0FE2-0AA2B2C9D915}"/>
                </a:ext>
              </a:extLst>
            </p:cNvPr>
            <p:cNvSpPr/>
            <p:nvPr/>
          </p:nvSpPr>
          <p:spPr>
            <a:xfrm>
              <a:off x="4815840" y="4663440"/>
              <a:ext cx="6827520" cy="731520"/>
            </a:xfrm>
            <a:prstGeom prst="rect">
              <a:avLst/>
            </a:prstGeom>
            <a:solidFill>
              <a:srgbClr val="EAF0FD"/>
            </a:solidFill>
            <a:ln w="12700">
              <a:solidFill>
                <a:srgbClr val="D8E2F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" name="Shape 26">
              <a:extLst>
                <a:ext uri="{FF2B5EF4-FFF2-40B4-BE49-F238E27FC236}">
                  <a16:creationId xmlns:a16="http://schemas.microsoft.com/office/drawing/2014/main" id="{3151FAE0-3C77-B1C6-C25A-6E53CC03BB29}"/>
                </a:ext>
              </a:extLst>
            </p:cNvPr>
            <p:cNvSpPr/>
            <p:nvPr/>
          </p:nvSpPr>
          <p:spPr>
            <a:xfrm>
              <a:off x="4949952" y="4809744"/>
              <a:ext cx="438912" cy="438912"/>
            </a:xfrm>
            <a:prstGeom prst="ellipse">
              <a:avLst/>
            </a:prstGeom>
            <a:solidFill>
              <a:srgbClr val="1A46C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6" name="Text 27">
              <a:extLst>
                <a:ext uri="{FF2B5EF4-FFF2-40B4-BE49-F238E27FC236}">
                  <a16:creationId xmlns:a16="http://schemas.microsoft.com/office/drawing/2014/main" id="{F31C24CC-C328-49D2-3DB4-1F9896D27372}"/>
                </a:ext>
              </a:extLst>
            </p:cNvPr>
            <p:cNvSpPr/>
            <p:nvPr/>
          </p:nvSpPr>
          <p:spPr>
            <a:xfrm>
              <a:off x="4949952" y="4809744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600" dirty="0"/>
            </a:p>
          </p:txBody>
        </p:sp>
        <p:pic>
          <p:nvPicPr>
            <p:cNvPr id="57" name="Image 4" descr="preencoded.png">
              <a:extLst>
                <a:ext uri="{FF2B5EF4-FFF2-40B4-BE49-F238E27FC236}">
                  <a16:creationId xmlns:a16="http://schemas.microsoft.com/office/drawing/2014/main" id="{0A52676C-9AE4-60E3-A342-DF7759B1C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2704" y="4870704"/>
              <a:ext cx="341376" cy="341376"/>
            </a:xfrm>
            <a:prstGeom prst="rect">
              <a:avLst/>
            </a:prstGeom>
          </p:spPr>
        </p:pic>
        <p:sp>
          <p:nvSpPr>
            <p:cNvPr id="58" name="Text 28">
              <a:extLst>
                <a:ext uri="{FF2B5EF4-FFF2-40B4-BE49-F238E27FC236}">
                  <a16:creationId xmlns:a16="http://schemas.microsoft.com/office/drawing/2014/main" id="{233672F4-D0FA-6979-FAE7-CC269144645E}"/>
                </a:ext>
              </a:extLst>
            </p:cNvPr>
            <p:cNvSpPr/>
            <p:nvPr/>
          </p:nvSpPr>
          <p:spPr>
            <a:xfrm>
              <a:off x="6120384" y="4663440"/>
              <a:ext cx="5425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b="1" dirty="0">
                  <a:solidFill>
                    <a:srgbClr val="0E1F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   </a:t>
              </a:r>
              <a:r>
                <a:rPr lang="en-US" sz="1400" dirty="0">
                  <a:solidFill>
                    <a:srgbClr val="3A4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 builds and runs the tests</a:t>
              </a:r>
              <a:endParaRPr lang="en-US" sz="1667" dirty="0"/>
            </a:p>
          </p:txBody>
        </p:sp>
        <p:sp>
          <p:nvSpPr>
            <p:cNvPr id="59" name="Shape 29">
              <a:extLst>
                <a:ext uri="{FF2B5EF4-FFF2-40B4-BE49-F238E27FC236}">
                  <a16:creationId xmlns:a16="http://schemas.microsoft.com/office/drawing/2014/main" id="{9E8F6E4D-43DA-7EF5-EB1B-27CD4CB7A0D8}"/>
                </a:ext>
              </a:extLst>
            </p:cNvPr>
            <p:cNvSpPr/>
            <p:nvPr/>
          </p:nvSpPr>
          <p:spPr>
            <a:xfrm>
              <a:off x="4815840" y="5486400"/>
              <a:ext cx="6827520" cy="731520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8E2F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0" name="Shape 30">
              <a:extLst>
                <a:ext uri="{FF2B5EF4-FFF2-40B4-BE49-F238E27FC236}">
                  <a16:creationId xmlns:a16="http://schemas.microsoft.com/office/drawing/2014/main" id="{B31007B2-31C1-A8B4-18D9-57271B8E7622}"/>
                </a:ext>
              </a:extLst>
            </p:cNvPr>
            <p:cNvSpPr/>
            <p:nvPr/>
          </p:nvSpPr>
          <p:spPr>
            <a:xfrm>
              <a:off x="4949952" y="5632704"/>
              <a:ext cx="438912" cy="438912"/>
            </a:xfrm>
            <a:prstGeom prst="ellipse">
              <a:avLst/>
            </a:prstGeom>
            <a:solidFill>
              <a:srgbClr val="1A46C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Text 31">
              <a:extLst>
                <a:ext uri="{FF2B5EF4-FFF2-40B4-BE49-F238E27FC236}">
                  <a16:creationId xmlns:a16="http://schemas.microsoft.com/office/drawing/2014/main" id="{46B61AEE-B813-DA2A-2528-C31B87996F0A}"/>
                </a:ext>
              </a:extLst>
            </p:cNvPr>
            <p:cNvSpPr/>
            <p:nvPr/>
          </p:nvSpPr>
          <p:spPr>
            <a:xfrm>
              <a:off x="4949952" y="5632704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</a:t>
              </a:r>
              <a:endParaRPr lang="en-US" sz="1600" dirty="0"/>
            </a:p>
          </p:txBody>
        </p:sp>
        <p:pic>
          <p:nvPicPr>
            <p:cNvPr id="62" name="Image 5" descr="preencoded.png">
              <a:extLst>
                <a:ext uri="{FF2B5EF4-FFF2-40B4-BE49-F238E27FC236}">
                  <a16:creationId xmlns:a16="http://schemas.microsoft.com/office/drawing/2014/main" id="{6E25FB71-B430-4D63-29A8-849364CA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32704" y="5693664"/>
              <a:ext cx="341376" cy="341376"/>
            </a:xfrm>
            <a:prstGeom prst="rect">
              <a:avLst/>
            </a:prstGeom>
          </p:spPr>
        </p:pic>
        <p:sp>
          <p:nvSpPr>
            <p:cNvPr id="63" name="Text 32">
              <a:extLst>
                <a:ext uri="{FF2B5EF4-FFF2-40B4-BE49-F238E27FC236}">
                  <a16:creationId xmlns:a16="http://schemas.microsoft.com/office/drawing/2014/main" id="{024F69A0-2693-3AF1-46A4-9D3E511F3F58}"/>
                </a:ext>
              </a:extLst>
            </p:cNvPr>
            <p:cNvSpPr/>
            <p:nvPr/>
          </p:nvSpPr>
          <p:spPr>
            <a:xfrm>
              <a:off x="6120384" y="5486400"/>
              <a:ext cx="5425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b="1" dirty="0">
                  <a:solidFill>
                    <a:srgbClr val="0E1F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   </a:t>
              </a:r>
              <a:r>
                <a:rPr lang="en-US" sz="1400" dirty="0">
                  <a:solidFill>
                    <a:srgbClr val="3A4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the change to Gerrit for human review</a:t>
              </a:r>
              <a:endParaRPr lang="en-US" sz="1667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7068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9290304" y="414528"/>
            <a:ext cx="2414016" cy="512064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12700">
            <a:solidFill>
              <a:srgbClr val="D8E2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436608" y="512064"/>
            <a:ext cx="316992" cy="316992"/>
          </a:xfrm>
          <a:prstGeom prst="ellipse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436608" y="512064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9826752" y="414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9851136" y="495059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kern="0" spc="213" dirty="0">
                <a:solidFill>
                  <a:srgbClr val="1A4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609600" y="755904"/>
            <a:ext cx="84124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Architecture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9600" y="15849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agents, orchestrated by Kiro CLI, move a bug through the lifecycle end-to-end.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609600" y="2377440"/>
            <a:ext cx="2023872" cy="2865120"/>
          </a:xfrm>
          <a:prstGeom prst="rect">
            <a:avLst/>
          </a:prstGeom>
          <a:solidFill>
            <a:srgbClr val="F4F7FE"/>
          </a:solidFill>
          <a:ln w="12700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09600" y="2377440"/>
            <a:ext cx="2023872" cy="41452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09600" y="2377440"/>
            <a:ext cx="20238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&amp; PARSE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19200" y="2987040"/>
            <a:ext cx="804672" cy="804672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15" y="3196255"/>
            <a:ext cx="386243" cy="3862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7136" y="3889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Agent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5904" y="4328160"/>
            <a:ext cx="17312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3000"/>
              </a:lnSpc>
            </a:pPr>
            <a:r>
              <a:rPr lang="en-US" sz="1267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bug, extracts requirements</a:t>
            </a:r>
            <a:endParaRPr lang="en-US" sz="1267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568" y="3639312"/>
            <a:ext cx="207264" cy="3413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852928" y="2377440"/>
            <a:ext cx="2023872" cy="2865120"/>
          </a:xfrm>
          <a:prstGeom prst="rect">
            <a:avLst/>
          </a:prstGeom>
          <a:solidFill>
            <a:srgbClr val="F4F7FE"/>
          </a:solidFill>
          <a:ln w="12700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5"/>
          <p:cNvSpPr/>
          <p:nvPr/>
        </p:nvSpPr>
        <p:spPr>
          <a:xfrm>
            <a:off x="2852928" y="2377440"/>
            <a:ext cx="2023872" cy="41452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6"/>
          <p:cNvSpPr/>
          <p:nvPr/>
        </p:nvSpPr>
        <p:spPr>
          <a:xfrm>
            <a:off x="2852928" y="2377440"/>
            <a:ext cx="20238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62528" y="2987040"/>
            <a:ext cx="804672" cy="804672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743" y="3196255"/>
            <a:ext cx="386243" cy="3862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950464" y="3889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Agent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999232" y="4328160"/>
            <a:ext cx="17312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3000"/>
              </a:lnSpc>
            </a:pPr>
            <a:r>
              <a:rPr lang="en-US" sz="1267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CLI writes the fix to guidelines</a:t>
            </a:r>
            <a:endParaRPr lang="en-US" sz="1267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639312"/>
            <a:ext cx="207264" cy="34137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096256" y="2377440"/>
            <a:ext cx="2023872" cy="2865120"/>
          </a:xfrm>
          <a:prstGeom prst="rect">
            <a:avLst/>
          </a:prstGeom>
          <a:solidFill>
            <a:srgbClr val="F4F7FE"/>
          </a:solidFill>
          <a:ln w="12700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1"/>
          <p:cNvSpPr/>
          <p:nvPr/>
        </p:nvSpPr>
        <p:spPr>
          <a:xfrm>
            <a:off x="5096256" y="2377440"/>
            <a:ext cx="2023872" cy="41452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2"/>
          <p:cNvSpPr/>
          <p:nvPr/>
        </p:nvSpPr>
        <p:spPr>
          <a:xfrm>
            <a:off x="5096256" y="2377440"/>
            <a:ext cx="20238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705856" y="2987040"/>
            <a:ext cx="804672" cy="804672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071" y="3196255"/>
            <a:ext cx="386243" cy="3862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93792" y="3889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Agent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242560" y="4328160"/>
            <a:ext cx="17312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3000"/>
              </a:lnSpc>
            </a:pPr>
            <a:r>
              <a:rPr lang="en-US" sz="1267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&amp; runs unit test cases</a:t>
            </a:r>
            <a:endParaRPr lang="en-US" sz="1267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224" y="3639312"/>
            <a:ext cx="207264" cy="341376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7339584" y="2377440"/>
            <a:ext cx="2023872" cy="2865120"/>
          </a:xfrm>
          <a:prstGeom prst="rect">
            <a:avLst/>
          </a:prstGeom>
          <a:solidFill>
            <a:srgbClr val="F4F7FE"/>
          </a:solidFill>
          <a:ln w="12700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27"/>
          <p:cNvSpPr/>
          <p:nvPr/>
        </p:nvSpPr>
        <p:spPr>
          <a:xfrm>
            <a:off x="7339584" y="2377440"/>
            <a:ext cx="2023872" cy="41452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28"/>
          <p:cNvSpPr/>
          <p:nvPr/>
        </p:nvSpPr>
        <p:spPr>
          <a:xfrm>
            <a:off x="7339584" y="2377440"/>
            <a:ext cx="20238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949184" y="2987040"/>
            <a:ext cx="804672" cy="804672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8399" y="3196255"/>
            <a:ext cx="386243" cy="38624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437120" y="3889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Agent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7485888" y="4328160"/>
            <a:ext cx="17312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3000"/>
              </a:lnSpc>
            </a:pPr>
            <a:r>
              <a:rPr lang="en-US" sz="1267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runs the pipeline</a:t>
            </a:r>
            <a:endParaRPr lang="en-US" sz="1267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52" y="3639312"/>
            <a:ext cx="207264" cy="341376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582912" y="2377440"/>
            <a:ext cx="2023872" cy="2865120"/>
          </a:xfrm>
          <a:prstGeom prst="rect">
            <a:avLst/>
          </a:prstGeom>
          <a:solidFill>
            <a:srgbClr val="1A46C7"/>
          </a:solidFill>
          <a:ln w="12700">
            <a:solidFill>
              <a:srgbClr val="1A46C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3" name="Shape 33"/>
          <p:cNvSpPr/>
          <p:nvPr/>
        </p:nvSpPr>
        <p:spPr>
          <a:xfrm>
            <a:off x="9582912" y="2377440"/>
            <a:ext cx="2023872" cy="414528"/>
          </a:xfrm>
          <a:prstGeom prst="rect">
            <a:avLst/>
          </a:prstGeom>
          <a:solidFill>
            <a:srgbClr val="0E1F4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Text 34"/>
          <p:cNvSpPr/>
          <p:nvPr/>
        </p:nvSpPr>
        <p:spPr>
          <a:xfrm>
            <a:off x="9582912" y="2377440"/>
            <a:ext cx="20238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10192512" y="2987040"/>
            <a:ext cx="804672" cy="804672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727" y="3196255"/>
            <a:ext cx="386243" cy="38624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680448" y="3889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Gerrit Agent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9729216" y="4328160"/>
            <a:ext cx="17312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3000"/>
              </a:lnSpc>
            </a:pPr>
            <a:r>
              <a:rPr lang="en-US" sz="1267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changeset for human sign-off</a:t>
            </a:r>
            <a:endParaRPr lang="en-US" sz="1267" dirty="0"/>
          </a:p>
        </p:txBody>
      </p:sp>
      <p:sp>
        <p:nvSpPr>
          <p:cNvPr id="49" name="Shape 38"/>
          <p:cNvSpPr/>
          <p:nvPr/>
        </p:nvSpPr>
        <p:spPr>
          <a:xfrm>
            <a:off x="609600" y="5547360"/>
            <a:ext cx="10972800" cy="755904"/>
          </a:xfrm>
          <a:prstGeom prst="rect">
            <a:avLst/>
          </a:prstGeom>
          <a:solidFill>
            <a:srgbClr val="EAF0FD"/>
          </a:solidFill>
          <a:ln w="12700">
            <a:solidFill>
              <a:srgbClr val="D8E2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754624"/>
            <a:ext cx="341376" cy="34137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1341120" y="5547360"/>
            <a:ext cx="101193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Kiro CLI</a:t>
            </a:r>
            <a:r>
              <a:rPr lang="en-US" sz="14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Context sources: Jira · Confluence · Gerrit   |   Human intervention: review &amp; approve only</a:t>
            </a:r>
            <a:endParaRPr lang="en-US" sz="1400" dirty="0"/>
          </a:p>
        </p:txBody>
      </p:sp>
      <p:sp>
        <p:nvSpPr>
          <p:cNvPr id="52" name="Text 40"/>
          <p:cNvSpPr/>
          <p:nvPr/>
        </p:nvSpPr>
        <p:spPr>
          <a:xfrm>
            <a:off x="609600" y="643737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Twin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in SDLC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6096000" y="643737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bug resolution — story to code push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70688"/>
          </a:xfrm>
          <a:prstGeom prst="rect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9290304" y="414528"/>
            <a:ext cx="2414016" cy="512064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12700">
            <a:solidFill>
              <a:srgbClr val="D8E2F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436608" y="512064"/>
            <a:ext cx="316992" cy="316992"/>
          </a:xfrm>
          <a:prstGeom prst="ellipse">
            <a:avLst/>
          </a:prstGeom>
          <a:solidFill>
            <a:srgbClr val="1A46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436608" y="512064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9826752" y="414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10021824" y="512064"/>
            <a:ext cx="1243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kern="0" spc="213" dirty="0">
                <a:solidFill>
                  <a:srgbClr val="1A4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609600" y="755904"/>
            <a:ext cx="84124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E1F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 &amp; Quality Gains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09600" y="1828800"/>
            <a:ext cx="2633472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853440" y="2145792"/>
            <a:ext cx="755904" cy="755904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76" y="2342328"/>
            <a:ext cx="362833" cy="3628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9056" y="3121152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67" b="1" dirty="0">
                <a:solidFill>
                  <a:srgbClr val="1A4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→ Min</a:t>
            </a:r>
            <a:endParaRPr lang="en-US" sz="2467" dirty="0"/>
          </a:p>
        </p:txBody>
      </p:sp>
      <p:sp>
        <p:nvSpPr>
          <p:cNvPr id="13" name="Text 10"/>
          <p:cNvSpPr/>
          <p:nvPr/>
        </p:nvSpPr>
        <p:spPr>
          <a:xfrm>
            <a:off x="829056" y="3730752"/>
            <a:ext cx="2194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 response to bugs (target)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01568" y="1828800"/>
            <a:ext cx="2633472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3645408" y="2145792"/>
            <a:ext cx="755904" cy="755904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944" y="2342328"/>
            <a:ext cx="362833" cy="36283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21024" y="3121152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67" b="1" dirty="0">
                <a:solidFill>
                  <a:srgbClr val="1A4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toil</a:t>
            </a:r>
            <a:endParaRPr lang="en-US" sz="2467" dirty="0"/>
          </a:p>
        </p:txBody>
      </p:sp>
      <p:sp>
        <p:nvSpPr>
          <p:cNvPr id="18" name="Text 14"/>
          <p:cNvSpPr/>
          <p:nvPr/>
        </p:nvSpPr>
        <p:spPr>
          <a:xfrm>
            <a:off x="3621024" y="3730752"/>
            <a:ext cx="2194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per routine fix reduced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193536" y="1828800"/>
            <a:ext cx="2633472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6"/>
          <p:cNvSpPr/>
          <p:nvPr/>
        </p:nvSpPr>
        <p:spPr>
          <a:xfrm>
            <a:off x="6437376" y="2145792"/>
            <a:ext cx="755904" cy="755904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12" y="2342328"/>
            <a:ext cx="362833" cy="36283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12992" y="3121152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67" b="1" dirty="0">
                <a:solidFill>
                  <a:srgbClr val="1A4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</a:t>
            </a:r>
            <a:endParaRPr lang="en-US" sz="2467" dirty="0"/>
          </a:p>
        </p:txBody>
      </p:sp>
      <p:sp>
        <p:nvSpPr>
          <p:cNvPr id="23" name="Text 18"/>
          <p:cNvSpPr/>
          <p:nvPr/>
        </p:nvSpPr>
        <p:spPr>
          <a:xfrm>
            <a:off x="6412992" y="3730752"/>
            <a:ext cx="2194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generated with every fix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985504" y="1828800"/>
            <a:ext cx="2633472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F7"/>
            </a:solidFill>
            <a:prstDash val="solid"/>
          </a:ln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0"/>
          <p:cNvSpPr/>
          <p:nvPr/>
        </p:nvSpPr>
        <p:spPr>
          <a:xfrm>
            <a:off x="9229344" y="2145792"/>
            <a:ext cx="755904" cy="755904"/>
          </a:xfrm>
          <a:prstGeom prst="ellipse">
            <a:avLst/>
          </a:prstGeom>
          <a:solidFill>
            <a:srgbClr val="1A46C7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5880" y="2342328"/>
            <a:ext cx="362833" cy="36283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04960" y="3121152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67" b="1" dirty="0">
                <a:solidFill>
                  <a:srgbClr val="1A4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</a:t>
            </a:r>
            <a:endParaRPr lang="en-US" sz="2467" dirty="0"/>
          </a:p>
        </p:txBody>
      </p:sp>
      <p:sp>
        <p:nvSpPr>
          <p:cNvPr id="28" name="Text 22"/>
          <p:cNvSpPr/>
          <p:nvPr/>
        </p:nvSpPr>
        <p:spPr>
          <a:xfrm>
            <a:off x="9204960" y="3730752"/>
            <a:ext cx="2194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guidelines applied every time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09600" y="4901184"/>
            <a:ext cx="11045952" cy="1280160"/>
          </a:xfrm>
          <a:prstGeom prst="rect">
            <a:avLst/>
          </a:prstGeom>
          <a:solidFill>
            <a:srgbClr val="0E1F4D"/>
          </a:solidFill>
          <a:ln/>
          <a:effectLst>
            <a:outerShdw blurRad="114300" dist="38100" dir="5400000" algn="bl" rotWithShape="0">
              <a:srgbClr val="8CA3D8">
                <a:alpha val="2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4"/>
          <p:cNvSpPr/>
          <p:nvPr/>
        </p:nvSpPr>
        <p:spPr>
          <a:xfrm>
            <a:off x="950976" y="5193792"/>
            <a:ext cx="707136" cy="707136"/>
          </a:xfrm>
          <a:prstGeom prst="ellipse">
            <a:avLst/>
          </a:prstGeom>
          <a:solidFill>
            <a:srgbClr val="3B63E0"/>
          </a:solidFill>
          <a:ln/>
          <a:effectLst>
            <a:outerShdw blurRad="88900" dist="25400" dir="5400000" algn="bl" rotWithShape="0">
              <a:srgbClr val="9AB0DC">
                <a:alpha val="2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833" y="5377649"/>
            <a:ext cx="339425" cy="3394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53184" y="5071872"/>
            <a:ext cx="3657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bottom line</a:t>
            </a:r>
            <a:endParaRPr lang="en-US" sz="1867" dirty="0"/>
          </a:p>
        </p:txBody>
      </p:sp>
      <p:sp>
        <p:nvSpPr>
          <p:cNvPr id="33" name="Text 26"/>
          <p:cNvSpPr/>
          <p:nvPr/>
        </p:nvSpPr>
        <p:spPr>
          <a:xfrm>
            <a:off x="1853184" y="5486400"/>
            <a:ext cx="957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467" dirty="0">
                <a:solidFill>
                  <a:srgbClr val="C9D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bugs are resolved faster and to consistent, test-backed quality — humans spend effort only on review, so developers stay focused on high-value work.</a:t>
            </a:r>
            <a:endParaRPr lang="en-US" sz="1467" dirty="0"/>
          </a:p>
        </p:txBody>
      </p:sp>
      <p:sp>
        <p:nvSpPr>
          <p:cNvPr id="34" name="Text 27"/>
          <p:cNvSpPr/>
          <p:nvPr/>
        </p:nvSpPr>
        <p:spPr>
          <a:xfrm>
            <a:off x="609600" y="643737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Twin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in SDLC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096000" y="643737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bug resolution — story to code push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7641BD69-AB2F-49ED-BBC6-1A4F7C9EC673}"/>
</file>

<file path=customXml/itemProps2.xml><?xml version="1.0" encoding="utf-8"?>
<ds:datastoreItem xmlns:ds="http://schemas.openxmlformats.org/officeDocument/2006/customXml" ds:itemID="{AD4D4A02-D115-461E-8229-AB930C70DBCB}"/>
</file>

<file path=customXml/itemProps3.xml><?xml version="1.0" encoding="utf-8"?>
<ds:datastoreItem xmlns:ds="http://schemas.openxmlformats.org/officeDocument/2006/customXml" ds:itemID="{57A61CD3-0B99-400D-8C90-0836C617CF6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Widescreen</PresentationFormat>
  <Paragraphs>58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Atla Sai Pavan Reddy</dc:creator>
  <cp:lastModifiedBy>Atla Sai Pavan Reddy</cp:lastModifiedBy>
  <cp:revision>1</cp:revision>
  <dcterms:created xsi:type="dcterms:W3CDTF">2026-07-07T08:24:45Z</dcterms:created>
  <dcterms:modified xsi:type="dcterms:W3CDTF">2026-07-07T08:27:10Z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2026-07-07T08:27:07Z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17b5298f-3d9c-453e-9aa1-8d08d2e52b51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  <property fmtid="{D5CDD505-2E9C-101B-9397-08002B2CF9AE}" pid="12" name="ContentTypeId">
    <vt:lpwstr>0x010100EF6C47639219C8468A0D98F9A082EF44</vt:lpwstr>
  </property>
</Properties>
</file>