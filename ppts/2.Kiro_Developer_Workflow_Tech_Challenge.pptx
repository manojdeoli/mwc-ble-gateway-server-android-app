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3E74397-4961-4A33-6D43-D42560F24C3A}" v="7" dt="2026-07-07T09:19:45.959"/>
    <p1510:client id="{C6104007-BBA2-A956-30DC-E5A3169F8F45}" v="58" dt="2026-07-07T08:50:51.619"/>
    <p1510:client id="{DCF4C9DE-5C3C-B644-2A53-4B76DA4AC26E}" v="386" dt="2026-07-07T09:18:57.48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openxmlformats.org/officeDocument/2006/relationships/customXml" Target="../customXml/item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customXml" Target="../customXml/item3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4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3DEC21-17A4-49BE-AC1A-0FCC0EF05C28}" type="datetimeFigureOut">
              <a:t>7/7/2026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CC1E26-3364-496E-9377-9D179DE7FD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2354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
A structured AI-assisted Development Lifecycle for PMIC developers that guides Kiro CLI from requirement intake to reviewed implementation with full traceability.
[Sources]
- Input file: README.md - Kiro Developer Workflow (turn6search1).
- Template source: Tech_Talk_Template.pptx (turn5search1).
- Related enterprise material: Kiro Training from AWS (turn8search1); Wipro-ENM monthly review (turn8search3); Kiro First Call Deck (turn8search18).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
Combines README sections What Is This, Package Contents, Prerequisites, Configuration Procedure and the 14-phase list.
[Sources]
- Input file: README.md - Kiro Developer Workflow (turn6search1).
- Template source: Tech_Talk_Template.pptx (turn5search1).
- Related enterprise material: Kiro Training from AWS (turn8search1); Wipro-ENM monthly review (turn8search3); Kiro First Call Deck (turn8search18).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
Covers README sections How the Workflow Works, Key Features, What Kiro Will Do, and Generated Output Files under .kiro/specs, .kiro/state and .kiro/audit.
[Sources]
- Input file: README.md - Kiro Developer Workflow (turn6search1).
- Template source: Tech_Talk_Template.pptx (turn5search1).
- Related enterprise material: Kiro Training from AWS (turn8search1); Wipro-ENM monthly review (turn8search3); Kiro First Call Deck (turn8search18).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
Combines Usage Procedure, Tips for Best Results, Customisation and Troubleshooting from README.
[Sources]
- Input file: README.md - Kiro Developer Workflow (turn6search1).
- Template source: Tech_Talk_Template.pptx (turn5search1).
- Related enterprise material: Kiro Training from AWS (turn8search1); Wipro-ENM monthly review (turn8search3); Kiro First Call Deck (turn8search18).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Speaker notes
Thank the audience and invite questions.
[Sources]
- Template source: Tech_Talk_Template.pptx (turn5search1).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pro_logo_templa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393192"/>
            <a:ext cx="822960" cy="32918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281160" y="182880"/>
            <a:ext cx="384048" cy="384048"/>
          </a:xfrm>
          <a:prstGeom prst="ellipse">
            <a:avLst/>
          </a:prstGeom>
          <a:solidFill>
            <a:srgbClr val="D9D6E7">
              <a:alpha val="16000"/>
            </a:srgbClr>
          </a:solidFill>
          <a:ln w="12700">
            <a:solidFill>
              <a:srgbClr val="D9D6E7">
                <a:alpha val="0"/>
              </a:srgbClr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10195560" y="1097280"/>
            <a:ext cx="685800" cy="685800"/>
          </a:xfrm>
          <a:prstGeom prst="ellipse">
            <a:avLst/>
          </a:prstGeom>
          <a:solidFill>
            <a:srgbClr val="D9D6E7">
              <a:alpha val="28000"/>
            </a:srgbClr>
          </a:solidFill>
          <a:ln w="12700">
            <a:solidFill>
              <a:srgbClr val="D9D6E7">
                <a:alpha val="0"/>
              </a:srgbClr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9555480" y="3611880"/>
            <a:ext cx="594360" cy="594360"/>
          </a:xfrm>
          <a:prstGeom prst="ellipse">
            <a:avLst/>
          </a:prstGeom>
          <a:solidFill>
            <a:srgbClr val="D9D6E7">
              <a:alpha val="42000"/>
            </a:srgbClr>
          </a:solidFill>
          <a:ln w="12700">
            <a:solidFill>
              <a:srgbClr val="D9D6E7">
                <a:alpha val="0"/>
              </a:srgbClr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183880" y="5760720"/>
            <a:ext cx="411480" cy="411480"/>
          </a:xfrm>
          <a:prstGeom prst="ellipse">
            <a:avLst/>
          </a:prstGeom>
          <a:solidFill>
            <a:srgbClr val="D9D6E7">
              <a:alpha val="45000"/>
            </a:srgbClr>
          </a:solidFill>
          <a:ln w="12700">
            <a:solidFill>
              <a:srgbClr val="D9D6E7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332720" y="5806440"/>
            <a:ext cx="502920" cy="502920"/>
          </a:xfrm>
          <a:prstGeom prst="ellipse">
            <a:avLst/>
          </a:prstGeom>
          <a:solidFill>
            <a:srgbClr val="D9D6E7">
              <a:alpha val="58000"/>
            </a:srgbClr>
          </a:solidFill>
          <a:ln w="12700">
            <a:solidFill>
              <a:srgbClr val="D9D6E7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4360" y="187452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200" b="1">
                <a:solidFill>
                  <a:srgbClr val="251B45"/>
                </a:solidFill>
              </a:rPr>
              <a:t>Kiro Developer Workflow</a:t>
            </a:r>
            <a:r>
              <a:rPr lang="en-US" sz="3200" b="1">
                <a:solidFill>
                  <a:srgbClr val="0095B7"/>
                </a:solidFill>
              </a:rPr>
              <a:t>.</a:t>
            </a:r>
            <a:endParaRPr lang="en-US" sz="3200"/>
          </a:p>
        </p:txBody>
      </p:sp>
      <p:sp>
        <p:nvSpPr>
          <p:cNvPr id="9" name="Text 6"/>
          <p:cNvSpPr/>
          <p:nvPr/>
        </p:nvSpPr>
        <p:spPr>
          <a:xfrm>
            <a:off x="594360" y="278892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3B1C61"/>
                </a:solidFill>
              </a:rPr>
              <a:t> Developer Workflow using Kiro CLI</a:t>
            </a:r>
            <a:endParaRPr lang="en-US" sz="1600"/>
          </a:p>
        </p:txBody>
      </p:sp>
      <p:sp>
        <p:nvSpPr>
          <p:cNvPr id="10" name="Text 7"/>
          <p:cNvSpPr/>
          <p:nvPr/>
        </p:nvSpPr>
        <p:spPr>
          <a:xfrm>
            <a:off x="594360" y="36576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>
                <a:solidFill>
                  <a:srgbClr val="251B45"/>
                </a:solidFill>
              </a:rPr>
              <a:t>Tech Challenge</a:t>
            </a:r>
            <a:endParaRPr lang="en-US" sz="1400"/>
          </a:p>
        </p:txBody>
      </p:sp>
      <p:sp>
        <p:nvSpPr>
          <p:cNvPr id="11" name="Text 8"/>
          <p:cNvSpPr/>
          <p:nvPr/>
        </p:nvSpPr>
        <p:spPr>
          <a:xfrm>
            <a:off x="594360" y="4069080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>
                <a:solidFill>
                  <a:srgbClr val="251B45"/>
                </a:solidFill>
              </a:rPr>
              <a:t>Presenter: Sanjog, Rajasekhar, Himanshu</a:t>
            </a:r>
            <a:endParaRPr lang="en-US" sz="900">
              <a:solidFill>
                <a:srgbClr val="FFFFFF"/>
              </a:solidFill>
              <a:ea typeface="+mn-lt"/>
              <a:cs typeface="+mn-lt"/>
            </a:endParaRPr>
          </a:p>
        </p:txBody>
      </p:sp>
      <p:sp>
        <p:nvSpPr>
          <p:cNvPr id="12" name="Text 9"/>
          <p:cNvSpPr/>
          <p:nvPr/>
        </p:nvSpPr>
        <p:spPr>
          <a:xfrm>
            <a:off x="594360" y="440740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>
                <a:solidFill>
                  <a:srgbClr val="251B45"/>
                </a:solidFill>
              </a:rPr>
              <a:t>9th Jul 2026, Ericsson Account Tech Day</a:t>
            </a:r>
            <a:endParaRPr lang="en-US" sz="800"/>
          </a:p>
        </p:txBody>
      </p:sp>
      <p:pic>
        <p:nvPicPr>
          <p:cNvPr id="13" name="Image 1" descr="/mnt/data/c57465729f.png"/>
          <p:cNvPicPr>
            <a:picLocks noChangeAspect="1"/>
          </p:cNvPicPr>
          <p:nvPr/>
        </p:nvPicPr>
        <p:blipFill>
          <a:blip r:embed="rId4"/>
          <a:srcRect t="787" b="787"/>
          <a:stretch/>
        </p:blipFill>
        <p:spPr>
          <a:xfrm>
            <a:off x="7571232" y="2304288"/>
            <a:ext cx="4069080" cy="2670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ipro_logo_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3192"/>
            <a:ext cx="8229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b="1">
                <a:solidFill>
                  <a:srgbClr val="0C0C0C"/>
                </a:solidFill>
                <a:latin typeface="Times New Roman"/>
                <a:cs typeface="Times New Roman"/>
              </a:rPr>
              <a:t>Overview, Setup and 14-Phase Lifecycle</a:t>
            </a:r>
            <a:endParaRPr lang="en-US" sz="28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94360" y="1143000"/>
            <a:ext cx="2194560" cy="0"/>
          </a:xfrm>
          <a:prstGeom prst="line">
            <a:avLst/>
          </a:prstGeom>
          <a:noFill/>
          <a:ln w="12700">
            <a:solidFill>
              <a:srgbClr val="0095B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732520" y="603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Slide 1 of 3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7" name="Shape 3"/>
          <p:cNvSpPr/>
          <p:nvPr/>
        </p:nvSpPr>
        <p:spPr>
          <a:xfrm>
            <a:off x="640080" y="1280160"/>
            <a:ext cx="3703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0080" y="1280160"/>
            <a:ext cx="3703320" cy="6400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" y="1408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C0C0C"/>
                </a:solidFill>
                <a:latin typeface="Times New Roman"/>
                <a:cs typeface="Times New Roman"/>
              </a:rPr>
              <a:t>What it is</a:t>
            </a:r>
            <a:endParaRPr lang="en-US" sz="16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10" name="Text 6"/>
          <p:cNvSpPr/>
          <p:nvPr/>
        </p:nvSpPr>
        <p:spPr>
          <a:xfrm>
            <a:off x="768096" y="1737360"/>
            <a:ext cx="344728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Structured SDLC for developers using Kiro CLI</a:t>
            </a:r>
          </a:p>
          <a:p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Guides Kiro from requirement intake to implementation and review</a:t>
            </a:r>
          </a:p>
          <a:p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Ensures quality, traceability and consistency</a:t>
            </a:r>
          </a:p>
        </p:txBody>
      </p:sp>
      <p:sp>
        <p:nvSpPr>
          <p:cNvPr id="11" name="Shape 7"/>
          <p:cNvSpPr/>
          <p:nvPr/>
        </p:nvSpPr>
        <p:spPr>
          <a:xfrm>
            <a:off x="640080" y="365760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0080" y="3657600"/>
            <a:ext cx="3703320" cy="64008"/>
          </a:xfrm>
          <a:prstGeom prst="rect">
            <a:avLst/>
          </a:prstGeom>
          <a:solidFill>
            <a:srgbClr val="3B1C61"/>
          </a:solidFill>
          <a:ln w="12700">
            <a:solidFill>
              <a:srgbClr val="3B1C61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768096" y="378561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C0C0C"/>
                </a:solidFill>
                <a:latin typeface="Times New Roman"/>
                <a:cs typeface="Times New Roman"/>
              </a:rPr>
              <a:t>Package contents</a:t>
            </a:r>
            <a:endParaRPr lang="en-US" sz="16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14" name="Text 10"/>
          <p:cNvSpPr/>
          <p:nvPr/>
        </p:nvSpPr>
        <p:spPr>
          <a:xfrm>
            <a:off x="768096" y="4114800"/>
            <a:ext cx="34472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README and QUICKSTART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steering/ - workflow spec, challenge gates, audit rules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templates/ - requirement input, DA and DIS templates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examples/ - future workflow runs</a:t>
            </a:r>
          </a:p>
        </p:txBody>
      </p:sp>
      <p:sp>
        <p:nvSpPr>
          <p:cNvPr id="15" name="Shape 11"/>
          <p:cNvSpPr/>
          <p:nvPr/>
        </p:nvSpPr>
        <p:spPr>
          <a:xfrm>
            <a:off x="4480560" y="1280160"/>
            <a:ext cx="3703320" cy="2286000"/>
          </a:xfrm>
          <a:prstGeom prst="roundRect">
            <a:avLst>
              <a:gd name="adj" fmla="val 240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480560" y="1280160"/>
            <a:ext cx="3703320" cy="6400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608576" y="1408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C0C0C"/>
                </a:solidFill>
                <a:latin typeface="Times New Roman"/>
                <a:cs typeface="Times New Roman"/>
              </a:rPr>
              <a:t>Prerequisites</a:t>
            </a:r>
            <a:endParaRPr lang="en-US" sz="16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18" name="Text 14"/>
          <p:cNvSpPr/>
          <p:nvPr/>
        </p:nvSpPr>
        <p:spPr>
          <a:xfrm>
            <a:off x="4608576" y="1737360"/>
            <a:ext cx="3447288" cy="1737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Kiro CLI installed and configured (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kiro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 chat)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MCP servers optional: 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jira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gerrit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, confluence, 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jenkins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, 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enm-opengrok</a:t>
            </a:r>
            <a:endParaRPr lang="en-US" sz="1200">
              <a:solidFill>
                <a:srgbClr val="0C0C0C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Works without MCPs - asks manually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A cloned PMIC repo or working directory</a:t>
            </a:r>
          </a:p>
        </p:txBody>
      </p:sp>
      <p:sp>
        <p:nvSpPr>
          <p:cNvPr id="19" name="Shape 15"/>
          <p:cNvSpPr/>
          <p:nvPr/>
        </p:nvSpPr>
        <p:spPr>
          <a:xfrm>
            <a:off x="4480560" y="365760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480560" y="3657600"/>
            <a:ext cx="3703320" cy="6400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4608576" y="378561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>
                <a:solidFill>
                  <a:srgbClr val="0C0C0C"/>
                </a:solidFill>
                <a:latin typeface="Times New Roman"/>
                <a:cs typeface="Times New Roman"/>
              </a:rPr>
              <a:t>Configuration steps</a:t>
            </a:r>
            <a:endParaRPr lang="en-US" sz="16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22" name="Text 18"/>
          <p:cNvSpPr/>
          <p:nvPr/>
        </p:nvSpPr>
        <p:spPr>
          <a:xfrm>
            <a:off x="4608576" y="4114800"/>
            <a:ext cx="34472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Create ~/.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kiro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/steering and ~/.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kiro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/specs/templates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Copy steering specs (workflow, challenge gates, audit rules)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Copy templates (requirement input, DA, DIS)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Verify folder structure</a:t>
            </a:r>
          </a:p>
          <a:p>
            <a:pPr marL="0" indent="0">
              <a:buNone/>
            </a:pP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• Optionally </a:t>
            </a:r>
            <a:r>
              <a:rPr lang="en-US" sz="1200" err="1">
                <a:solidFill>
                  <a:srgbClr val="0C0C0C"/>
                </a:solidFill>
                <a:latin typeface="Times New Roman"/>
                <a:cs typeface="Times New Roman"/>
              </a:rPr>
              <a:t>customise</a:t>
            </a:r>
            <a:r>
              <a:rPr lang="en-US" sz="1200">
                <a:solidFill>
                  <a:srgbClr val="0C0C0C"/>
                </a:solidFill>
                <a:latin typeface="Times New Roman"/>
                <a:cs typeface="Times New Roman"/>
              </a:rPr>
              <a:t> Confluence defaults (Phase 6)</a:t>
            </a:r>
          </a:p>
        </p:txBody>
      </p:sp>
      <p:sp>
        <p:nvSpPr>
          <p:cNvPr id="23" name="Shape 19"/>
          <p:cNvSpPr/>
          <p:nvPr/>
        </p:nvSpPr>
        <p:spPr>
          <a:xfrm>
            <a:off x="8321040" y="1280160"/>
            <a:ext cx="3246120" cy="498348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8321040" y="1280160"/>
            <a:ext cx="3246120" cy="64008"/>
          </a:xfrm>
          <a:prstGeom prst="rect">
            <a:avLst/>
          </a:prstGeom>
          <a:solidFill>
            <a:srgbClr val="3B1C61"/>
          </a:solidFill>
          <a:ln w="12700">
            <a:solidFill>
              <a:srgbClr val="3B1C61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8449056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0C0C0C"/>
                </a:solidFill>
                <a:latin typeface="Times New Roman"/>
                <a:cs typeface="Times New Roman"/>
              </a:rPr>
              <a:t>14-phase flow (0-13)</a:t>
            </a:r>
            <a:endParaRPr lang="en-US" sz="16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26" name="Shape 22"/>
          <p:cNvSpPr/>
          <p:nvPr/>
        </p:nvSpPr>
        <p:spPr>
          <a:xfrm>
            <a:off x="8449056" y="175564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8449056" y="178765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0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28" name="Text 24"/>
          <p:cNvSpPr/>
          <p:nvPr/>
        </p:nvSpPr>
        <p:spPr>
          <a:xfrm>
            <a:off x="8686800" y="17739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Requirement Intake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29" name="Shape 25"/>
          <p:cNvSpPr/>
          <p:nvPr/>
        </p:nvSpPr>
        <p:spPr>
          <a:xfrm>
            <a:off x="8449056" y="207568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49056" y="21076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1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1" name="Text 27"/>
          <p:cNvSpPr/>
          <p:nvPr/>
        </p:nvSpPr>
        <p:spPr>
          <a:xfrm>
            <a:off x="8686800" y="20939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Workspace Detection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2" name="Shape 28"/>
          <p:cNvSpPr/>
          <p:nvPr/>
        </p:nvSpPr>
        <p:spPr>
          <a:xfrm>
            <a:off x="8449056" y="239572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8449056" y="242773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2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4" name="Text 30"/>
          <p:cNvSpPr/>
          <p:nvPr/>
        </p:nvSpPr>
        <p:spPr>
          <a:xfrm>
            <a:off x="8686800" y="24140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Requirement Challenge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5" name="Shape 31"/>
          <p:cNvSpPr/>
          <p:nvPr/>
        </p:nvSpPr>
        <p:spPr>
          <a:xfrm>
            <a:off x="8449056" y="271576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8449056" y="27477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3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7" name="Text 33"/>
          <p:cNvSpPr/>
          <p:nvPr/>
        </p:nvSpPr>
        <p:spPr>
          <a:xfrm>
            <a:off x="8686800" y="27340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DA Preparation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38" name="Shape 34"/>
          <p:cNvSpPr/>
          <p:nvPr/>
        </p:nvSpPr>
        <p:spPr>
          <a:xfrm>
            <a:off x="8449056" y="303580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8449056" y="30678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4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0" name="Text 36"/>
          <p:cNvSpPr/>
          <p:nvPr/>
        </p:nvSpPr>
        <p:spPr>
          <a:xfrm>
            <a:off x="8686800" y="30540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DIS Preparation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1" name="Shape 37"/>
          <p:cNvSpPr/>
          <p:nvPr/>
        </p:nvSpPr>
        <p:spPr>
          <a:xfrm>
            <a:off x="8449056" y="335584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42" name="Text 38"/>
          <p:cNvSpPr/>
          <p:nvPr/>
        </p:nvSpPr>
        <p:spPr>
          <a:xfrm>
            <a:off x="8449056" y="338785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5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3" name="Text 39"/>
          <p:cNvSpPr/>
          <p:nvPr/>
        </p:nvSpPr>
        <p:spPr>
          <a:xfrm>
            <a:off x="8686800" y="33741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Self-Review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4" name="Shape 40"/>
          <p:cNvSpPr/>
          <p:nvPr/>
        </p:nvSpPr>
        <p:spPr>
          <a:xfrm>
            <a:off x="8449056" y="367588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45" name="Text 41"/>
          <p:cNvSpPr/>
          <p:nvPr/>
        </p:nvSpPr>
        <p:spPr>
          <a:xfrm>
            <a:off x="8449056" y="37078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6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6" name="Text 42"/>
          <p:cNvSpPr/>
          <p:nvPr/>
        </p:nvSpPr>
        <p:spPr>
          <a:xfrm>
            <a:off x="8686800" y="36941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Confluence Prep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7" name="Shape 43"/>
          <p:cNvSpPr/>
          <p:nvPr/>
        </p:nvSpPr>
        <p:spPr>
          <a:xfrm>
            <a:off x="8449056" y="399592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48" name="Text 44"/>
          <p:cNvSpPr/>
          <p:nvPr/>
        </p:nvSpPr>
        <p:spPr>
          <a:xfrm>
            <a:off x="8449056" y="402793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7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49" name="Text 45"/>
          <p:cNvSpPr/>
          <p:nvPr/>
        </p:nvSpPr>
        <p:spPr>
          <a:xfrm>
            <a:off x="8686800" y="40142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Review Gate (pause)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0" name="Shape 46"/>
          <p:cNvSpPr/>
          <p:nvPr/>
        </p:nvSpPr>
        <p:spPr>
          <a:xfrm>
            <a:off x="8449056" y="431596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51" name="Text 47"/>
          <p:cNvSpPr/>
          <p:nvPr/>
        </p:nvSpPr>
        <p:spPr>
          <a:xfrm>
            <a:off x="8449056" y="43479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8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2" name="Text 48"/>
          <p:cNvSpPr/>
          <p:nvPr/>
        </p:nvSpPr>
        <p:spPr>
          <a:xfrm>
            <a:off x="8686800" y="43342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Comment Resolution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3" name="Shape 49"/>
          <p:cNvSpPr/>
          <p:nvPr/>
        </p:nvSpPr>
        <p:spPr>
          <a:xfrm>
            <a:off x="8449056" y="463600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54" name="Text 50"/>
          <p:cNvSpPr/>
          <p:nvPr/>
        </p:nvSpPr>
        <p:spPr>
          <a:xfrm>
            <a:off x="8449056" y="466801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9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5" name="Text 51"/>
          <p:cNvSpPr/>
          <p:nvPr/>
        </p:nvSpPr>
        <p:spPr>
          <a:xfrm>
            <a:off x="8686800" y="465429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Implementation Planning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6" name="Shape 52"/>
          <p:cNvSpPr/>
          <p:nvPr/>
        </p:nvSpPr>
        <p:spPr>
          <a:xfrm>
            <a:off x="8449056" y="495604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57" name="Text 53"/>
          <p:cNvSpPr/>
          <p:nvPr/>
        </p:nvSpPr>
        <p:spPr>
          <a:xfrm>
            <a:off x="8449056" y="498805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10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8" name="Text 54"/>
          <p:cNvSpPr/>
          <p:nvPr/>
        </p:nvSpPr>
        <p:spPr>
          <a:xfrm>
            <a:off x="8686800" y="497433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Implementation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59" name="Shape 55"/>
          <p:cNvSpPr/>
          <p:nvPr/>
        </p:nvSpPr>
        <p:spPr>
          <a:xfrm>
            <a:off x="8449056" y="527608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60" name="Text 56"/>
          <p:cNvSpPr/>
          <p:nvPr/>
        </p:nvSpPr>
        <p:spPr>
          <a:xfrm>
            <a:off x="8449056" y="530809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11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1" name="Text 57"/>
          <p:cNvSpPr/>
          <p:nvPr/>
        </p:nvSpPr>
        <p:spPr>
          <a:xfrm>
            <a:off x="8686800" y="529437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Unit Tests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2" name="Shape 58"/>
          <p:cNvSpPr/>
          <p:nvPr/>
        </p:nvSpPr>
        <p:spPr>
          <a:xfrm>
            <a:off x="8449056" y="5596128"/>
            <a:ext cx="201168" cy="201168"/>
          </a:xfrm>
          <a:prstGeom prst="ellipse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63" name="Text 59"/>
          <p:cNvSpPr/>
          <p:nvPr/>
        </p:nvSpPr>
        <p:spPr>
          <a:xfrm>
            <a:off x="8449056" y="562813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12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4" name="Text 60"/>
          <p:cNvSpPr/>
          <p:nvPr/>
        </p:nvSpPr>
        <p:spPr>
          <a:xfrm>
            <a:off x="8686800" y="561441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Build &amp; Verify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5" name="Shape 61"/>
          <p:cNvSpPr/>
          <p:nvPr/>
        </p:nvSpPr>
        <p:spPr>
          <a:xfrm>
            <a:off x="8449056" y="5916168"/>
            <a:ext cx="201168" cy="201168"/>
          </a:xfrm>
          <a:prstGeom prst="ellipse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66" name="Text 62"/>
          <p:cNvSpPr/>
          <p:nvPr/>
        </p:nvSpPr>
        <p:spPr>
          <a:xfrm>
            <a:off x="8449056" y="5948172"/>
            <a:ext cx="2011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>
                <a:solidFill>
                  <a:srgbClr val="0C0C0C"/>
                </a:solidFill>
                <a:latin typeface="Times New Roman"/>
                <a:cs typeface="Times New Roman"/>
              </a:rPr>
              <a:t>13</a:t>
            </a:r>
            <a:endParaRPr lang="en-US" sz="9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7" name="Text 63"/>
          <p:cNvSpPr/>
          <p:nvPr/>
        </p:nvSpPr>
        <p:spPr>
          <a:xfrm>
            <a:off x="8686800" y="5934456"/>
            <a:ext cx="2834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>
                <a:solidFill>
                  <a:srgbClr val="0C0C0C"/>
                </a:solidFill>
                <a:latin typeface="Times New Roman"/>
                <a:cs typeface="Times New Roman"/>
              </a:rPr>
              <a:t>Final Closure</a:t>
            </a:r>
            <a:endParaRPr lang="en-US" sz="1000">
              <a:solidFill>
                <a:srgbClr val="0C0C0C"/>
              </a:solidFill>
              <a:latin typeface="Times New Roman"/>
              <a:cs typeface="Times New Roman"/>
            </a:endParaRPr>
          </a:p>
        </p:txBody>
      </p:sp>
      <p:sp>
        <p:nvSpPr>
          <p:cNvPr id="68" name="Text 64"/>
          <p:cNvSpPr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0C0C0C"/>
                </a:solidFill>
                <a:latin typeface="Times New Roman"/>
                <a:cs typeface="Times New Roman"/>
              </a:rPr>
              <a:t>Kiro Developer Workflow | Tech Challenge</a:t>
            </a:r>
          </a:p>
        </p:txBody>
      </p:sp>
      <p:sp>
        <p:nvSpPr>
          <p:cNvPr id="69" name="Text 65"/>
          <p:cNvSpPr/>
          <p:nvPr/>
        </p:nvSpPr>
        <p:spPr>
          <a:xfrm>
            <a:off x="1138428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>
                <a:solidFill>
                  <a:srgbClr val="0C0C0C"/>
                </a:solidFill>
                <a:latin typeface="Times New Roman"/>
                <a:cs typeface="Times New Roman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ipro_logo_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3192"/>
            <a:ext cx="8229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>
                <a:solidFill>
                  <a:srgbClr val="251B45"/>
                </a:solidFill>
                <a:latin typeface="Times New Roman"/>
                <a:cs typeface="Times New Roman"/>
              </a:rPr>
              <a:t>How It Works and What It Produces</a:t>
            </a:r>
            <a:endParaRPr lang="en-US" sz="2350">
              <a:latin typeface="Times New Roman"/>
              <a:cs typeface="Times New Roman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94360" y="1143000"/>
            <a:ext cx="2194560" cy="0"/>
          </a:xfrm>
          <a:prstGeom prst="line">
            <a:avLst/>
          </a:prstGeom>
          <a:noFill/>
          <a:ln w="12700">
            <a:solidFill>
              <a:srgbClr val="0095B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732520" y="603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>
                <a:solidFill>
                  <a:srgbClr val="5A536D"/>
                </a:solidFill>
                <a:latin typeface="Times New Roman"/>
                <a:cs typeface="Times New Roman"/>
              </a:rPr>
              <a:t>Slide 2 of 3</a:t>
            </a:r>
            <a:endParaRPr lang="en-US" sz="860">
              <a:latin typeface="Times New Roman"/>
              <a:cs typeface="Times New Roman"/>
            </a:endParaRPr>
          </a:p>
        </p:txBody>
      </p:sp>
      <p:pic>
        <p:nvPicPr>
          <p:cNvPr id="7" name="Image 2" descr="/mnt/data/639ac2f37a.png"/>
          <p:cNvPicPr>
            <a:picLocks noChangeAspect="1"/>
          </p:cNvPicPr>
          <p:nvPr/>
        </p:nvPicPr>
        <p:blipFill>
          <a:blip r:embed="rId5"/>
          <a:srcRect l="3448" r="3448"/>
          <a:stretch/>
        </p:blipFill>
        <p:spPr>
          <a:xfrm>
            <a:off x="640080" y="1280160"/>
            <a:ext cx="3703320" cy="26517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4023360"/>
            <a:ext cx="3703320" cy="2377440"/>
          </a:xfrm>
          <a:prstGeom prst="roundRect">
            <a:avLst>
              <a:gd name="adj" fmla="val 2308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40080" y="4023360"/>
            <a:ext cx="3703320" cy="6400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8096" y="41513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251B45"/>
                </a:solidFill>
                <a:latin typeface="Times New Roman"/>
                <a:cs typeface="Times New Roman"/>
              </a:rPr>
              <a:t>Key features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8096" y="4480560"/>
            <a:ext cx="3447288" cy="1828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Workflow Challenges at every stage (need, safe, minimal, testable)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No skipping - no implementation before DA/DIS approval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Audit trail - every decision in .</a:t>
            </a:r>
            <a:r>
              <a:rPr lang="en-US" sz="1200" err="1">
                <a:solidFill>
                  <a:srgbClr val="5A536D"/>
                </a:solidFill>
                <a:latin typeface="Times New Roman"/>
                <a:cs typeface="Times New Roman"/>
              </a:rPr>
              <a:t>kiro</a:t>
            </a: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/audit/audit-log.md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Resume support from any phase after interruption</a:t>
            </a:r>
            <a:endParaRPr lang="en-US" sz="1200">
              <a:latin typeface="Times New Roman"/>
              <a:cs typeface="Times New Roman"/>
            </a:endParaRPr>
          </a:p>
          <a:p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Desinger allowed to cancel support  and cleans generated files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480560" y="1280160"/>
            <a:ext cx="3703320" cy="512064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480560" y="1280160"/>
            <a:ext cx="3703320" cy="64008"/>
          </a:xfrm>
          <a:prstGeom prst="rect">
            <a:avLst/>
          </a:prstGeom>
          <a:solidFill>
            <a:srgbClr val="3B1C61"/>
          </a:solidFill>
          <a:ln w="12700">
            <a:solidFill>
              <a:srgbClr val="3B1C6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08576" y="1408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250" b="1">
                <a:solidFill>
                  <a:srgbClr val="251B45"/>
                </a:solidFill>
                <a:latin typeface="Times New Roman"/>
                <a:cs typeface="Times New Roman"/>
              </a:rPr>
              <a:t>What Workflow will do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608576" y="1737360"/>
            <a:ext cx="3447288" cy="4572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Fetch Jira - extract fields automatically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Check existing work - reuse or ignore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Ask input mode - edit file directly or answer one by one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Collect remaining requirement fields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Detect workspace and impacted components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Challenge before design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Generate DA and DIS drafts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Pause for formal review at the review gate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Implement after approval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Test, verify build and generate PR description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8321040" y="1280160"/>
            <a:ext cx="3246120" cy="5120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1280160"/>
            <a:ext cx="3246120" cy="6400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8449056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00" b="1">
                <a:solidFill>
                  <a:srgbClr val="251B45"/>
                </a:solidFill>
                <a:latin typeface="Times New Roman"/>
                <a:cs typeface="Times New Roman"/>
              </a:rPr>
              <a:t>Generated outputs under .kiro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9" name="Shape 14"/>
          <p:cNvSpPr/>
          <p:nvPr/>
        </p:nvSpPr>
        <p:spPr>
          <a:xfrm>
            <a:off x="8449056" y="1783080"/>
            <a:ext cx="73152" cy="822960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8595360" y="178308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51B45"/>
                </a:solidFill>
                <a:latin typeface="Times New Roman"/>
                <a:cs typeface="Times New Roman"/>
              </a:rPr>
              <a:t>Requirements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21" name="Text 16"/>
          <p:cNvSpPr/>
          <p:nvPr/>
        </p:nvSpPr>
        <p:spPr>
          <a:xfrm>
            <a:off x="8595360" y="2039112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requirement-input.md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requirement-challenge.md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22" name="Shape 17"/>
          <p:cNvSpPr/>
          <p:nvPr/>
        </p:nvSpPr>
        <p:spPr>
          <a:xfrm>
            <a:off x="8449056" y="2724912"/>
            <a:ext cx="73152" cy="822960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8595360" y="272491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51B45"/>
                </a:solidFill>
                <a:latin typeface="Times New Roman"/>
                <a:cs typeface="Times New Roman"/>
              </a:rPr>
              <a:t>Design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24" name="Text 19"/>
          <p:cNvSpPr/>
          <p:nvPr/>
        </p:nvSpPr>
        <p:spPr>
          <a:xfrm>
            <a:off x="8595360" y="2980944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DA-draft.md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DIS-draft.md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da-dis-self-review.md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25" name="Shape 20"/>
          <p:cNvSpPr/>
          <p:nvPr/>
        </p:nvSpPr>
        <p:spPr>
          <a:xfrm>
            <a:off x="8449056" y="3666744"/>
            <a:ext cx="73152" cy="822960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26" name="Text 21"/>
          <p:cNvSpPr/>
          <p:nvPr/>
        </p:nvSpPr>
        <p:spPr>
          <a:xfrm>
            <a:off x="8595360" y="36667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51B45"/>
                </a:solidFill>
                <a:latin typeface="Times New Roman"/>
                <a:cs typeface="Times New Roman"/>
              </a:rPr>
              <a:t>Review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27" name="Text 22"/>
          <p:cNvSpPr/>
          <p:nvPr/>
        </p:nvSpPr>
        <p:spPr>
          <a:xfrm>
            <a:off x="8595360" y="3922776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DA/DIS-confluence-ready.md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review-outcome.md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review-comment-resolution.md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28" name="Shape 23"/>
          <p:cNvSpPr/>
          <p:nvPr/>
        </p:nvSpPr>
        <p:spPr>
          <a:xfrm>
            <a:off x="8449056" y="4608576"/>
            <a:ext cx="73152" cy="822960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595360" y="460857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51B45"/>
                </a:solidFill>
                <a:latin typeface="Times New Roman"/>
                <a:cs typeface="Times New Roman"/>
              </a:rPr>
              <a:t>Delivery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30" name="Text 25"/>
          <p:cNvSpPr/>
          <p:nvPr/>
        </p:nvSpPr>
        <p:spPr>
          <a:xfrm>
            <a:off x="8595360" y="4864608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implementation-plan.md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implementation-summary.md</a:t>
            </a:r>
            <a:endParaRPr lang="en-US" sz="10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unit-test-summary.md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1" name="Shape 26"/>
          <p:cNvSpPr/>
          <p:nvPr/>
        </p:nvSpPr>
        <p:spPr>
          <a:xfrm>
            <a:off x="8449056" y="5550408"/>
            <a:ext cx="73152" cy="822960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8595360" y="555040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>
                <a:solidFill>
                  <a:srgbClr val="251B45"/>
                </a:solidFill>
                <a:latin typeface="Times New Roman"/>
                <a:cs typeface="Times New Roman"/>
              </a:rPr>
              <a:t>Closure</a:t>
            </a:r>
            <a:endParaRPr lang="en-US" sz="1050">
              <a:latin typeface="Times New Roman"/>
              <a:cs typeface="Times New Roman"/>
            </a:endParaRPr>
          </a:p>
        </p:txBody>
      </p:sp>
      <p:sp>
        <p:nvSpPr>
          <p:cNvPr id="33" name="Text 28"/>
          <p:cNvSpPr/>
          <p:nvPr/>
        </p:nvSpPr>
        <p:spPr>
          <a:xfrm>
            <a:off x="8595360" y="5806440"/>
            <a:ext cx="28803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build-verification-summary.md</a:t>
            </a:r>
            <a:endParaRPr lang="en-US" sz="1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final-summary.md</a:t>
            </a:r>
            <a:endParaRPr lang="en-US" sz="1000">
              <a:solidFill>
                <a:srgbClr val="000000"/>
              </a:solidFill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pr-description.md</a:t>
            </a:r>
            <a:endParaRPr lang="en-US" sz="1000">
              <a:solidFill>
                <a:srgbClr val="000000"/>
              </a:solidFill>
              <a:latin typeface="Times New Roman"/>
              <a:cs typeface="Times New Roman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>
                <a:solidFill>
                  <a:srgbClr val="B5B0C4"/>
                </a:solidFill>
                <a:latin typeface="Times New Roman"/>
                <a:cs typeface="Times New Roman"/>
              </a:rPr>
              <a:t>Kiro Developer Workflow | Tech Challenge</a:t>
            </a:r>
            <a:endParaRPr lang="en-US" sz="550">
              <a:latin typeface="Times New Roman"/>
              <a:cs typeface="Times New Roman"/>
            </a:endParaRPr>
          </a:p>
        </p:txBody>
      </p:sp>
      <p:sp>
        <p:nvSpPr>
          <p:cNvPr id="35" name="Text 30"/>
          <p:cNvSpPr/>
          <p:nvPr/>
        </p:nvSpPr>
        <p:spPr>
          <a:xfrm>
            <a:off x="1138428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>
                <a:solidFill>
                  <a:srgbClr val="B5B0C4"/>
                </a:solidFill>
                <a:latin typeface="Times New Roman"/>
                <a:cs typeface="Times New Roman"/>
              </a:rPr>
              <a:t>03</a:t>
            </a:r>
            <a:endParaRPr lang="en-US" sz="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9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pl/ppt/media/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ipro_logo_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3192"/>
            <a:ext cx="8229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56692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350" b="1">
                <a:solidFill>
                  <a:srgbClr val="251B45"/>
                </a:solidFill>
                <a:latin typeface="Times New Roman"/>
                <a:cs typeface="Times New Roman"/>
              </a:rPr>
              <a:t>Using the Workflow</a:t>
            </a:r>
            <a:endParaRPr lang="en-US" sz="2350">
              <a:latin typeface="Times New Roman"/>
              <a:cs typeface="Times New Roman"/>
            </a:endParaRPr>
          </a:p>
        </p:txBody>
      </p:sp>
      <p:sp>
        <p:nvSpPr>
          <p:cNvPr id="5" name="Shape 1"/>
          <p:cNvSpPr/>
          <p:nvPr/>
        </p:nvSpPr>
        <p:spPr>
          <a:xfrm>
            <a:off x="594360" y="1143000"/>
            <a:ext cx="2194560" cy="0"/>
          </a:xfrm>
          <a:prstGeom prst="line">
            <a:avLst/>
          </a:prstGeom>
          <a:noFill/>
          <a:ln w="12700">
            <a:solidFill>
              <a:srgbClr val="0095B7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8732520" y="603504"/>
            <a:ext cx="2514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60" b="1">
                <a:solidFill>
                  <a:srgbClr val="5A536D"/>
                </a:solidFill>
                <a:latin typeface="Times New Roman"/>
                <a:cs typeface="Times New Roman"/>
              </a:rPr>
              <a:t>Slide 3 of 3</a:t>
            </a:r>
            <a:endParaRPr lang="en-US" sz="860">
              <a:latin typeface="Times New Roman"/>
              <a:cs typeface="Times New Roman"/>
            </a:endParaRPr>
          </a:p>
        </p:txBody>
      </p:sp>
      <p:pic>
        <p:nvPicPr>
          <p:cNvPr id="7" name="Image 2" descr="/mnt/data/3f84fdf909.png"/>
          <p:cNvPicPr>
            <a:picLocks noChangeAspect="1"/>
          </p:cNvPicPr>
          <p:nvPr/>
        </p:nvPicPr>
        <p:blipFill>
          <a:blip r:embed="rId5"/>
          <a:srcRect l="2632" r="2632"/>
          <a:stretch/>
        </p:blipFill>
        <p:spPr>
          <a:xfrm>
            <a:off x="640080" y="1280160"/>
            <a:ext cx="3703320" cy="260604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640080" y="3977640"/>
            <a:ext cx="37033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4"/>
          <p:cNvSpPr/>
          <p:nvPr/>
        </p:nvSpPr>
        <p:spPr>
          <a:xfrm>
            <a:off x="640080" y="3977640"/>
            <a:ext cx="3703320" cy="6400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68096" y="410565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251B45"/>
                </a:solidFill>
                <a:latin typeface="Times New Roman"/>
                <a:cs typeface="Times New Roman"/>
              </a:rPr>
              <a:t>How to run it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1" name="Text 6"/>
          <p:cNvSpPr/>
          <p:nvPr/>
        </p:nvSpPr>
        <p:spPr>
          <a:xfrm>
            <a:off x="768096" y="4434840"/>
            <a:ext cx="3447288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Start: Start Kiro Developer workflow for &lt;JIRA-KEY&gt;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Resume: same command - Kiro asks resume or restart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Cancel: Cancel Kiro ... and delete output files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Skip a phase: e.g. Skip DA - I already have a DA on Confluence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Skip recorded in the audit log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2" name="Shape 7"/>
          <p:cNvSpPr/>
          <p:nvPr/>
        </p:nvSpPr>
        <p:spPr>
          <a:xfrm>
            <a:off x="4480560" y="1280160"/>
            <a:ext cx="3703320" cy="260604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8"/>
          <p:cNvSpPr/>
          <p:nvPr/>
        </p:nvSpPr>
        <p:spPr>
          <a:xfrm>
            <a:off x="4480560" y="1280160"/>
            <a:ext cx="3703320" cy="64008"/>
          </a:xfrm>
          <a:prstGeom prst="rect">
            <a:avLst/>
          </a:prstGeom>
          <a:solidFill>
            <a:srgbClr val="3B1C61"/>
          </a:solidFill>
          <a:ln w="12700">
            <a:solidFill>
              <a:srgbClr val="3B1C61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4608576" y="140817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251B45"/>
                </a:solidFill>
                <a:latin typeface="Times New Roman"/>
                <a:cs typeface="Times New Roman"/>
              </a:rPr>
              <a:t>Tips for best results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4608576" y="1737360"/>
            <a:ext cx="3447288" cy="20574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Provide a Jira key so Kiro extracts most fields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Be specific about impacted components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Use "Answer one by one" for first-time use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Use "Edit file directly" once familiar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Do not skip challenge - catches design issues</a:t>
            </a:r>
            <a:endParaRPr lang="en-US" sz="120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  <a:latin typeface="Times New Roman"/>
                <a:cs typeface="Times New Roman"/>
              </a:rPr>
              <a:t>• Keep audit log - supports review and knowledge transfer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16" name="Shape 11"/>
          <p:cNvSpPr/>
          <p:nvPr/>
        </p:nvSpPr>
        <p:spPr>
          <a:xfrm>
            <a:off x="4480560" y="3977640"/>
            <a:ext cx="3703320" cy="2423160"/>
          </a:xfrm>
          <a:prstGeom prst="roundRect">
            <a:avLst>
              <a:gd name="adj" fmla="val 2264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4480560" y="3977640"/>
            <a:ext cx="3703320" cy="6400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608576" y="4105656"/>
            <a:ext cx="3447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250" b="1">
                <a:solidFill>
                  <a:srgbClr val="251B45"/>
                </a:solidFill>
                <a:latin typeface="Times New Roman"/>
                <a:cs typeface="Times New Roman"/>
              </a:rPr>
              <a:t>Customization</a:t>
            </a:r>
            <a:endParaRPr lang="en-US" sz="1250">
              <a:latin typeface="Times New Roman"/>
              <a:cs typeface="Times New Roman"/>
            </a:endParaRPr>
          </a:p>
        </p:txBody>
      </p:sp>
      <p:sp>
        <p:nvSpPr>
          <p:cNvPr id="19" name="Text 14"/>
          <p:cNvSpPr/>
          <p:nvPr/>
        </p:nvSpPr>
        <p:spPr>
          <a:xfrm>
            <a:off x="4608576" y="4434840"/>
            <a:ext cx="3447288" cy="1874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</a:rPr>
              <a:t>• Requirement template - ~/.</a:t>
            </a:r>
            <a:r>
              <a:rPr lang="en-US" sz="1200" err="1">
                <a:solidFill>
                  <a:srgbClr val="5A536D"/>
                </a:solidFill>
              </a:rPr>
              <a:t>kiro</a:t>
            </a:r>
            <a:r>
              <a:rPr lang="en-US" sz="1200">
                <a:solidFill>
                  <a:srgbClr val="5A536D"/>
                </a:solidFill>
              </a:rPr>
              <a:t>/specs/templates/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</a:rPr>
              <a:t>• Challenge questions - developer-stage-challenge-gates.md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</a:rPr>
              <a:t>• Confluence settings - Phase 6 in workflow spec</a:t>
            </a:r>
            <a:endParaRPr lang="en-US" sz="1200"/>
          </a:p>
          <a:p>
            <a:pPr marL="0" indent="0">
              <a:buNone/>
            </a:pPr>
            <a:r>
              <a:rPr lang="en-US" sz="1200">
                <a:solidFill>
                  <a:srgbClr val="5A536D"/>
                </a:solidFill>
              </a:rPr>
              <a:t>• Add coding standards as steering rules for enforcement</a:t>
            </a:r>
            <a:endParaRPr lang="en-US" sz="1200"/>
          </a:p>
        </p:txBody>
      </p:sp>
      <p:sp>
        <p:nvSpPr>
          <p:cNvPr id="20" name="Shape 15"/>
          <p:cNvSpPr/>
          <p:nvPr/>
        </p:nvSpPr>
        <p:spPr>
          <a:xfrm>
            <a:off x="8321040" y="1280160"/>
            <a:ext cx="3246120" cy="5120640"/>
          </a:xfrm>
          <a:prstGeom prst="roundRect">
            <a:avLst>
              <a:gd name="adj" fmla="val 1690"/>
            </a:avLst>
          </a:prstGeom>
          <a:solidFill>
            <a:srgbClr val="FFFFFF"/>
          </a:solidFill>
          <a:ln w="12700">
            <a:solidFill>
              <a:srgbClr val="E1DDEC"/>
            </a:solidFill>
            <a:prstDash val="solid"/>
          </a:ln>
          <a:effectLst>
            <a:outerShdw blurRad="15240" dist="127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8321040" y="1280160"/>
            <a:ext cx="3246120" cy="64008"/>
          </a:xfrm>
          <a:prstGeom prst="rect">
            <a:avLst/>
          </a:prstGeom>
          <a:solidFill>
            <a:srgbClr val="251B45"/>
          </a:solidFill>
          <a:ln w="12700">
            <a:solidFill>
              <a:srgbClr val="251B45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8449056" y="141732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>
                <a:solidFill>
                  <a:srgbClr val="251B45"/>
                </a:solidFill>
                <a:latin typeface="Times New Roman"/>
                <a:cs typeface="Times New Roman"/>
              </a:rPr>
              <a:t>Troubleshooting quick-look</a:t>
            </a:r>
            <a:endParaRPr lang="en-US" sz="1200">
              <a:latin typeface="Times New Roman"/>
              <a:cs typeface="Times New Roman"/>
            </a:endParaRPr>
          </a:p>
        </p:txBody>
      </p:sp>
      <p:sp>
        <p:nvSpPr>
          <p:cNvPr id="23" name="Shape 18"/>
          <p:cNvSpPr/>
          <p:nvPr/>
        </p:nvSpPr>
        <p:spPr>
          <a:xfrm>
            <a:off x="8449056" y="1764792"/>
            <a:ext cx="73152" cy="65836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595360" y="176479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Kiro does not follow flow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5" name="Text 20"/>
          <p:cNvSpPr/>
          <p:nvPr/>
        </p:nvSpPr>
        <p:spPr>
          <a:xfrm>
            <a:off x="8595360" y="198424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60">
                <a:solidFill>
                  <a:srgbClr val="5A536D"/>
                </a:solidFill>
                <a:latin typeface="Times New Roman"/>
                <a:cs typeface="Times New Roman"/>
              </a:rPr>
              <a:t>Steering files in ~/.kiro/steering/</a:t>
            </a:r>
            <a:endParaRPr lang="en-US" sz="760">
              <a:latin typeface="Times New Roman"/>
              <a:cs typeface="Times New Roman"/>
            </a:endParaRPr>
          </a:p>
        </p:txBody>
      </p:sp>
      <p:sp>
        <p:nvSpPr>
          <p:cNvPr id="26" name="Shape 21"/>
          <p:cNvSpPr/>
          <p:nvPr/>
        </p:nvSpPr>
        <p:spPr>
          <a:xfrm>
            <a:off x="8449056" y="2523744"/>
            <a:ext cx="73152" cy="65836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8595360" y="2523744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Skips input mode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28" name="Text 23"/>
          <p:cNvSpPr/>
          <p:nvPr/>
        </p:nvSpPr>
        <p:spPr>
          <a:xfrm>
            <a:off x="8595360" y="2743200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50">
                <a:solidFill>
                  <a:srgbClr val="5A536D"/>
                </a:solidFill>
                <a:latin typeface="Times New Roman"/>
                <a:cs typeface="Times New Roman"/>
              </a:rPr>
              <a:t>Steering </a:t>
            </a: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spec</a:t>
            </a:r>
            <a:r>
              <a:rPr lang="en-US" sz="750">
                <a:solidFill>
                  <a:srgbClr val="5A536D"/>
                </a:solidFill>
                <a:latin typeface="Times New Roman"/>
                <a:cs typeface="Times New Roman"/>
              </a:rPr>
              <a:t> needs the "must NOT write" blocker</a:t>
            </a:r>
            <a:endParaRPr lang="en-US" sz="750">
              <a:latin typeface="Times New Roman"/>
              <a:cs typeface="Times New Roman"/>
            </a:endParaRPr>
          </a:p>
        </p:txBody>
      </p:sp>
      <p:sp>
        <p:nvSpPr>
          <p:cNvPr id="29" name="Shape 24"/>
          <p:cNvSpPr/>
          <p:nvPr/>
        </p:nvSpPr>
        <p:spPr>
          <a:xfrm>
            <a:off x="8449056" y="3282696"/>
            <a:ext cx="73152" cy="65836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8595360" y="3282696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Jira fetch fails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31" name="Text 26"/>
          <p:cNvSpPr/>
          <p:nvPr/>
        </p:nvSpPr>
        <p:spPr>
          <a:xfrm>
            <a:off x="8595360" y="3502152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Check </a:t>
            </a:r>
            <a:r>
              <a:rPr lang="en-US" sz="1000" err="1">
                <a:solidFill>
                  <a:srgbClr val="5A536D"/>
                </a:solidFill>
                <a:latin typeface="Times New Roman"/>
                <a:cs typeface="Times New Roman"/>
              </a:rPr>
              <a:t>jira-mcp</a:t>
            </a: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 configuration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2" name="Shape 27"/>
          <p:cNvSpPr/>
          <p:nvPr/>
        </p:nvSpPr>
        <p:spPr>
          <a:xfrm>
            <a:off x="8449056" y="4041648"/>
            <a:ext cx="73152" cy="65836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595360" y="4041648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Confluence page fails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34" name="Text 29"/>
          <p:cNvSpPr/>
          <p:nvPr/>
        </p:nvSpPr>
        <p:spPr>
          <a:xfrm>
            <a:off x="8595360" y="4261104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Use manual paste mode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5" name="Shape 30"/>
          <p:cNvSpPr/>
          <p:nvPr/>
        </p:nvSpPr>
        <p:spPr>
          <a:xfrm>
            <a:off x="8449056" y="4800600"/>
            <a:ext cx="73152" cy="658368"/>
          </a:xfrm>
          <a:prstGeom prst="rect">
            <a:avLst/>
          </a:prstGeom>
          <a:solidFill>
            <a:srgbClr val="0095B7"/>
          </a:solidFill>
          <a:ln w="12700">
            <a:solidFill>
              <a:srgbClr val="0095B7"/>
            </a:solidFill>
            <a:prstDash val="solid"/>
          </a:ln>
        </p:spPr>
      </p:sp>
      <p:sp>
        <p:nvSpPr>
          <p:cNvPr id="36" name="Text 31"/>
          <p:cNvSpPr/>
          <p:nvPr/>
        </p:nvSpPr>
        <p:spPr>
          <a:xfrm>
            <a:off x="8595360" y="4800600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Does not resume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37" name="Text 32"/>
          <p:cNvSpPr/>
          <p:nvPr/>
        </p:nvSpPr>
        <p:spPr>
          <a:xfrm>
            <a:off x="8595360" y="5020056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Ensure .</a:t>
            </a:r>
            <a:r>
              <a:rPr lang="en-US" sz="1000" err="1">
                <a:solidFill>
                  <a:srgbClr val="5A536D"/>
                </a:solidFill>
                <a:latin typeface="Times New Roman"/>
                <a:cs typeface="Times New Roman"/>
              </a:rPr>
              <a:t>kiro</a:t>
            </a:r>
            <a:r>
              <a:rPr lang="en-US" sz="1000">
                <a:solidFill>
                  <a:srgbClr val="5A536D"/>
                </a:solidFill>
                <a:latin typeface="Times New Roman"/>
                <a:cs typeface="Times New Roman"/>
              </a:rPr>
              <a:t>/audit/audit-log.md exists</a:t>
            </a:r>
            <a:endParaRPr lang="en-US" sz="1000">
              <a:latin typeface="Times New Roman"/>
              <a:cs typeface="Times New Roman"/>
            </a:endParaRPr>
          </a:p>
        </p:txBody>
      </p:sp>
      <p:sp>
        <p:nvSpPr>
          <p:cNvPr id="38" name="Shape 33"/>
          <p:cNvSpPr/>
          <p:nvPr/>
        </p:nvSpPr>
        <p:spPr>
          <a:xfrm>
            <a:off x="8449056" y="5559552"/>
            <a:ext cx="73152" cy="658368"/>
          </a:xfrm>
          <a:prstGeom prst="rect">
            <a:avLst/>
          </a:prstGeom>
          <a:solidFill>
            <a:srgbClr val="95B44E"/>
          </a:solidFill>
          <a:ln w="12700">
            <a:solidFill>
              <a:srgbClr val="95B44E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8595360" y="5559552"/>
            <a:ext cx="2880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50" b="1">
                <a:solidFill>
                  <a:srgbClr val="251B45"/>
                </a:solidFill>
                <a:latin typeface="Times New Roman"/>
                <a:cs typeface="Times New Roman"/>
              </a:rPr>
              <a:t>Build commands fail</a:t>
            </a:r>
            <a:endParaRPr lang="en-US" sz="950">
              <a:latin typeface="Times New Roman"/>
              <a:cs typeface="Times New Roman"/>
            </a:endParaRPr>
          </a:p>
        </p:txBody>
      </p:sp>
      <p:sp>
        <p:nvSpPr>
          <p:cNvPr id="40" name="Text 35"/>
          <p:cNvSpPr/>
          <p:nvPr/>
        </p:nvSpPr>
        <p:spPr>
          <a:xfrm>
            <a:off x="8595360" y="577900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750">
                <a:solidFill>
                  <a:srgbClr val="5A536D"/>
                </a:solidFill>
                <a:latin typeface="Times New Roman"/>
                <a:cs typeface="Times New Roman"/>
              </a:rPr>
              <a:t>Confirm correct repo directory</a:t>
            </a:r>
            <a:endParaRPr lang="en-US" sz="750">
              <a:latin typeface="Times New Roman"/>
              <a:cs typeface="Times New Roman"/>
            </a:endParaRPr>
          </a:p>
        </p:txBody>
      </p:sp>
      <p:sp>
        <p:nvSpPr>
          <p:cNvPr id="41" name="Text 36"/>
          <p:cNvSpPr/>
          <p:nvPr/>
        </p:nvSpPr>
        <p:spPr>
          <a:xfrm>
            <a:off x="502920" y="6537960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">
                <a:solidFill>
                  <a:srgbClr val="B5B0C4"/>
                </a:solidFill>
                <a:latin typeface="Times New Roman"/>
                <a:cs typeface="Times New Roman"/>
              </a:rPr>
              <a:t>Kiro Developer Workflow | Tech Challenge</a:t>
            </a:r>
            <a:endParaRPr lang="en-US" sz="550">
              <a:latin typeface="Times New Roman"/>
              <a:cs typeface="Times New Roman"/>
            </a:endParaRPr>
          </a:p>
        </p:txBody>
      </p:sp>
      <p:sp>
        <p:nvSpPr>
          <p:cNvPr id="42" name="Text 37"/>
          <p:cNvSpPr/>
          <p:nvPr/>
        </p:nvSpPr>
        <p:spPr>
          <a:xfrm>
            <a:off x="11384280" y="6464808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600">
                <a:solidFill>
                  <a:srgbClr val="B5B0C4"/>
                </a:solidFill>
                <a:latin typeface="Times New Roman"/>
                <a:cs typeface="Times New Roman"/>
              </a:rPr>
              <a:t>04</a:t>
            </a:r>
            <a:endParaRPr lang="en-US" sz="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tpl/ppt/media/image5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mnt/data/wipro_logo_templ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393192"/>
            <a:ext cx="822960" cy="32918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94360" y="2468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>
                <a:solidFill>
                  <a:srgbClr val="FFFFFF"/>
                </a:solidFill>
              </a:rPr>
              <a:t>Thank you</a:t>
            </a:r>
            <a:r>
              <a:rPr lang="en-US" sz="3400" b="1">
                <a:solidFill>
                  <a:srgbClr val="95B44E"/>
                </a:solidFill>
              </a:rPr>
              <a:t>.</a:t>
            </a:r>
            <a:endParaRPr lang="en-US" sz="3400"/>
          </a:p>
        </p:txBody>
      </p:sp>
      <p:sp>
        <p:nvSpPr>
          <p:cNvPr id="5" name="Text 1"/>
          <p:cNvSpPr/>
          <p:nvPr/>
        </p:nvSpPr>
        <p:spPr>
          <a:xfrm>
            <a:off x="603504" y="32461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E7E0F4"/>
                </a:solidFill>
              </a:rPr>
              <a:t>Questions?</a:t>
            </a:r>
            <a:endParaRPr lang="en-US" sz="1600"/>
          </a:p>
        </p:txBody>
      </p:sp>
      <p:sp>
        <p:nvSpPr>
          <p:cNvPr id="6" name="Text 2"/>
          <p:cNvSpPr/>
          <p:nvPr/>
        </p:nvSpPr>
        <p:spPr>
          <a:xfrm>
            <a:off x="612648" y="5440680"/>
            <a:ext cx="4937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>
                <a:solidFill>
                  <a:srgbClr val="D6CAE8"/>
                </a:solidFill>
              </a:rPr>
              <a:t>Kiro Developer Workflow 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6C47639219C8468A0D98F9A082EF44" ma:contentTypeVersion="23" ma:contentTypeDescription="Create a new document." ma:contentTypeScope="" ma:versionID="b81bdb1088f307d1cfc8f34f0100fd19">
  <xsd:schema xmlns:xsd="http://www.w3.org/2001/XMLSchema" xmlns:xs="http://www.w3.org/2001/XMLSchema" xmlns:p="http://schemas.microsoft.com/office/2006/metadata/properties" xmlns:ns1="http://schemas.microsoft.com/sharepoint/v3" xmlns:ns2="7d448632-807b-4369-bd0d-e154416c3237" xmlns:ns3="8702e0de-234b-4481-933a-668b39ac738d" targetNamespace="http://schemas.microsoft.com/office/2006/metadata/properties" ma:root="true" ma:fieldsID="3d8cdb8c30e839d9f23d6342f992fc14" ns1:_="" ns2:_="" ns3:_="">
    <xsd:import namespace="http://schemas.microsoft.com/sharepoint/v3"/>
    <xsd:import namespace="7d448632-807b-4369-bd0d-e154416c3237"/>
    <xsd:import namespace="8702e0de-234b-4481-933a-668b39ac738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2:MediaServiceAutoKeyPoints" minOccurs="0"/>
                <xsd:element ref="ns2:MediaServiceKeyPoints" minOccurs="0"/>
                <xsd:element ref="ns2:MediaServiceSearchProperties" minOccurs="0"/>
                <xsd:element ref="ns2:MediaServiceLocation" minOccurs="0"/>
                <xsd:element ref="ns2:MediaServiceOCR" minOccurs="0"/>
                <xsd:element ref="ns2:MediaServiceObjectDetectorVersions" minOccurs="0"/>
                <xsd:element ref="ns2:Remarks" minOccurs="0"/>
                <xsd:element ref="ns1:_ip_UnifiedCompliancePolicyProperties" minOccurs="0"/>
                <xsd:element ref="ns1:_ip_UnifiedCompliancePolicyUIAc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6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7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448632-807b-4369-bd0d-e154416c323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726df4c0-9ee9-406c-8b5c-a0fe24c95ff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OCR" ma:index="2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Remarks" ma:index="25" nillable="true" ma:displayName="Remarks" ma:format="Dropdown" ma:internalName="Remarks">
      <xsd:simpleType>
        <xsd:restriction base="dms:Text">
          <xsd:maxLength value="255"/>
        </xsd:restriction>
      </xsd:simpleType>
    </xsd:element>
    <xsd:element name="MediaServiceBillingMetadata" ma:index="2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02e0de-234b-4481-933a-668b39ac738d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e8671c5e-7923-448b-9598-66361d6032a3}" ma:internalName="TaxCatchAll" ma:showField="CatchAllData" ma:web="8702e0de-234b-4481-933a-668b39ac738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lcf76f155ced4ddcb4097134ff3c332f xmlns="7d448632-807b-4369-bd0d-e154416c3237">
      <Terms xmlns="http://schemas.microsoft.com/office/infopath/2007/PartnerControls"/>
    </lcf76f155ced4ddcb4097134ff3c332f>
    <_ip_UnifiedCompliancePolicyProperties xmlns="http://schemas.microsoft.com/sharepoint/v3" xsi:nil="true"/>
    <Remarks xmlns="7d448632-807b-4369-bd0d-e154416c3237" xsi:nil="true"/>
    <TaxCatchAll xmlns="8702e0de-234b-4481-933a-668b39ac738d" xsi:nil="true"/>
  </documentManagement>
</p:properties>
</file>

<file path=customXml/itemProps1.xml><?xml version="1.0" encoding="utf-8"?>
<ds:datastoreItem xmlns:ds="http://schemas.openxmlformats.org/officeDocument/2006/customXml" ds:itemID="{A7DA65AF-59B9-4C50-AD3B-4C6DECAD0F66}"/>
</file>

<file path=customXml/itemProps2.xml><?xml version="1.0" encoding="utf-8"?>
<ds:datastoreItem xmlns:ds="http://schemas.openxmlformats.org/officeDocument/2006/customXml" ds:itemID="{FCF33B7B-879E-451F-9B31-52DB4F118B92}"/>
</file>

<file path=customXml/itemProps3.xml><?xml version="1.0" encoding="utf-8"?>
<ds:datastoreItem xmlns:ds="http://schemas.openxmlformats.org/officeDocument/2006/customXml" ds:itemID="{8408F3D4-FE0C-40C4-A73C-1F113DFE18A4}"/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5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Wipro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Kiro Developer Workflow</dc:title>
  <dc:subject>Tech Challenge - Kiro Developer Workflow</dc:subject>
  <dc:creator>Lavanya N</dc:creator>
  <cp:revision>4</cp:revision>
  <dcterms:created xsi:type="dcterms:W3CDTF">2026-07-07T08:36:07Z</dcterms:created>
  <dcterms:modified xsi:type="dcterms:W3CDTF">2026-07-07T09:24:29Z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e514134-a9b1-4a98-981b-1949b898a3a5_Enabled">
    <vt:lpwstr>true</vt:lpwstr>
  </property>
  <property fmtid="{D5CDD505-2E9C-101B-9397-08002B2CF9AE}" pid="3" name="MSIP_Label_fe514134-a9b1-4a98-981b-1949b898a3a5_SetDate">
    <vt:lpwstr>2026-07-07T08:36:07Z</vt:lpwstr>
  </property>
  <property fmtid="{D5CDD505-2E9C-101B-9397-08002B2CF9AE}" pid="4" name="MSIP_Label_fe514134-a9b1-4a98-981b-1949b898a3a5_Method">
    <vt:lpwstr>Standard</vt:lpwstr>
  </property>
  <property fmtid="{D5CDD505-2E9C-101B-9397-08002B2CF9AE}" pid="5" name="MSIP_Label_fe514134-a9b1-4a98-981b-1949b898a3a5_Name">
    <vt:lpwstr>Internal</vt:lpwstr>
  </property>
  <property fmtid="{D5CDD505-2E9C-101B-9397-08002B2CF9AE}" pid="6" name="MSIP_Label_fe514134-a9b1-4a98-981b-1949b898a3a5_SiteId">
    <vt:lpwstr>258ac4e4-146a-411e-9dc8-79a9e12fd6da</vt:lpwstr>
  </property>
  <property fmtid="{D5CDD505-2E9C-101B-9397-08002B2CF9AE}" pid="7" name="MSIP_Label_fe514134-a9b1-4a98-981b-1949b898a3a5_ActionId">
    <vt:lpwstr>36d76f05-709f-4d21-a16c-0415a46add6b</vt:lpwstr>
  </property>
  <property fmtid="{D5CDD505-2E9C-101B-9397-08002B2CF9AE}" pid="8" name="MSIP_Label_fe514134-a9b1-4a98-981b-1949b898a3a5_ContentBits">
    <vt:lpwstr>0</vt:lpwstr>
  </property>
  <property fmtid="{D5CDD505-2E9C-101B-9397-08002B2CF9AE}" pid="9" name="ContentTypeId">
    <vt:lpwstr>0x010100EF6C47639219C8468A0D98F9A082EF44</vt:lpwstr>
  </property>
</Properties>
</file>