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lomon Raj Botla" userId="0e93c371-2d4b-4289-84a3-8ecb3659da14" providerId="ADAL" clId="{980D8D6B-EFA5-4F0E-990A-EA32E65EF9C2}"/>
    <pc:docChg chg="mod modMainMaster">
      <pc:chgData name="Solomon Raj Botla" userId="0e93c371-2d4b-4289-84a3-8ecb3659da14" providerId="ADAL" clId="{980D8D6B-EFA5-4F0E-990A-EA32E65EF9C2}" dt="2026-07-07T08:06:18.847" v="1" actId="33475"/>
      <pc:docMkLst>
        <pc:docMk/>
      </pc:docMkLst>
      <pc:sldMasterChg chg="addSp mod">
        <pc:chgData name="Solomon Raj Botla" userId="0e93c371-2d4b-4289-84a3-8ecb3659da14" providerId="ADAL" clId="{980D8D6B-EFA5-4F0E-990A-EA32E65EF9C2}" dt="2026-07-07T08:06:18.844" v="0" actId="33475"/>
        <pc:sldMasterMkLst>
          <pc:docMk/>
          <pc:sldMasterMk cId="0" sldId="2147483648"/>
        </pc:sldMasterMkLst>
        <pc:spChg chg="add">
          <ac:chgData name="Solomon Raj Botla" userId="0e93c371-2d4b-4289-84a3-8ecb3659da14" providerId="ADAL" clId="{980D8D6B-EFA5-4F0E-990A-EA32E65EF9C2}" dt="2026-07-07T08:06:18.844" v="0" actId="33475"/>
          <ac:spMkLst>
            <pc:docMk/>
            <pc:sldMasterMk cId="0" sldId="2147483648"/>
            <ac:spMk id="3" creationId="{E1CAD648-41FD-FF2E-4A15-05C798472526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77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AD648-41FD-FF2E-4A15-05C79847252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Product-Specific AI Agents Don't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team builds its own AI agent from scratch — duplicating effort, creating inconsistency, and limiting reuse.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2342327"/>
            <a:ext cx="161666" cy="161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2221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Effort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87552" y="248716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team builds the same AI agents independently. 10 products = 10× the work, 10× the cost.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935224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3009839"/>
            <a:ext cx="161666" cy="1616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28895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Reusability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87552" y="31546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is tightly coupled to one product. Cannot be shared, forked, or standardized.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602736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3677351"/>
            <a:ext cx="161666" cy="1616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355701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87552" y="382219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outputs, different standards, varying maturity. No enterprise quality bar.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270248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4344863"/>
            <a:ext cx="161666" cy="1616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7552" y="42245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87552" y="448970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improvement requires N independent updates. Fixes don't propagate.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8640" y="4937760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5012375"/>
            <a:ext cx="161666" cy="1616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7552" y="4892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Onboarding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87552" y="51572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spend weeks building agents from scratch before getting any value.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5605272"/>
            <a:ext cx="310896" cy="310896"/>
          </a:xfrm>
          <a:prstGeom prst="ellipse">
            <a:avLst/>
          </a:prstGeom>
          <a:solidFill>
            <a:srgbClr val="FB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5679887"/>
            <a:ext cx="161666" cy="16166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7552" y="55595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987552" y="58247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visibility into AI usage, no quality control, no compliance enforcement.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675120" y="1847088"/>
            <a:ext cx="4965192" cy="4379976"/>
          </a:xfrm>
          <a:prstGeom prst="roundRect">
            <a:avLst>
              <a:gd name="adj" fmla="val 1670"/>
            </a:avLst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2128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43800" y="206654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Enterprise AI SDLC Platform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6949440" y="267004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AI agents where generic role intelligence is centralized and each product team only supplies configuration and context.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949440" y="321868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3275747"/>
            <a:ext cx="123627" cy="123627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315200" y="3163824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role-based agents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SDLC across every engineering and delivery role</a:t>
            </a:r>
            <a:endParaRPr lang="en-US" sz="970" dirty="0"/>
          </a:p>
        </p:txBody>
      </p:sp>
      <p:sp>
        <p:nvSpPr>
          <p:cNvPr id="38" name="Shape 28"/>
          <p:cNvSpPr/>
          <p:nvPr/>
        </p:nvSpPr>
        <p:spPr>
          <a:xfrm>
            <a:off x="6949440" y="371246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3769523"/>
            <a:ext cx="123627" cy="12362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315200" y="3657600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configuration templates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fill in product specifics in ~15 minutes</a:t>
            </a:r>
            <a:endParaRPr lang="en-US" sz="970" dirty="0"/>
          </a:p>
        </p:txBody>
      </p:sp>
      <p:sp>
        <p:nvSpPr>
          <p:cNvPr id="41" name="Shape 30"/>
          <p:cNvSpPr/>
          <p:nvPr/>
        </p:nvSpPr>
        <p:spPr>
          <a:xfrm>
            <a:off x="6949440" y="42062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4263299"/>
            <a:ext cx="123627" cy="123627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315200" y="4151376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delegation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Architect → Developer → Code Review</a:t>
            </a:r>
            <a:endParaRPr lang="en-US" sz="970" dirty="0"/>
          </a:p>
        </p:txBody>
      </p:sp>
      <p:sp>
        <p:nvSpPr>
          <p:cNvPr id="44" name="Shape 32"/>
          <p:cNvSpPr/>
          <p:nvPr/>
        </p:nvSpPr>
        <p:spPr>
          <a:xfrm>
            <a:off x="6949440" y="4700016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4757075"/>
            <a:ext cx="123627" cy="123627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315200" y="4645152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as steering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context added incrementally over time</a:t>
            </a:r>
            <a:endParaRPr lang="en-US" sz="970" dirty="0"/>
          </a:p>
        </p:txBody>
      </p:sp>
      <p:sp>
        <p:nvSpPr>
          <p:cNvPr id="47" name="Shape 34"/>
          <p:cNvSpPr/>
          <p:nvPr/>
        </p:nvSpPr>
        <p:spPr>
          <a:xfrm>
            <a:off x="6949440" y="519379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5250851"/>
            <a:ext cx="123627" cy="123627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315200" y="5138928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install script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product team onboards in minutes</a:t>
            </a:r>
            <a:endParaRPr lang="en-US" sz="970" dirty="0"/>
          </a:p>
        </p:txBody>
      </p:sp>
      <p:sp>
        <p:nvSpPr>
          <p:cNvPr id="50" name="Shape 36"/>
          <p:cNvSpPr/>
          <p:nvPr/>
        </p:nvSpPr>
        <p:spPr>
          <a:xfrm>
            <a:off x="6949440" y="568756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99" y="5744627"/>
            <a:ext cx="123627" cy="123627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7315200" y="5632704"/>
            <a:ext cx="4050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governance — </a:t>
            </a: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upgrade, and enforce standards from one place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Architecture: Three-Layer Separation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role intelligence is built once and reused everywhere; products only supply their own configuration and context.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20824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" y="217005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842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Agent Brains</a:t>
            </a: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Generic, built once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258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role-based prompts with decision frameworks, output templates, best practices, and delegation rules — reused identically across all products.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0449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0" y="3194182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0083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Product Config</a:t>
            </a: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Team fills in once (~15 min)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08760" y="32826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templates: Product Overview, Repositories, Environments, Workflows, Team Structure, External Systems.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922776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4069080"/>
            <a:ext cx="621792" cy="621792"/>
          </a:xfrm>
          <a:prstGeom prst="ellipse">
            <a:avLst/>
          </a:prstGeom>
          <a:solidFill>
            <a:srgbClr val="0F9D8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50" y="421831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0325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Domain Knowledge</a:t>
            </a: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Deep context, incremental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08760" y="430682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files: use-case flows, API specs, known issues, runbooks, architecture decisions.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5020056"/>
            <a:ext cx="6217920" cy="1188720"/>
          </a:xfrm>
          <a:prstGeom prst="roundRect">
            <a:avLst>
              <a:gd name="adj" fmla="val 4615"/>
            </a:avLst>
          </a:prstGeom>
          <a:solidFill>
            <a:srgbClr val="1F2D3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77240" y="5035411"/>
            <a:ext cx="5760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enterprise-ai-sdlc-platform/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configs/            # 6 files — team fills in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prompts-generic/    # 10 files — shared brains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*-agent.json        # agent wiring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examples/vmvnfm/        # reference implementation</a:t>
            </a:r>
            <a:endParaRPr lang="en-US" sz="9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install.ps1 / install.sh  # setup scripts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7086600" y="1847088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Role-Based Agents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7086600" y="221284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276795" y="2340864"/>
            <a:ext cx="420624" cy="42062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745" y="2441814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23176" y="281635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830" dirty="0"/>
          </a:p>
        </p:txBody>
      </p:sp>
      <p:sp>
        <p:nvSpPr>
          <p:cNvPr id="27" name="Shape 21"/>
          <p:cNvSpPr/>
          <p:nvPr/>
        </p:nvSpPr>
        <p:spPr>
          <a:xfrm>
            <a:off x="8024774" y="221284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214970" y="2340864"/>
            <a:ext cx="420624" cy="420624"/>
          </a:xfrm>
          <a:prstGeom prst="ellipse">
            <a:avLst/>
          </a:prstGeom>
          <a:solidFill>
            <a:srgbClr val="007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919" y="2441814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61350" y="281635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830" dirty="0"/>
          </a:p>
        </p:txBody>
      </p:sp>
      <p:sp>
        <p:nvSpPr>
          <p:cNvPr id="31" name="Shape 24"/>
          <p:cNvSpPr/>
          <p:nvPr/>
        </p:nvSpPr>
        <p:spPr>
          <a:xfrm>
            <a:off x="8962949" y="221284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9153144" y="2340864"/>
            <a:ext cx="420624" cy="420624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4094" y="2441814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99525" y="281635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830" dirty="0"/>
          </a:p>
        </p:txBody>
      </p:sp>
      <p:sp>
        <p:nvSpPr>
          <p:cNvPr id="35" name="Shape 27"/>
          <p:cNvSpPr/>
          <p:nvPr/>
        </p:nvSpPr>
        <p:spPr>
          <a:xfrm>
            <a:off x="9901123" y="221284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10091318" y="2340864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2268" y="2441814"/>
            <a:ext cx="218724" cy="2187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937699" y="281635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10839298" y="221284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1029493" y="2340864"/>
            <a:ext cx="420624" cy="42062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0443" y="2441814"/>
            <a:ext cx="218724" cy="21872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875874" y="281635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30" dirty="0"/>
          </a:p>
        </p:txBody>
      </p:sp>
      <p:sp>
        <p:nvSpPr>
          <p:cNvPr id="43" name="Shape 33"/>
          <p:cNvSpPr/>
          <p:nvPr/>
        </p:nvSpPr>
        <p:spPr>
          <a:xfrm>
            <a:off x="7086600" y="340156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4"/>
          <p:cNvSpPr/>
          <p:nvPr/>
        </p:nvSpPr>
        <p:spPr>
          <a:xfrm>
            <a:off x="7276795" y="3529584"/>
            <a:ext cx="420624" cy="42062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7745" y="3630534"/>
            <a:ext cx="218724" cy="21872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123176" y="400507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830" dirty="0"/>
          </a:p>
        </p:txBody>
      </p:sp>
      <p:sp>
        <p:nvSpPr>
          <p:cNvPr id="47" name="Shape 36"/>
          <p:cNvSpPr/>
          <p:nvPr/>
        </p:nvSpPr>
        <p:spPr>
          <a:xfrm>
            <a:off x="8024774" y="340156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8214970" y="3529584"/>
            <a:ext cx="420624" cy="420624"/>
          </a:xfrm>
          <a:prstGeom prst="ellipse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5919" y="3630534"/>
            <a:ext cx="218724" cy="218724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8061350" y="400507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30" dirty="0"/>
          </a:p>
        </p:txBody>
      </p:sp>
      <p:sp>
        <p:nvSpPr>
          <p:cNvPr id="51" name="Shape 39"/>
          <p:cNvSpPr/>
          <p:nvPr/>
        </p:nvSpPr>
        <p:spPr>
          <a:xfrm>
            <a:off x="8962949" y="340156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0"/>
          <p:cNvSpPr/>
          <p:nvPr/>
        </p:nvSpPr>
        <p:spPr>
          <a:xfrm>
            <a:off x="9153144" y="3529584"/>
            <a:ext cx="420624" cy="420624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4094" y="3630534"/>
            <a:ext cx="218724" cy="218724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8999525" y="400507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30" dirty="0"/>
          </a:p>
        </p:txBody>
      </p:sp>
      <p:sp>
        <p:nvSpPr>
          <p:cNvPr id="55" name="Shape 42"/>
          <p:cNvSpPr/>
          <p:nvPr/>
        </p:nvSpPr>
        <p:spPr>
          <a:xfrm>
            <a:off x="9901123" y="340156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3"/>
          <p:cNvSpPr/>
          <p:nvPr/>
        </p:nvSpPr>
        <p:spPr>
          <a:xfrm>
            <a:off x="10091318" y="3529584"/>
            <a:ext cx="420624" cy="42062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92268" y="3630534"/>
            <a:ext cx="218724" cy="218724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9937699" y="400507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830" dirty="0"/>
          </a:p>
        </p:txBody>
      </p:sp>
      <p:sp>
        <p:nvSpPr>
          <p:cNvPr id="59" name="Shape 45"/>
          <p:cNvSpPr/>
          <p:nvPr/>
        </p:nvSpPr>
        <p:spPr>
          <a:xfrm>
            <a:off x="10839298" y="3401568"/>
            <a:ext cx="801014" cy="1051560"/>
          </a:xfrm>
          <a:prstGeom prst="roundRect">
            <a:avLst>
              <a:gd name="adj" fmla="val 7991"/>
            </a:avLst>
          </a:prstGeom>
          <a:solidFill>
            <a:srgbClr val="F7FAFB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6"/>
          <p:cNvSpPr/>
          <p:nvPr/>
        </p:nvSpPr>
        <p:spPr>
          <a:xfrm>
            <a:off x="11029493" y="3529584"/>
            <a:ext cx="420624" cy="420624"/>
          </a:xfrm>
          <a:prstGeom prst="ellipse">
            <a:avLst/>
          </a:prstGeom>
          <a:solidFill>
            <a:srgbClr val="4E34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30443" y="3630534"/>
            <a:ext cx="218724" cy="218724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10875874" y="4005072"/>
            <a:ext cx="727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Writer</a:t>
            </a:r>
            <a:endParaRPr lang="en-US" sz="830" dirty="0"/>
          </a:p>
        </p:txBody>
      </p:sp>
      <p:sp>
        <p:nvSpPr>
          <p:cNvPr id="63" name="Shape 48"/>
          <p:cNvSpPr/>
          <p:nvPr/>
        </p:nvSpPr>
        <p:spPr>
          <a:xfrm>
            <a:off x="7086600" y="4681728"/>
            <a:ext cx="4553712" cy="1527048"/>
          </a:xfrm>
          <a:prstGeom prst="roundRect">
            <a:avLst>
              <a:gd name="adj" fmla="val 4790"/>
            </a:avLst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49"/>
          <p:cNvSpPr/>
          <p:nvPr/>
        </p:nvSpPr>
        <p:spPr>
          <a:xfrm>
            <a:off x="7315200" y="480974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Delegation Model</a:t>
            </a:r>
            <a:endParaRPr lang="en-US" sz="1200" dirty="0"/>
          </a:p>
        </p:txBody>
      </p:sp>
      <p:sp>
        <p:nvSpPr>
          <p:cNvPr id="65" name="Text 50"/>
          <p:cNvSpPr/>
          <p:nvPr/>
        </p:nvSpPr>
        <p:spPr>
          <a:xfrm>
            <a:off x="7315200" y="5102352"/>
            <a:ext cx="4096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orchestrates and delegates to Architect, Developer, QA, Security, and Scrum Master. Developer and Support both escalate work to Code Review for final approval.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Benefits: Effort &amp; Quality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to a shared platform cuts redundant build effort while raising and standardizing output quality.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1847088"/>
            <a:ext cx="5285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300630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185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Less Setup Time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24597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to adopt vs. weeks of custom dev. Fill 6 config files and go.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3032150"/>
            <a:ext cx="190195" cy="190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916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Maintenance Point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51560" y="3191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codebase to update vs. N independent agent projects.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675888"/>
            <a:ext cx="365760" cy="365760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3763670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648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51560" y="3922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10 agent roles once, reuse identically across all products.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407408"/>
            <a:ext cx="365760" cy="365760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4495190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3799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Propagation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051560" y="4654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one agent brain and all products benefit immediately.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5138928"/>
            <a:ext cx="365760" cy="365760"/>
          </a:xfrm>
          <a:prstGeom prst="ellipse">
            <a:avLst/>
          </a:prstGeom>
          <a:solidFill>
            <a:srgbClr val="1B8A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" y="5226710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5111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51560" y="5385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teams fill 6 config files and are fully operational.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355080" y="221284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2862" y="2300630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58000" y="218541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858000" y="245973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decision frameworks, templates, and severity levels enterprise-wide.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355080" y="294436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862" y="3032150"/>
            <a:ext cx="190195" cy="19019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291693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Best Practices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6858000" y="319125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Senior-level review checklists and security checks enforced always.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355080" y="367588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2862" y="3763670"/>
            <a:ext cx="190195" cy="19019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58000" y="364845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Auditable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6858000" y="392277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control, compliance, and security review built into every agent.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6355080" y="440740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862" y="4495190"/>
            <a:ext cx="190195" cy="19019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858000" y="437997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Compounding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6858000" y="465429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team's improvement feeds back to the shared platform.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6355080" y="5138928"/>
            <a:ext cx="365760" cy="3657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2862" y="5226710"/>
            <a:ext cx="190195" cy="19019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858000" y="511149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Coverage</a:t>
            </a:r>
            <a:endParaRPr lang="en-US" sz="1250" dirty="0"/>
          </a:p>
        </p:txBody>
      </p:sp>
      <p:sp>
        <p:nvSpPr>
          <p:cNvPr id="46" name="Text 34"/>
          <p:cNvSpPr/>
          <p:nvPr/>
        </p:nvSpPr>
        <p:spPr>
          <a:xfrm>
            <a:off x="6858000" y="538581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spanning requirements to production support.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548640" y="5998464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4F6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6"/>
          <p:cNvSpPr/>
          <p:nvPr/>
        </p:nvSpPr>
        <p:spPr>
          <a:xfrm>
            <a:off x="517779" y="61401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394" y="6214811"/>
            <a:ext cx="161666" cy="16166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929259" y="59984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3290697" y="61401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5312" y="6214811"/>
            <a:ext cx="161666" cy="16166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3702177" y="59984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Per Product</a:t>
            </a:r>
            <a:endParaRPr lang="en-US" sz="1150" dirty="0"/>
          </a:p>
        </p:txBody>
      </p:sp>
      <p:sp>
        <p:nvSpPr>
          <p:cNvPr id="54" name="Shape 40"/>
          <p:cNvSpPr/>
          <p:nvPr/>
        </p:nvSpPr>
        <p:spPr>
          <a:xfrm>
            <a:off x="6063615" y="61401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8230" y="6214811"/>
            <a:ext cx="161666" cy="16166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475095" y="59984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Everywhere</a:t>
            </a:r>
            <a:endParaRPr lang="en-US" sz="1150" dirty="0"/>
          </a:p>
        </p:txBody>
      </p:sp>
      <p:sp>
        <p:nvSpPr>
          <p:cNvPr id="57" name="Shape 42"/>
          <p:cNvSpPr/>
          <p:nvPr/>
        </p:nvSpPr>
        <p:spPr>
          <a:xfrm>
            <a:off x="8836533" y="61401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1148" y="6214811"/>
            <a:ext cx="161666" cy="161666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9248013" y="59984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Centrally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5880E3D9-B0BE-450E-8D44-572913ACBCED}"/>
</file>

<file path=customXml/itemProps2.xml><?xml version="1.0" encoding="utf-8"?>
<ds:datastoreItem xmlns:ds="http://schemas.openxmlformats.org/officeDocument/2006/customXml" ds:itemID="{80D0DA2C-D793-47CE-A267-E9D6F96ACC9A}"/>
</file>

<file path=customXml/itemProps3.xml><?xml version="1.0" encoding="utf-8"?>
<ds:datastoreItem xmlns:ds="http://schemas.openxmlformats.org/officeDocument/2006/customXml" ds:itemID="{E1E7A244-7F6C-4BD7-B342-ED48E02FC5A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Microsoft Office PowerPoint</Application>
  <PresentationFormat>Widescreen</PresentationFormat>
  <Paragraphs>85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SDLC Platform</dc:title>
  <dc:subject>PptxGenJS Presentation</dc:subject>
  <dc:creator>Enterprise AI SDLC Platform</dc:creator>
  <cp:lastModifiedBy>Solomon Raj Botla</cp:lastModifiedBy>
  <cp:revision>2</cp:revision>
  <dcterms:created xsi:type="dcterms:W3CDTF">2026-07-07T07:56:59Z</dcterms:created>
  <dcterms:modified xsi:type="dcterms:W3CDTF">2026-07-07T08:06:20Z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2026-07-07T08:06:18Z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9068307b-b241-4b62-96a5-d7d1926dcfd2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 - General Use</vt:lpwstr>
  </property>
  <property fmtid="{D5CDD505-2E9C-101B-9397-08002B2CF9AE}" pid="12" name="ContentTypeId">
    <vt:lpwstr>0x010100EF6C47639219C8468A0D98F9A082EF44</vt:lpwstr>
  </property>
</Properties>
</file>