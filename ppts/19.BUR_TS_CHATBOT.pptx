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_rels/.rels" ContentType="application/vnd.openxmlformats-package.relationships+xml"/>
  <Override PartName="/customXml/itemProps3.xml" ContentType="application/vnd.openxmlformats-officedocument.customXmlProperties+xml"/>
  <Override PartName="/customXml/_rels/item2.xml.rels" ContentType="application/vnd.openxmlformats-package.relationships+xml"/>
  <Override PartName="/customXml/_rels/item1.xml.rels" ContentType="application/vnd.openxmlformats-package.relationships+xml"/>
  <Override PartName="/customXml/_rels/item3.xml.rels" ContentType="application/vnd.openxmlformats-package.relationships+xml"/>
  <Override PartName="/customXml/item3.xml" ContentType="application/xml"/>
  <Override PartName="/customXml/itemProps2.xml" ContentType="application/vnd.openxmlformats-officedocument.customXmlProperties+xml"/>
  <Override PartName="/customXml/item1.xml" ContentType="application/xml"/>
  <Override PartName="/customXml/item2.xml" ContentType="application/xml"/>
  <Override PartName="/customXml/itemProps1.xml" ContentType="application/vnd.openxmlformats-officedocument.customXmlProperti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ppt/slideLayouts/_rels/slideLayout22.xml.rels" ContentType="application/vnd.openxmlformats-package.relationships+xml"/>
  <Override PartName="/ppt/slideLayouts/_rels/slideLayout8.xml.rels" ContentType="application/vnd.openxmlformats-package.relationships+xml"/>
  <Override PartName="/ppt/slideLayouts/_rels/slideLayout21.xml.rels" ContentType="application/vnd.openxmlformats-package.relationships+xml"/>
  <Override PartName="/ppt/slideLayouts/_rels/slideLayout7.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0.xml.rels" ContentType="application/vnd.openxmlformats-package.relationships+xml"/>
  <Override PartName="/ppt/slideLayouts/_rels/slideLayout16.xml.rels" ContentType="application/vnd.openxmlformats-package.relationships+xml"/>
  <Override PartName="/ppt/slideLayouts/_rels/slideLayout2.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4.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1.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7.xml.rels" ContentType="application/vnd.openxmlformats-package.relationship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media/image6.png" ContentType="image/png"/>
  <Override PartName="/ppt/media/image5.png" ContentType="image/png"/>
  <Override PartName="/ppt/media/image4.png" ContentType="image/png"/>
  <Override PartName="/ppt/media/image8.png" ContentType="image/png"/>
  <Override PartName="/ppt/media/image9.png" ContentType="image/png"/>
  <Override PartName="/ppt/media/image2.png" ContentType="image/png"/>
  <Override PartName="/ppt/media/image7.png" ContentType="image/png"/>
  <Override PartName="/ppt/media/image3.png" ContentType="image/png"/>
  <Override PartName="/ppt/notesSlides/notesSlide3.xml" ContentType="application/vnd.openxmlformats-officedocument.presentationml.notesSlide+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presentation.xml" ContentType="application/vnd.openxmlformats-officedocument.presentationml.presentation.main+xml"/>
  <Override PartName="/ppt/theme/theme2.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3.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docMetadata/LabelInfo.xml" ContentType="application/xml"/>
  <Override PartName="/ppt/media/image1.png" ContentType="image/png"/>
  <Override PartName="/customXml/itemProps4.xml" ContentType="application/vnd.openxmlformats-officedocument.customXmlProperties+xml"/>
  <Override PartName="/customXml/itemProps5.xml" ContentType="application/vnd.openxmlformats-officedocument.customXmlProperties+xml"/>
  <Override PartName="/ppt/_rels/presentation.xml.rels" ContentType="application/vnd.openxmlformats-package.relationships+xml"/>
  <Override PartName="/customXml/itemProps6.xml" ContentType="application/vnd.openxmlformats-officedocument.customXml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Lst>
  <p:sldSz cx="12192000" cy="6858000"/>
  <p:notesSz cx="6858000" cy="9144000"/>
</p:presentation>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slideMaster" Target="slideMasters/slideMaster2.xml"/><Relationship Id="rId7"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heme" Target="theme/theme1.xml"/><Relationship Id="rId6" Type="http://schemas.openxmlformats.org/officeDocument/2006/relationships/slide" Target="slides/slide2.xml"/><Relationship Id="rId11" Type="http://schemas.openxmlformats.org/officeDocument/2006/relationships/customXml" Target="../customXml/item6.xml"/><Relationship Id="rId5" Type="http://schemas.openxmlformats.org/officeDocument/2006/relationships/slide" Target="slides/slide1.xml"/><Relationship Id="rId10" Type="http://schemas.openxmlformats.org/officeDocument/2006/relationships/customXml" Target="../customXml/item5.xml"/><Relationship Id="rId4" Type="http://schemas.openxmlformats.org/officeDocument/2006/relationships/notesMaster" Target="notesMasters/notesMaster1.xml"/><Relationship Id="rId9" Type="http://schemas.openxmlformats.org/officeDocument/2006/relationships/customXml" Target="../customXml/item4.xml"/></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Img"/>
          </p:nvPr>
        </p:nvSpPr>
        <p:spPr>
          <a:xfrm>
            <a:off x="533520" y="764280"/>
            <a:ext cx="6704640" cy="3771360"/>
          </a:xfrm>
          <a:prstGeom prst="rect">
            <a:avLst/>
          </a:prstGeom>
        </p:spPr>
        <p:txBody>
          <a:bodyPr lIns="0" rIns="0" tIns="0" bIns="0" anchor="ctr">
            <a:noAutofit/>
          </a:bodyPr>
          <a:p>
            <a:pPr algn="ctr"/>
            <a:r>
              <a:rPr b="0" lang="en-US" sz="4400" spc="-1" strike="noStrike">
                <a:latin typeface="Arial"/>
              </a:rPr>
              <a:t>Click to move the </a:t>
            </a:r>
            <a:r>
              <a:rPr b="0" lang="en-US" sz="4400" spc="-1" strike="noStrike">
                <a:latin typeface="Arial"/>
              </a:rPr>
              <a:t>slide</a:t>
            </a:r>
            <a:endParaRPr b="0" lang="en-US" sz="4400" spc="-1" strike="noStrike">
              <a:latin typeface="Arial"/>
            </a:endParaRPr>
          </a:p>
        </p:txBody>
      </p:sp>
      <p:sp>
        <p:nvSpPr>
          <p:cNvPr id="80" name="PlaceHolder 2"/>
          <p:cNvSpPr>
            <a:spLocks noGrp="1"/>
          </p:cNvSpPr>
          <p:nvPr>
            <p:ph type="body"/>
          </p:nvPr>
        </p:nvSpPr>
        <p:spPr>
          <a:xfrm>
            <a:off x="777240" y="4777560"/>
            <a:ext cx="6217560" cy="452592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81" name="PlaceHolder 3"/>
          <p:cNvSpPr>
            <a:spLocks noGrp="1"/>
          </p:cNvSpPr>
          <p:nvPr>
            <p:ph type="hdr"/>
          </p:nvPr>
        </p:nvSpPr>
        <p:spPr>
          <a:xfrm>
            <a:off x="0" y="0"/>
            <a:ext cx="3372840" cy="50256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82" name="PlaceHolder 4"/>
          <p:cNvSpPr>
            <a:spLocks noGrp="1"/>
          </p:cNvSpPr>
          <p:nvPr>
            <p:ph type="dt"/>
          </p:nvPr>
        </p:nvSpPr>
        <p:spPr>
          <a:xfrm>
            <a:off x="4399200" y="0"/>
            <a:ext cx="3372840" cy="50256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83" name="PlaceHolder 5"/>
          <p:cNvSpPr>
            <a:spLocks noGrp="1"/>
          </p:cNvSpPr>
          <p:nvPr>
            <p:ph type="ftr"/>
          </p:nvPr>
        </p:nvSpPr>
        <p:spPr>
          <a:xfrm>
            <a:off x="0" y="9555480"/>
            <a:ext cx="3372840" cy="50256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84" name="PlaceHolder 6"/>
          <p:cNvSpPr>
            <a:spLocks noGrp="1"/>
          </p:cNvSpPr>
          <p:nvPr>
            <p:ph type="sldNum"/>
          </p:nvPr>
        </p:nvSpPr>
        <p:spPr>
          <a:xfrm>
            <a:off x="4399200" y="9555480"/>
            <a:ext cx="3372840" cy="502560"/>
          </a:xfrm>
          <a:prstGeom prst="rect">
            <a:avLst/>
          </a:prstGeom>
        </p:spPr>
        <p:txBody>
          <a:bodyPr lIns="0" rIns="0" tIns="0" bIns="0" anchor="b">
            <a:noAutofit/>
          </a:bodyPr>
          <a:p>
            <a:pPr algn="r"/>
            <a:fld id="{19972D78-5204-4938-A95B-3964675EEB7B}"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685800" y="1143000"/>
            <a:ext cx="5485680" cy="3085560"/>
          </a:xfrm>
          <a:prstGeom prst="rect">
            <a:avLst/>
          </a:prstGeom>
        </p:spPr>
      </p:sp>
      <p:sp>
        <p:nvSpPr>
          <p:cNvPr id="117" name="PlaceHolder 2"/>
          <p:cNvSpPr>
            <a:spLocks noGrp="1"/>
          </p:cNvSpPr>
          <p:nvPr>
            <p:ph type="body"/>
          </p:nvPr>
        </p:nvSpPr>
        <p:spPr>
          <a:xfrm>
            <a:off x="685800" y="4400640"/>
            <a:ext cx="5485680" cy="3599640"/>
          </a:xfrm>
          <a:prstGeom prst="rect">
            <a:avLst/>
          </a:prstGeom>
        </p:spPr>
        <p:txBody>
          <a:bodyPr lIns="0" rIns="0" tIns="0" bIns="0">
            <a:noAutofit/>
          </a:bodyPr>
          <a:p>
            <a:endParaRPr b="0" lang="en-US" sz="2000" spc="-1" strike="noStrike">
              <a:latin typeface="Arial"/>
            </a:endParaRPr>
          </a:p>
        </p:txBody>
      </p:sp>
      <p:sp>
        <p:nvSpPr>
          <p:cNvPr id="118" name="CustomShape 3"/>
          <p:cNvSpPr/>
          <p:nvPr/>
        </p:nvSpPr>
        <p:spPr>
          <a:xfrm>
            <a:off x="3884760" y="8685360"/>
            <a:ext cx="2971080" cy="4579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94CB396-3B1D-4EB3-9D0E-92447DB6C079}" type="slidenum">
              <a:rPr b="0" lang="en-US" sz="1200" spc="-1" strike="noStrike">
                <a:latin typeface="Times New Roman"/>
              </a:rPr>
              <a:t>&lt;number&gt;</a:t>
            </a:fld>
            <a:endParaRPr b="0" lang="en-US" sz="12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685800" y="1143000"/>
            <a:ext cx="5485680" cy="3085560"/>
          </a:xfrm>
          <a:prstGeom prst="rect">
            <a:avLst/>
          </a:prstGeom>
        </p:spPr>
      </p:sp>
      <p:sp>
        <p:nvSpPr>
          <p:cNvPr id="120" name="PlaceHolder 2"/>
          <p:cNvSpPr>
            <a:spLocks noGrp="1"/>
          </p:cNvSpPr>
          <p:nvPr>
            <p:ph type="body"/>
          </p:nvPr>
        </p:nvSpPr>
        <p:spPr>
          <a:xfrm>
            <a:off x="685800" y="4400640"/>
            <a:ext cx="5485680" cy="3599640"/>
          </a:xfrm>
          <a:prstGeom prst="rect">
            <a:avLst/>
          </a:prstGeom>
        </p:spPr>
        <p:txBody>
          <a:bodyPr lIns="0" rIns="0" tIns="0" bIns="0">
            <a:noAutofit/>
          </a:bodyPr>
          <a:p>
            <a:endParaRPr b="0" lang="en-US" sz="2000" spc="-1" strike="noStrike">
              <a:latin typeface="Arial"/>
            </a:endParaRPr>
          </a:p>
        </p:txBody>
      </p:sp>
      <p:sp>
        <p:nvSpPr>
          <p:cNvPr id="121" name="CustomShape 3"/>
          <p:cNvSpPr/>
          <p:nvPr/>
        </p:nvSpPr>
        <p:spPr>
          <a:xfrm>
            <a:off x="3884760" y="8685360"/>
            <a:ext cx="2971080" cy="4579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CF8576CB-1A26-400C-AB01-7FAD9282C75B}" type="slidenum">
              <a:rPr b="0" lang="en-US" sz="1200" spc="-1" strike="noStrike">
                <a:latin typeface="Times New Roman"/>
              </a:rPr>
              <a:t>&lt;number&gt;</a:t>
            </a:fld>
            <a:endParaRPr b="0" lang="en-US"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6"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8"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49"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3"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4"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55"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5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59"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1"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3"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5"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66"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70"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71"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3"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74"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75"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76"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77"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78"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hidden="1"/>
          <p:cNvSpPr/>
          <p:nvPr/>
        </p:nvSpPr>
        <p:spPr>
          <a:xfrm>
            <a:off x="63360" y="6642000"/>
            <a:ext cx="337320" cy="151920"/>
          </a:xfrm>
          <a:prstGeom prst="rect">
            <a:avLst/>
          </a:prstGeom>
          <a:noFill/>
          <a:ln>
            <a:noFill/>
          </a:ln>
        </p:spPr>
        <p:style>
          <a:lnRef idx="0"/>
          <a:fillRef idx="0"/>
          <a:effectRef idx="0"/>
          <a:fontRef idx="minor"/>
        </p:style>
        <p:txBody>
          <a:bodyPr lIns="0" rIns="0" tIns="0" bIns="0">
            <a:spAutoFit/>
          </a:bodyPr>
          <a:p>
            <a:pPr>
              <a:lnSpc>
                <a:spcPct val="100000"/>
              </a:lnSpc>
            </a:pPr>
            <a:r>
              <a:rPr b="0" lang="en-US" sz="1000" spc="-1" strike="noStrike">
                <a:solidFill>
                  <a:srgbClr val="000000"/>
                </a:solidFill>
                <a:latin typeface="Calibri"/>
                <a:ea typeface="Calibri"/>
              </a:rPr>
              <a:t>Public</a:t>
            </a:r>
            <a:endParaRPr b="0" lang="en-US" sz="1000" spc="-1" strike="noStrike">
              <a:latin typeface="Arial"/>
            </a:endParaRPr>
          </a:p>
        </p:txBody>
      </p:sp>
      <p:pic>
        <p:nvPicPr>
          <p:cNvPr id="1" name="Picture 6" descr=""/>
          <p:cNvPicPr/>
          <p:nvPr/>
        </p:nvPicPr>
        <p:blipFill>
          <a:blip r:embed="rId2"/>
          <a:stretch/>
        </p:blipFill>
        <p:spPr>
          <a:xfrm>
            <a:off x="1440" y="720"/>
            <a:ext cx="12189960" cy="6856560"/>
          </a:xfrm>
          <a:prstGeom prst="rect">
            <a:avLst/>
          </a:prstGeom>
          <a:ln>
            <a:noFill/>
          </a:ln>
        </p:spPr>
      </p:pic>
      <p:sp>
        <p:nvSpPr>
          <p:cNvPr id="2"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a:t>
            </a:r>
            <a:r>
              <a:rPr b="0" lang="en-US" sz="4400" spc="-1" strike="noStrike">
                <a:latin typeface="Arial"/>
              </a:rPr>
              <a:t>text format</a:t>
            </a:r>
            <a:endParaRPr b="0" lang="en-US" sz="4400" spc="-1" strike="noStrike">
              <a:latin typeface="Arial"/>
            </a:endParaRPr>
          </a:p>
        </p:txBody>
      </p:sp>
      <p:sp>
        <p:nvSpPr>
          <p:cNvPr id="3"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CustomShape 1"/>
          <p:cNvSpPr/>
          <p:nvPr/>
        </p:nvSpPr>
        <p:spPr>
          <a:xfrm>
            <a:off x="63360" y="6642000"/>
            <a:ext cx="337320" cy="151920"/>
          </a:xfrm>
          <a:prstGeom prst="rect">
            <a:avLst/>
          </a:prstGeom>
          <a:noFill/>
          <a:ln>
            <a:noFill/>
          </a:ln>
        </p:spPr>
        <p:style>
          <a:lnRef idx="0"/>
          <a:fillRef idx="0"/>
          <a:effectRef idx="0"/>
          <a:fontRef idx="minor"/>
        </p:style>
        <p:txBody>
          <a:bodyPr lIns="0" rIns="0" tIns="0" bIns="0">
            <a:spAutoFit/>
          </a:bodyPr>
          <a:p>
            <a:pPr>
              <a:lnSpc>
                <a:spcPct val="100000"/>
              </a:lnSpc>
            </a:pPr>
            <a:r>
              <a:rPr b="0" lang="en-US" sz="1000" spc="-1" strike="noStrike">
                <a:solidFill>
                  <a:srgbClr val="000000"/>
                </a:solidFill>
                <a:latin typeface="Calibri"/>
                <a:ea typeface="Calibri"/>
              </a:rPr>
              <a:t>Public</a:t>
            </a:r>
            <a:endParaRPr b="0" lang="en-US" sz="1000" spc="-1" strike="noStrike">
              <a:latin typeface="Arial"/>
            </a:endParaRPr>
          </a:p>
        </p:txBody>
      </p:sp>
      <p:sp>
        <p:nvSpPr>
          <p:cNvPr id="41"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a:t>
            </a:r>
            <a:r>
              <a:rPr b="0" lang="en-US" sz="4400" spc="-1" strike="noStrike">
                <a:latin typeface="Arial"/>
              </a:rPr>
              <a:t>text format</a:t>
            </a:r>
            <a:endParaRPr b="0" lang="en-US" sz="4400" spc="-1" strike="noStrike">
              <a:latin typeface="Arial"/>
            </a:endParaRPr>
          </a:p>
        </p:txBody>
      </p:sp>
      <p:sp>
        <p:nvSpPr>
          <p:cNvPr id="42"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slideLayout" Target="../slideLayouts/slideLayout13.xml"/><Relationship Id="rId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CustomShape 1"/>
          <p:cNvSpPr/>
          <p:nvPr/>
        </p:nvSpPr>
        <p:spPr>
          <a:xfrm>
            <a:off x="182880" y="2005560"/>
            <a:ext cx="11521080" cy="2383200"/>
          </a:xfrm>
          <a:prstGeom prst="rect">
            <a:avLst/>
          </a:prstGeom>
          <a:noFill/>
          <a:ln>
            <a:noFill/>
          </a:ln>
        </p:spPr>
        <p:style>
          <a:lnRef idx="0"/>
          <a:fillRef idx="0"/>
          <a:effectRef idx="0"/>
          <a:fontRef idx="minor"/>
        </p:style>
        <p:txBody>
          <a:bodyPr lIns="90000" rIns="90000" tIns="45000" bIns="45000" anchor="ctr">
            <a:normAutofit fontScale="84000"/>
          </a:bodyPr>
          <a:p>
            <a:pPr algn="ctr">
              <a:lnSpc>
                <a:spcPct val="80000"/>
              </a:lnSpc>
            </a:pPr>
            <a:r>
              <a:rPr b="1" lang="en-IN" sz="5400" spc="-1" strike="noStrike">
                <a:solidFill>
                  <a:srgbClr val="ffffff"/>
                </a:solidFill>
                <a:latin typeface="Tenorite"/>
              </a:rPr>
              <a:t>BACKUP &amp; RESTORE MONITORING AND TROUBLESHOOTING CHATBOT</a:t>
            </a:r>
            <a:endParaRPr b="0" lang="en-US" sz="5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Picture 22" descr=""/>
          <p:cNvPicPr/>
          <p:nvPr/>
        </p:nvPicPr>
        <p:blipFill>
          <a:blip r:embed="rId1"/>
          <a:stretch/>
        </p:blipFill>
        <p:spPr>
          <a:xfrm>
            <a:off x="316800" y="55800"/>
            <a:ext cx="817920" cy="748800"/>
          </a:xfrm>
          <a:prstGeom prst="rect">
            <a:avLst/>
          </a:prstGeom>
          <a:ln>
            <a:noFill/>
          </a:ln>
        </p:spPr>
      </p:pic>
      <p:sp>
        <p:nvSpPr>
          <p:cNvPr id="87" name="CustomShape 1"/>
          <p:cNvSpPr/>
          <p:nvPr/>
        </p:nvSpPr>
        <p:spPr>
          <a:xfrm>
            <a:off x="674640" y="572400"/>
            <a:ext cx="10841400" cy="748800"/>
          </a:xfrm>
          <a:prstGeom prst="rect">
            <a:avLst/>
          </a:prstGeom>
          <a:noFill/>
          <a:ln>
            <a:noFill/>
          </a:ln>
        </p:spPr>
        <p:style>
          <a:lnRef idx="0"/>
          <a:fillRef idx="0"/>
          <a:effectRef idx="0"/>
          <a:fontRef idx="minor"/>
        </p:style>
        <p:txBody>
          <a:bodyPr lIns="90000" rIns="90000" tIns="45000" bIns="45000" anchor="ctr">
            <a:normAutofit/>
          </a:bodyPr>
          <a:p>
            <a:pPr>
              <a:lnSpc>
                <a:spcPct val="100000"/>
              </a:lnSpc>
            </a:pPr>
            <a:r>
              <a:rPr b="1" lang="en-IN" sz="2000" spc="-1" strike="noStrike">
                <a:solidFill>
                  <a:srgbClr val="000000"/>
                </a:solidFill>
                <a:latin typeface="Tenorite"/>
              </a:rPr>
              <a:t>BACKUP &amp; RESTORE MONITORING  AND TROUBLESHOOTING CHATBOT</a:t>
            </a:r>
            <a:endParaRPr b="0" lang="en-US" sz="2000" spc="-1" strike="noStrike">
              <a:latin typeface="Arial"/>
            </a:endParaRPr>
          </a:p>
        </p:txBody>
      </p:sp>
      <p:sp>
        <p:nvSpPr>
          <p:cNvPr id="88" name="CustomShape 2"/>
          <p:cNvSpPr/>
          <p:nvPr/>
        </p:nvSpPr>
        <p:spPr>
          <a:xfrm>
            <a:off x="579960" y="4222080"/>
            <a:ext cx="4134240" cy="405720"/>
          </a:xfrm>
          <a:prstGeom prst="rect">
            <a:avLst/>
          </a:prstGeom>
          <a:noFill/>
          <a:ln>
            <a:noFill/>
          </a:ln>
        </p:spPr>
        <p:style>
          <a:lnRef idx="0"/>
          <a:fillRef idx="0"/>
          <a:effectRef idx="0"/>
          <a:fontRef idx="minor"/>
        </p:style>
        <p:txBody>
          <a:bodyPr lIns="90000" rIns="90000" tIns="45000" bIns="45000">
            <a:noAutofit/>
          </a:bodyPr>
          <a:p>
            <a:pPr>
              <a:lnSpc>
                <a:spcPct val="90000"/>
              </a:lnSpc>
              <a:spcBef>
                <a:spcPts val="1001"/>
              </a:spcBef>
              <a:tabLst>
                <a:tab algn="l" pos="0"/>
              </a:tabLst>
            </a:pPr>
            <a:r>
              <a:rPr b="1" lang="en-US" sz="2000" spc="-1" strike="noStrike">
                <a:solidFill>
                  <a:srgbClr val="000000"/>
                </a:solidFill>
                <a:latin typeface="Tenorite"/>
              </a:rPr>
              <a:t>Proposed Solution</a:t>
            </a:r>
            <a:endParaRPr b="0" lang="en-US" sz="2000" spc="-1" strike="noStrike">
              <a:latin typeface="Arial"/>
            </a:endParaRPr>
          </a:p>
        </p:txBody>
      </p:sp>
      <p:sp>
        <p:nvSpPr>
          <p:cNvPr id="89" name="CustomShape 3"/>
          <p:cNvSpPr/>
          <p:nvPr/>
        </p:nvSpPr>
        <p:spPr>
          <a:xfrm>
            <a:off x="556560" y="1320840"/>
            <a:ext cx="5155560" cy="353160"/>
          </a:xfrm>
          <a:prstGeom prst="rect">
            <a:avLst/>
          </a:prstGeom>
          <a:noFill/>
          <a:ln>
            <a:noFill/>
          </a:ln>
        </p:spPr>
        <p:style>
          <a:lnRef idx="0"/>
          <a:fillRef idx="0"/>
          <a:effectRef idx="0"/>
          <a:fontRef idx="minor"/>
        </p:style>
        <p:txBody>
          <a:bodyPr lIns="90000" rIns="90000" tIns="45000" bIns="45000">
            <a:noAutofit/>
          </a:bodyPr>
          <a:p>
            <a:pPr>
              <a:lnSpc>
                <a:spcPct val="90000"/>
              </a:lnSpc>
              <a:spcBef>
                <a:spcPts val="1001"/>
              </a:spcBef>
              <a:tabLst>
                <a:tab algn="l" pos="0"/>
              </a:tabLst>
            </a:pPr>
            <a:r>
              <a:rPr b="1" lang="en-IN" sz="2000" spc="-1" strike="noStrike">
                <a:solidFill>
                  <a:srgbClr val="000000"/>
                </a:solidFill>
                <a:latin typeface="Tenorite"/>
              </a:rPr>
              <a:t>Problem Statement</a:t>
            </a:r>
            <a:endParaRPr b="0" lang="en-US" sz="2000" spc="-1" strike="noStrike">
              <a:latin typeface="Arial"/>
            </a:endParaRPr>
          </a:p>
        </p:txBody>
      </p:sp>
      <p:sp>
        <p:nvSpPr>
          <p:cNvPr id="90" name="CustomShape 4"/>
          <p:cNvSpPr/>
          <p:nvPr/>
        </p:nvSpPr>
        <p:spPr>
          <a:xfrm>
            <a:off x="6479280" y="1333080"/>
            <a:ext cx="5155560" cy="353160"/>
          </a:xfrm>
          <a:prstGeom prst="rect">
            <a:avLst/>
          </a:prstGeom>
          <a:noFill/>
          <a:ln>
            <a:noFill/>
          </a:ln>
        </p:spPr>
        <p:style>
          <a:lnRef idx="0"/>
          <a:fillRef idx="0"/>
          <a:effectRef idx="0"/>
          <a:fontRef idx="minor"/>
        </p:style>
        <p:txBody>
          <a:bodyPr lIns="90000" rIns="90000" tIns="45000" bIns="45000">
            <a:noAutofit/>
          </a:bodyPr>
          <a:p>
            <a:pPr>
              <a:lnSpc>
                <a:spcPct val="90000"/>
              </a:lnSpc>
              <a:spcBef>
                <a:spcPts val="1001"/>
              </a:spcBef>
              <a:tabLst>
                <a:tab algn="l" pos="0"/>
              </a:tabLst>
            </a:pPr>
            <a:r>
              <a:rPr b="1" lang="en-IN" sz="2000" spc="-1" strike="noStrike">
                <a:solidFill>
                  <a:srgbClr val="000000"/>
                </a:solidFill>
                <a:latin typeface="Tenorite"/>
              </a:rPr>
              <a:t>Benefits</a:t>
            </a:r>
            <a:endParaRPr b="0" lang="en-US" sz="2000" spc="-1" strike="noStrike">
              <a:latin typeface="Arial"/>
            </a:endParaRPr>
          </a:p>
        </p:txBody>
      </p:sp>
      <p:sp>
        <p:nvSpPr>
          <p:cNvPr id="91" name="CustomShape 5"/>
          <p:cNvSpPr/>
          <p:nvPr/>
        </p:nvSpPr>
        <p:spPr>
          <a:xfrm>
            <a:off x="6243480" y="1676520"/>
            <a:ext cx="117000" cy="1780200"/>
          </a:xfrm>
          <a:prstGeom prst="rect">
            <a:avLst/>
          </a:prstGeom>
          <a:solidFill>
            <a:schemeClr val="bg2"/>
          </a:solidFill>
          <a:ln w="6480">
            <a:noFill/>
          </a:ln>
        </p:spPr>
        <p:style>
          <a:lnRef idx="2">
            <a:schemeClr val="accent1">
              <a:shade val="50000"/>
            </a:schemeClr>
          </a:lnRef>
          <a:fillRef idx="1">
            <a:schemeClr val="accent1"/>
          </a:fillRef>
          <a:effectRef idx="0">
            <a:schemeClr val="accent1"/>
          </a:effectRef>
          <a:fontRef idx="minor"/>
        </p:style>
      </p:sp>
      <p:sp>
        <p:nvSpPr>
          <p:cNvPr id="92" name="Line 6"/>
          <p:cNvSpPr/>
          <p:nvPr/>
        </p:nvSpPr>
        <p:spPr>
          <a:xfrm>
            <a:off x="657000" y="1694160"/>
            <a:ext cx="4312800" cy="1080"/>
          </a:xfrm>
          <a:prstGeom prst="line">
            <a:avLst/>
          </a:prstGeom>
          <a:ln w="19080">
            <a:solidFill>
              <a:srgbClr val="7030a0"/>
            </a:solidFill>
          </a:ln>
        </p:spPr>
        <p:style>
          <a:lnRef idx="1">
            <a:schemeClr val="accent1"/>
          </a:lnRef>
          <a:fillRef idx="0">
            <a:schemeClr val="accent1"/>
          </a:fillRef>
          <a:effectRef idx="0">
            <a:schemeClr val="accent1"/>
          </a:effectRef>
          <a:fontRef idx="minor"/>
        </p:style>
      </p:sp>
      <p:sp>
        <p:nvSpPr>
          <p:cNvPr id="93" name="Line 7"/>
          <p:cNvSpPr/>
          <p:nvPr/>
        </p:nvSpPr>
        <p:spPr>
          <a:xfrm>
            <a:off x="6569640" y="1717920"/>
            <a:ext cx="4312800" cy="1080"/>
          </a:xfrm>
          <a:prstGeom prst="line">
            <a:avLst/>
          </a:prstGeom>
          <a:ln w="19080">
            <a:solidFill>
              <a:srgbClr val="7030a0"/>
            </a:solidFill>
          </a:ln>
        </p:spPr>
        <p:style>
          <a:lnRef idx="1">
            <a:schemeClr val="accent1"/>
          </a:lnRef>
          <a:fillRef idx="0">
            <a:schemeClr val="accent1"/>
          </a:fillRef>
          <a:effectRef idx="0">
            <a:schemeClr val="accent1"/>
          </a:effectRef>
          <a:fontRef idx="minor"/>
        </p:style>
      </p:sp>
      <p:pic>
        <p:nvPicPr>
          <p:cNvPr id="94" name="Graphic 26" descr="Artificial Intelligence outline"/>
          <p:cNvPicPr/>
          <p:nvPr/>
        </p:nvPicPr>
        <p:blipFill>
          <a:blip r:embed="rId2"/>
          <a:stretch/>
        </p:blipFill>
        <p:spPr>
          <a:xfrm flipH="1" rot="10800000">
            <a:off x="5232960" y="4299120"/>
            <a:ext cx="279360" cy="279360"/>
          </a:xfrm>
          <a:prstGeom prst="rect">
            <a:avLst/>
          </a:prstGeom>
          <a:ln>
            <a:noFill/>
          </a:ln>
        </p:spPr>
      </p:pic>
      <p:pic>
        <p:nvPicPr>
          <p:cNvPr id="95" name="Graphic 28" descr="Blog outline"/>
          <p:cNvPicPr/>
          <p:nvPr/>
        </p:nvPicPr>
        <p:blipFill>
          <a:blip r:embed="rId3"/>
          <a:stretch/>
        </p:blipFill>
        <p:spPr>
          <a:xfrm>
            <a:off x="5151240" y="1395360"/>
            <a:ext cx="323280" cy="323280"/>
          </a:xfrm>
          <a:prstGeom prst="rect">
            <a:avLst/>
          </a:prstGeom>
          <a:ln>
            <a:noFill/>
          </a:ln>
        </p:spPr>
      </p:pic>
      <p:pic>
        <p:nvPicPr>
          <p:cNvPr id="96" name="Graphic 30" descr="Euro with solid fill"/>
          <p:cNvPicPr/>
          <p:nvPr/>
        </p:nvPicPr>
        <p:blipFill>
          <a:blip r:embed="rId4"/>
          <a:stretch/>
        </p:blipFill>
        <p:spPr>
          <a:xfrm>
            <a:off x="10882440" y="1393920"/>
            <a:ext cx="323280" cy="323280"/>
          </a:xfrm>
          <a:prstGeom prst="rect">
            <a:avLst/>
          </a:prstGeom>
          <a:ln>
            <a:noFill/>
          </a:ln>
        </p:spPr>
      </p:pic>
      <p:sp>
        <p:nvSpPr>
          <p:cNvPr id="97" name="CustomShape 8"/>
          <p:cNvSpPr/>
          <p:nvPr/>
        </p:nvSpPr>
        <p:spPr>
          <a:xfrm>
            <a:off x="15298920" y="8662680"/>
            <a:ext cx="401400" cy="226080"/>
          </a:xfrm>
          <a:prstGeom prst="rect">
            <a:avLst/>
          </a:prstGeom>
          <a:noFill/>
          <a:ln>
            <a:noFill/>
          </a:ln>
        </p:spPr>
        <p:style>
          <a:lnRef idx="0"/>
          <a:fillRef idx="0"/>
          <a:effectRef idx="0"/>
          <a:fontRef idx="minor"/>
        </p:style>
        <p:txBody>
          <a:bodyPr lIns="90000" rIns="90000" tIns="45000" bIns="45000">
            <a:noAutofit/>
          </a:bodyPr>
          <a:p>
            <a:pPr>
              <a:lnSpc>
                <a:spcPct val="100000"/>
              </a:lnSpc>
              <a:tabLst>
                <a:tab algn="l" pos="0"/>
              </a:tabLst>
            </a:pPr>
            <a:fld id="{7C8777FF-F6B3-4DFF-BDC8-D0ADBF782A24}" type="slidenum">
              <a:rPr b="0" lang="en-US" sz="700" spc="-1" strike="noStrike">
                <a:solidFill>
                  <a:srgbClr val="000000"/>
                </a:solidFill>
                <a:latin typeface="Tenorite"/>
                <a:ea typeface="DejaVu Sans"/>
              </a:rPr>
              <a:t>&lt;number&gt;</a:t>
            </a:fld>
            <a:endParaRPr b="0" lang="en-US" sz="700" spc="-1" strike="noStrike">
              <a:latin typeface="Arial"/>
            </a:endParaRPr>
          </a:p>
        </p:txBody>
      </p:sp>
      <p:sp>
        <p:nvSpPr>
          <p:cNvPr id="98" name="CustomShape 9"/>
          <p:cNvSpPr/>
          <p:nvPr/>
        </p:nvSpPr>
        <p:spPr>
          <a:xfrm>
            <a:off x="556560" y="908280"/>
            <a:ext cx="5391360" cy="3978360"/>
          </a:xfrm>
          <a:prstGeom prst="rect">
            <a:avLst/>
          </a:prstGeom>
          <a:noFill/>
          <a:ln>
            <a:noFill/>
          </a:ln>
        </p:spPr>
        <p:style>
          <a:lnRef idx="0"/>
          <a:fillRef idx="0"/>
          <a:effectRef idx="0"/>
          <a:fontRef idx="minor"/>
        </p:style>
        <p:txBody>
          <a:bodyPr lIns="90000" rIns="90000" tIns="45000" bIns="45000" anchor="ctr">
            <a:noAutofit/>
          </a:bodyPr>
          <a:p>
            <a:pPr marL="92160" indent="-91440" algn="just">
              <a:lnSpc>
                <a:spcPct val="100000"/>
              </a:lnSpc>
              <a:buClr>
                <a:srgbClr val="000000"/>
              </a:buClr>
              <a:buFont typeface="Arial"/>
              <a:buChar char="•"/>
            </a:pPr>
            <a:r>
              <a:rPr b="0" lang="en-US" sz="1500" spc="-1" strike="noStrike">
                <a:solidFill>
                  <a:srgbClr val="000000"/>
                </a:solidFill>
                <a:latin typeface="Tenorite"/>
              </a:rPr>
              <a:t>The Backup and Restore architecture is built around ADP BRO (Backup and Restore Orchestrator), which interacts with multiple BR agents within the system to perform backup and restore operations. If any one of the agents fails, the complete operation fails. </a:t>
            </a:r>
            <a:endParaRPr b="0" lang="en-US" sz="1500" spc="-1" strike="noStrike">
              <a:latin typeface="Arial"/>
            </a:endParaRPr>
          </a:p>
          <a:p>
            <a:pPr marL="92160" indent="-91440" algn="just">
              <a:lnSpc>
                <a:spcPct val="100000"/>
              </a:lnSpc>
              <a:buClr>
                <a:srgbClr val="000000"/>
              </a:buClr>
              <a:buFont typeface="Arial"/>
              <a:buChar char="•"/>
            </a:pPr>
            <a:r>
              <a:rPr b="0" lang="en-US" sz="1500" spc="-1" strike="noStrike">
                <a:solidFill>
                  <a:srgbClr val="000000"/>
                </a:solidFill>
                <a:latin typeface="Tenorite"/>
              </a:rPr>
              <a:t>In case of a backup failure, Riders initiate the analysis, and if the issue is identified to be caused by a BR agent, it is transferred to the respective team — making the entire process lengthy and time consuming.</a:t>
            </a:r>
            <a:endParaRPr b="0" lang="en-US" sz="1500" spc="-1" strike="noStrike">
              <a:latin typeface="Arial"/>
            </a:endParaRPr>
          </a:p>
        </p:txBody>
      </p:sp>
      <p:sp>
        <p:nvSpPr>
          <p:cNvPr id="99" name="CustomShape 10"/>
          <p:cNvSpPr/>
          <p:nvPr/>
        </p:nvSpPr>
        <p:spPr>
          <a:xfrm>
            <a:off x="6455520" y="948600"/>
            <a:ext cx="5037120" cy="3978360"/>
          </a:xfrm>
          <a:prstGeom prst="rect">
            <a:avLst/>
          </a:prstGeom>
          <a:noFill/>
          <a:ln>
            <a:noFill/>
          </a:ln>
        </p:spPr>
        <p:style>
          <a:lnRef idx="0"/>
          <a:fillRef idx="0"/>
          <a:effectRef idx="0"/>
          <a:fontRef idx="minor"/>
        </p:style>
        <p:txBody>
          <a:bodyPr lIns="90000" rIns="90000" tIns="45000" bIns="45000" anchor="ctr">
            <a:noAutofit/>
          </a:bodyPr>
          <a:p>
            <a:pPr>
              <a:lnSpc>
                <a:spcPct val="100000"/>
              </a:lnSpc>
              <a:tabLst>
                <a:tab algn="l" pos="0"/>
              </a:tabLst>
            </a:pPr>
            <a:r>
              <a:rPr b="0" lang="en-US" sz="1600" spc="-1" strike="noStrike">
                <a:solidFill>
                  <a:srgbClr val="000000"/>
                </a:solidFill>
                <a:latin typeface="Tenorite"/>
              </a:rPr>
              <a:t> </a:t>
            </a:r>
            <a:endParaRPr b="0" lang="en-US" sz="1600" spc="-1" strike="noStrike">
              <a:latin typeface="Arial"/>
            </a:endParaRPr>
          </a:p>
          <a:p>
            <a:pPr marL="92160" indent="-91440" algn="just">
              <a:lnSpc>
                <a:spcPct val="100000"/>
              </a:lnSpc>
              <a:buClr>
                <a:srgbClr val="000000"/>
              </a:buClr>
              <a:buFont typeface="Arial"/>
              <a:buChar char="•"/>
              <a:tabLst>
                <a:tab algn="l" pos="0"/>
              </a:tabLst>
            </a:pPr>
            <a:r>
              <a:rPr b="0" lang="en-US" sz="1500" spc="-1" strike="noStrike">
                <a:solidFill>
                  <a:srgbClr val="000000"/>
                </a:solidFill>
                <a:latin typeface="Tenorite"/>
              </a:rPr>
              <a:t>Provides clear and precise analysis on the failure of any backup and restore related activities, enabling users to quickly understand the root cause.</a:t>
            </a:r>
            <a:endParaRPr b="0" lang="en-US" sz="1500" spc="-1" strike="noStrike">
              <a:latin typeface="Arial"/>
            </a:endParaRPr>
          </a:p>
          <a:p>
            <a:pPr marL="92160" indent="-91440" algn="just">
              <a:lnSpc>
                <a:spcPct val="100000"/>
              </a:lnSpc>
              <a:buClr>
                <a:srgbClr val="000000"/>
              </a:buClr>
              <a:buFont typeface="Arial"/>
              <a:buChar char="•"/>
              <a:tabLst>
                <a:tab algn="l" pos="0"/>
              </a:tabLst>
            </a:pPr>
            <a:r>
              <a:rPr b="0" lang="en-US" sz="1500" spc="-1" strike="noStrike">
                <a:solidFill>
                  <a:srgbClr val="000000"/>
                </a:solidFill>
                <a:latin typeface="Tenorite"/>
              </a:rPr>
              <a:t>Agent Level visibility - Provides insight into the granular activities of the BR agent which helps identify the failure/performance related issues specific to the individual BR agent  easily.</a:t>
            </a:r>
            <a:endParaRPr b="0" lang="en-US" sz="1500" spc="-1" strike="noStrike">
              <a:latin typeface="Arial"/>
            </a:endParaRPr>
          </a:p>
          <a:p>
            <a:pPr marL="92160" indent="-91440" algn="just">
              <a:lnSpc>
                <a:spcPct val="100000"/>
              </a:lnSpc>
              <a:buClr>
                <a:srgbClr val="000000"/>
              </a:buClr>
              <a:buFont typeface="Arial"/>
              <a:buChar char="•"/>
              <a:tabLst>
                <a:tab algn="l" pos="0"/>
              </a:tabLst>
            </a:pPr>
            <a:r>
              <a:rPr b="0" lang="en-US" sz="1500" spc="-1" strike="noStrike">
                <a:solidFill>
                  <a:srgbClr val="000000"/>
                </a:solidFill>
                <a:latin typeface="Tenorite"/>
              </a:rPr>
              <a:t>KPI Monitoring — Track success rate, failure rate, data size, throughput and storage usage in real-time from a single place</a:t>
            </a:r>
            <a:endParaRPr b="0" lang="en-US" sz="1500" spc="-1" strike="noStrike">
              <a:latin typeface="Arial"/>
            </a:endParaRPr>
          </a:p>
          <a:p>
            <a:pPr>
              <a:lnSpc>
                <a:spcPct val="100000"/>
              </a:lnSpc>
              <a:tabLst>
                <a:tab algn="l" pos="0"/>
              </a:tabLst>
            </a:pPr>
            <a:endParaRPr b="0" lang="en-US" sz="1500" spc="-1" strike="noStrike">
              <a:latin typeface="Arial"/>
            </a:endParaRPr>
          </a:p>
        </p:txBody>
      </p:sp>
      <p:sp>
        <p:nvSpPr>
          <p:cNvPr id="100" name="CustomShape 11"/>
          <p:cNvSpPr/>
          <p:nvPr/>
        </p:nvSpPr>
        <p:spPr>
          <a:xfrm>
            <a:off x="556560" y="3416400"/>
            <a:ext cx="5361840" cy="3978360"/>
          </a:xfrm>
          <a:prstGeom prst="rect">
            <a:avLst/>
          </a:prstGeom>
          <a:noFill/>
          <a:ln>
            <a:noFill/>
          </a:ln>
        </p:spPr>
        <p:style>
          <a:lnRef idx="0"/>
          <a:fillRef idx="0"/>
          <a:effectRef idx="0"/>
          <a:fontRef idx="minor"/>
        </p:style>
        <p:txBody>
          <a:bodyPr lIns="90000" rIns="90000" tIns="45000" bIns="45000" anchor="ctr">
            <a:noAutofit/>
          </a:bodyPr>
          <a:p>
            <a:pPr algn="just">
              <a:lnSpc>
                <a:spcPct val="100000"/>
              </a:lnSpc>
              <a:tabLst>
                <a:tab algn="l" pos="0"/>
              </a:tabLst>
            </a:pPr>
            <a:r>
              <a:rPr b="0" lang="en-US" sz="1500" spc="-1" strike="noStrike">
                <a:solidFill>
                  <a:srgbClr val="000000"/>
                </a:solidFill>
                <a:latin typeface="Tenorite"/>
              </a:rPr>
              <a:t>We have developed a chatbot that provides detailed initial failure analysis to the end user. The chatbot identifies  exactly what caused the failure and gives a detailed root cause analysis. To achieve this, the chatbot makes use of BRO endpoints and Prometheus metrics to fetch real-time data and provide accurate failure analysis.</a:t>
            </a:r>
            <a:endParaRPr b="0" lang="en-US" sz="1500" spc="-1" strike="noStrike">
              <a:latin typeface="Arial"/>
            </a:endParaRPr>
          </a:p>
        </p:txBody>
      </p:sp>
      <p:sp>
        <p:nvSpPr>
          <p:cNvPr id="101" name="Line 12"/>
          <p:cNvSpPr/>
          <p:nvPr/>
        </p:nvSpPr>
        <p:spPr>
          <a:xfrm>
            <a:off x="657000" y="4578120"/>
            <a:ext cx="4312800" cy="1440"/>
          </a:xfrm>
          <a:prstGeom prst="line">
            <a:avLst/>
          </a:prstGeom>
          <a:ln w="19080">
            <a:solidFill>
              <a:srgbClr val="7030a0"/>
            </a:solidFill>
          </a:ln>
        </p:spPr>
        <p:style>
          <a:lnRef idx="1">
            <a:schemeClr val="accent1"/>
          </a:lnRef>
          <a:fillRef idx="0">
            <a:schemeClr val="accent1"/>
          </a:fillRef>
          <a:effectRef idx="0">
            <a:schemeClr val="accent1"/>
          </a:effectRef>
          <a:fontRef idx="minor"/>
        </p:style>
      </p:sp>
      <p:sp>
        <p:nvSpPr>
          <p:cNvPr id="102" name="CustomShape 13"/>
          <p:cNvSpPr/>
          <p:nvPr/>
        </p:nvSpPr>
        <p:spPr>
          <a:xfrm>
            <a:off x="6479280" y="4263120"/>
            <a:ext cx="5155560" cy="405720"/>
          </a:xfrm>
          <a:prstGeom prst="rect">
            <a:avLst/>
          </a:prstGeom>
          <a:noFill/>
          <a:ln>
            <a:noFill/>
          </a:ln>
        </p:spPr>
        <p:style>
          <a:lnRef idx="0"/>
          <a:fillRef idx="0"/>
          <a:effectRef idx="0"/>
          <a:fontRef idx="minor"/>
        </p:style>
        <p:txBody>
          <a:bodyPr lIns="90000" rIns="90000" tIns="45000" bIns="45000">
            <a:noAutofit/>
          </a:bodyPr>
          <a:p>
            <a:pPr>
              <a:lnSpc>
                <a:spcPct val="90000"/>
              </a:lnSpc>
              <a:spcBef>
                <a:spcPts val="1001"/>
              </a:spcBef>
              <a:tabLst>
                <a:tab algn="l" pos="0"/>
              </a:tabLst>
            </a:pPr>
            <a:r>
              <a:rPr b="1" lang="en-IN" sz="2000" spc="-1" strike="noStrike">
                <a:solidFill>
                  <a:srgbClr val="000000"/>
                </a:solidFill>
                <a:latin typeface="Tenorite"/>
                <a:ea typeface="DejaVu Sans"/>
              </a:rPr>
              <a:t>Future Enhancements</a:t>
            </a:r>
            <a:endParaRPr b="0" lang="en-US" sz="2000" spc="-1" strike="noStrike">
              <a:latin typeface="Arial"/>
            </a:endParaRPr>
          </a:p>
        </p:txBody>
      </p:sp>
      <p:sp>
        <p:nvSpPr>
          <p:cNvPr id="103" name="CustomShape 14"/>
          <p:cNvSpPr/>
          <p:nvPr/>
        </p:nvSpPr>
        <p:spPr>
          <a:xfrm>
            <a:off x="6211440" y="4461480"/>
            <a:ext cx="117000" cy="1780200"/>
          </a:xfrm>
          <a:prstGeom prst="rect">
            <a:avLst/>
          </a:prstGeom>
          <a:solidFill>
            <a:schemeClr val="bg2"/>
          </a:solidFill>
          <a:ln w="6480">
            <a:noFill/>
          </a:ln>
        </p:spPr>
        <p:style>
          <a:lnRef idx="2">
            <a:schemeClr val="accent1">
              <a:shade val="50000"/>
            </a:schemeClr>
          </a:lnRef>
          <a:fillRef idx="1">
            <a:schemeClr val="accent1"/>
          </a:fillRef>
          <a:effectRef idx="0">
            <a:schemeClr val="accent1"/>
          </a:effectRef>
          <a:fontRef idx="minor"/>
        </p:style>
      </p:sp>
      <p:sp>
        <p:nvSpPr>
          <p:cNvPr id="104" name="Line 15"/>
          <p:cNvSpPr/>
          <p:nvPr/>
        </p:nvSpPr>
        <p:spPr>
          <a:xfrm>
            <a:off x="6563880" y="4619520"/>
            <a:ext cx="4312800" cy="1080"/>
          </a:xfrm>
          <a:prstGeom prst="line">
            <a:avLst/>
          </a:prstGeom>
          <a:ln w="19080">
            <a:solidFill>
              <a:srgbClr val="7030a0"/>
            </a:solidFill>
          </a:ln>
        </p:spPr>
        <p:style>
          <a:lnRef idx="1">
            <a:schemeClr val="accent1"/>
          </a:lnRef>
          <a:fillRef idx="0">
            <a:schemeClr val="accent1"/>
          </a:fillRef>
          <a:effectRef idx="0">
            <a:schemeClr val="accent1"/>
          </a:effectRef>
          <a:fontRef idx="minor"/>
        </p:style>
      </p:sp>
      <p:pic>
        <p:nvPicPr>
          <p:cNvPr id="105" name="Graphic 12" descr="Euro with solid fill"/>
          <p:cNvPicPr/>
          <p:nvPr/>
        </p:nvPicPr>
        <p:blipFill>
          <a:blip r:embed="rId5"/>
          <a:stretch/>
        </p:blipFill>
        <p:spPr>
          <a:xfrm>
            <a:off x="10962000" y="4358520"/>
            <a:ext cx="323280" cy="323280"/>
          </a:xfrm>
          <a:prstGeom prst="rect">
            <a:avLst/>
          </a:prstGeom>
          <a:ln>
            <a:noFill/>
          </a:ln>
        </p:spPr>
      </p:pic>
      <p:sp>
        <p:nvSpPr>
          <p:cNvPr id="106" name="CustomShape 16"/>
          <p:cNvSpPr/>
          <p:nvPr/>
        </p:nvSpPr>
        <p:spPr>
          <a:xfrm>
            <a:off x="6455520" y="4657320"/>
            <a:ext cx="5064840" cy="191556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1500" spc="-1" strike="noStrike">
                <a:solidFill>
                  <a:srgbClr val="000000"/>
                </a:solidFill>
                <a:latin typeface="Tenorite"/>
                <a:ea typeface="DejaVu Sans"/>
              </a:rPr>
              <a:t>Currently, the chatbot provides failure analysis only from the BRO perspective. In the future, we plan to integrate the BRO Agent API library into the knowledge base. Since all agents use the same BRO Agent API library , this will enable the chatbot to analyze errors and exceptions at the agent code level and identify the exact cause of failure within the agent implementation.</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CustomShape 1"/>
          <p:cNvSpPr/>
          <p:nvPr/>
        </p:nvSpPr>
        <p:spPr>
          <a:xfrm>
            <a:off x="674640" y="572400"/>
            <a:ext cx="10841400" cy="748800"/>
          </a:xfrm>
          <a:prstGeom prst="rect">
            <a:avLst/>
          </a:prstGeom>
          <a:noFill/>
          <a:ln>
            <a:noFill/>
          </a:ln>
        </p:spPr>
        <p:style>
          <a:lnRef idx="0"/>
          <a:fillRef idx="0"/>
          <a:effectRef idx="0"/>
          <a:fontRef idx="minor"/>
        </p:style>
        <p:txBody>
          <a:bodyPr lIns="90000" rIns="90000" tIns="45000" bIns="45000" anchor="ctr">
            <a:normAutofit/>
          </a:bodyPr>
          <a:p>
            <a:pPr>
              <a:lnSpc>
                <a:spcPct val="100000"/>
              </a:lnSpc>
            </a:pPr>
            <a:r>
              <a:rPr b="1" lang="en-IN" sz="2000" spc="-1" strike="noStrike">
                <a:solidFill>
                  <a:srgbClr val="000000"/>
                </a:solidFill>
                <a:latin typeface="Tenorite"/>
              </a:rPr>
              <a:t>BACKUP &amp; RESTORE MONITORING  AND TROUBLESHOOTING CHATBOT</a:t>
            </a:r>
            <a:endParaRPr b="0" lang="en-US" sz="2000" spc="-1" strike="noStrike">
              <a:latin typeface="Arial"/>
            </a:endParaRPr>
          </a:p>
        </p:txBody>
      </p:sp>
      <p:sp>
        <p:nvSpPr>
          <p:cNvPr id="108" name="CustomShape 2"/>
          <p:cNvSpPr/>
          <p:nvPr/>
        </p:nvSpPr>
        <p:spPr>
          <a:xfrm>
            <a:off x="556560" y="1320840"/>
            <a:ext cx="10695960" cy="368640"/>
          </a:xfrm>
          <a:prstGeom prst="rect">
            <a:avLst/>
          </a:prstGeom>
          <a:noFill/>
          <a:ln>
            <a:noFill/>
          </a:ln>
        </p:spPr>
        <p:style>
          <a:lnRef idx="0"/>
          <a:fillRef idx="0"/>
          <a:effectRef idx="0"/>
          <a:fontRef idx="minor"/>
        </p:style>
        <p:txBody>
          <a:bodyPr lIns="90000" rIns="90000" tIns="45000" bIns="45000">
            <a:noAutofit/>
          </a:bodyPr>
          <a:p>
            <a:pPr>
              <a:lnSpc>
                <a:spcPct val="90000"/>
              </a:lnSpc>
              <a:spcBef>
                <a:spcPts val="1001"/>
              </a:spcBef>
              <a:tabLst>
                <a:tab algn="l" pos="0"/>
              </a:tabLst>
            </a:pPr>
            <a:r>
              <a:rPr b="1" lang="en-IN" sz="2000" spc="-1" strike="noStrike">
                <a:solidFill>
                  <a:srgbClr val="000000"/>
                </a:solidFill>
                <a:latin typeface="Tenorite"/>
              </a:rPr>
              <a:t>How to use it</a:t>
            </a:r>
            <a:endParaRPr b="0" lang="en-US" sz="2000" spc="-1" strike="noStrike">
              <a:latin typeface="Arial"/>
            </a:endParaRPr>
          </a:p>
        </p:txBody>
      </p:sp>
      <p:sp>
        <p:nvSpPr>
          <p:cNvPr id="109" name="Line 3"/>
          <p:cNvSpPr/>
          <p:nvPr/>
        </p:nvSpPr>
        <p:spPr>
          <a:xfrm>
            <a:off x="657000" y="1694160"/>
            <a:ext cx="9700920" cy="0"/>
          </a:xfrm>
          <a:prstGeom prst="line">
            <a:avLst/>
          </a:prstGeom>
          <a:ln w="19080">
            <a:solidFill>
              <a:srgbClr val="7030a0"/>
            </a:solidFill>
          </a:ln>
        </p:spPr>
        <p:style>
          <a:lnRef idx="1">
            <a:schemeClr val="accent1"/>
          </a:lnRef>
          <a:fillRef idx="0">
            <a:schemeClr val="accent1"/>
          </a:fillRef>
          <a:effectRef idx="0">
            <a:schemeClr val="accent1"/>
          </a:effectRef>
          <a:fontRef idx="minor"/>
        </p:style>
      </p:sp>
      <p:pic>
        <p:nvPicPr>
          <p:cNvPr id="110" name="Graphic 28" descr="Blog outline"/>
          <p:cNvPicPr/>
          <p:nvPr/>
        </p:nvPicPr>
        <p:blipFill>
          <a:blip r:embed="rId1"/>
          <a:stretch/>
        </p:blipFill>
        <p:spPr>
          <a:xfrm>
            <a:off x="10502640" y="1370160"/>
            <a:ext cx="323280" cy="323280"/>
          </a:xfrm>
          <a:prstGeom prst="rect">
            <a:avLst/>
          </a:prstGeom>
          <a:ln>
            <a:noFill/>
          </a:ln>
        </p:spPr>
      </p:pic>
      <p:sp>
        <p:nvSpPr>
          <p:cNvPr id="111" name="CustomShape 4"/>
          <p:cNvSpPr/>
          <p:nvPr/>
        </p:nvSpPr>
        <p:spPr>
          <a:xfrm>
            <a:off x="15298920" y="8662680"/>
            <a:ext cx="401400" cy="226080"/>
          </a:xfrm>
          <a:prstGeom prst="rect">
            <a:avLst/>
          </a:prstGeom>
          <a:noFill/>
          <a:ln>
            <a:noFill/>
          </a:ln>
        </p:spPr>
        <p:style>
          <a:lnRef idx="0"/>
          <a:fillRef idx="0"/>
          <a:effectRef idx="0"/>
          <a:fontRef idx="minor"/>
        </p:style>
        <p:txBody>
          <a:bodyPr lIns="90000" rIns="90000" tIns="45000" bIns="45000">
            <a:noAutofit/>
          </a:bodyPr>
          <a:p>
            <a:pPr>
              <a:lnSpc>
                <a:spcPct val="100000"/>
              </a:lnSpc>
              <a:tabLst>
                <a:tab algn="l" pos="0"/>
              </a:tabLst>
            </a:pPr>
            <a:fld id="{B7C84435-3EB2-417D-BD0C-58D0A7950158}" type="slidenum">
              <a:rPr b="0" lang="en-US" sz="700" spc="-1" strike="noStrike">
                <a:solidFill>
                  <a:srgbClr val="000000"/>
                </a:solidFill>
                <a:latin typeface="Tenorite"/>
                <a:ea typeface="DejaVu Sans"/>
              </a:rPr>
              <a:t>&lt;number&gt;</a:t>
            </a:fld>
            <a:endParaRPr b="0" lang="en-US" sz="700" spc="-1" strike="noStrike">
              <a:latin typeface="Arial"/>
            </a:endParaRPr>
          </a:p>
        </p:txBody>
      </p:sp>
      <p:sp>
        <p:nvSpPr>
          <p:cNvPr id="112" name="CustomShape 5"/>
          <p:cNvSpPr/>
          <p:nvPr/>
        </p:nvSpPr>
        <p:spPr>
          <a:xfrm>
            <a:off x="531720" y="1439640"/>
            <a:ext cx="10050840" cy="3978360"/>
          </a:xfrm>
          <a:prstGeom prst="rect">
            <a:avLst/>
          </a:prstGeom>
          <a:noFill/>
          <a:ln>
            <a:noFill/>
          </a:ln>
        </p:spPr>
        <p:style>
          <a:lnRef idx="0"/>
          <a:fillRef idx="0"/>
          <a:effectRef idx="0"/>
          <a:fontRef idx="minor"/>
        </p:style>
        <p:txBody>
          <a:bodyPr lIns="90000" rIns="90000" tIns="45000" bIns="45000" anchor="ctr">
            <a:noAutofit/>
          </a:bodyPr>
          <a:p>
            <a:pPr marL="216000" indent="92160">
              <a:lnSpc>
                <a:spcPct val="100000"/>
              </a:lnSpc>
              <a:buClr>
                <a:srgbClr val="000000"/>
              </a:buClr>
              <a:buFont typeface="Arial"/>
              <a:buChar char="•"/>
            </a:pPr>
            <a:r>
              <a:rPr b="0" lang="en-US" sz="1600" spc="-1" strike="noStrike">
                <a:solidFill>
                  <a:srgbClr val="000000"/>
                </a:solidFill>
                <a:latin typeface="Tenorite"/>
              </a:rPr>
              <a:t>Open the chatbot and provide the environment URL, client ID, and client secret.</a:t>
            </a:r>
            <a:endParaRPr b="0" lang="en-US" sz="1600" spc="-1" strike="noStrike">
              <a:latin typeface="Arial"/>
            </a:endParaRPr>
          </a:p>
          <a:p>
            <a:pPr marL="216000" indent="92160">
              <a:lnSpc>
                <a:spcPct val="100000"/>
              </a:lnSpc>
              <a:buClr>
                <a:srgbClr val="000000"/>
              </a:buClr>
              <a:buFont typeface="Arial"/>
              <a:buChar char="•"/>
            </a:pPr>
            <a:r>
              <a:rPr b="0" lang="en-US" sz="1600" spc="-1" strike="noStrike">
                <a:solidFill>
                  <a:srgbClr val="000000"/>
                </a:solidFill>
                <a:latin typeface="Tenorite"/>
              </a:rPr>
              <a:t>Chatbot automatically fetches all available backup scopes and then based on user selection bot will list all BRO tasks.</a:t>
            </a:r>
            <a:endParaRPr b="0" lang="en-US" sz="1600" spc="-1" strike="noStrike">
              <a:latin typeface="Arial"/>
            </a:endParaRPr>
          </a:p>
          <a:p>
            <a:pPr marL="216000" indent="92160">
              <a:lnSpc>
                <a:spcPct val="100000"/>
              </a:lnSpc>
              <a:buClr>
                <a:srgbClr val="000000"/>
              </a:buClr>
              <a:buFont typeface="Arial"/>
              <a:buChar char="•"/>
            </a:pPr>
            <a:r>
              <a:rPr b="0" lang="en-US" sz="1600" spc="-1" strike="noStrike">
                <a:solidFill>
                  <a:srgbClr val="000000"/>
                </a:solidFill>
                <a:latin typeface="Tenorite"/>
              </a:rPr>
              <a:t>Select any task ID to get detailed analysis — for failed tasks, root cause and fix suggestions are provided automatically.</a:t>
            </a:r>
            <a:endParaRPr b="0" lang="en-US" sz="1600" spc="-1" strike="noStrike">
              <a:latin typeface="Arial"/>
            </a:endParaRPr>
          </a:p>
          <a:p>
            <a:pPr marL="216000" indent="92160">
              <a:lnSpc>
                <a:spcPct val="100000"/>
              </a:lnSpc>
              <a:buClr>
                <a:srgbClr val="000000"/>
              </a:buClr>
              <a:buFont typeface="Arial"/>
              <a:buChar char="•"/>
            </a:pPr>
            <a:r>
              <a:rPr b="0" lang="en-US" sz="1600" spc="-1" strike="noStrike">
                <a:solidFill>
                  <a:srgbClr val="000000"/>
                </a:solidFill>
                <a:latin typeface="Tenorite"/>
              </a:rPr>
              <a:t>Type commands like "backup size", "pvc health", "throughput", "success rate", or "scheduler status" to get specific insights.</a:t>
            </a:r>
            <a:endParaRPr b="0" lang="en-US" sz="1600" spc="-1" strike="noStrike">
              <a:latin typeface="Arial"/>
            </a:endParaRPr>
          </a:p>
          <a:p>
            <a:pPr marL="216000" indent="92160">
              <a:lnSpc>
                <a:spcPct val="100000"/>
              </a:lnSpc>
              <a:buClr>
                <a:srgbClr val="000000"/>
              </a:buClr>
              <a:buFont typeface="Arial"/>
              <a:buChar char="•"/>
            </a:pPr>
            <a:r>
              <a:rPr b="0" lang="en-US" sz="1600" spc="-1" strike="noStrike">
                <a:solidFill>
                  <a:srgbClr val="000000"/>
                </a:solidFill>
                <a:latin typeface="Tenorite"/>
              </a:rPr>
              <a:t>Type "switch scope" anytime to change the backup manager scope.</a:t>
            </a:r>
            <a:endParaRPr b="0" lang="en-US" sz="1600" spc="-1" strike="noStrike">
              <a:latin typeface="Arial"/>
            </a:endParaRPr>
          </a:p>
          <a:p>
            <a:pPr>
              <a:lnSpc>
                <a:spcPct val="100000"/>
              </a:lnSpc>
            </a:pPr>
            <a:endParaRPr b="0" lang="en-US" sz="1600" spc="-1" strike="noStrike">
              <a:latin typeface="Arial"/>
            </a:endParaRPr>
          </a:p>
        </p:txBody>
      </p:sp>
      <p:pic>
        <p:nvPicPr>
          <p:cNvPr id="113" name="Picture 24" descr=""/>
          <p:cNvPicPr/>
          <p:nvPr/>
        </p:nvPicPr>
        <p:blipFill>
          <a:blip r:embed="rId2"/>
          <a:stretch/>
        </p:blipFill>
        <p:spPr>
          <a:xfrm>
            <a:off x="96120" y="73800"/>
            <a:ext cx="817920" cy="748800"/>
          </a:xfrm>
          <a:prstGeom prst="rect">
            <a:avLst/>
          </a:prstGeom>
          <a:ln>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CustomShape 1"/>
          <p:cNvSpPr/>
          <p:nvPr/>
        </p:nvSpPr>
        <p:spPr>
          <a:xfrm>
            <a:off x="3782520" y="2468880"/>
            <a:ext cx="4626000" cy="1926000"/>
          </a:xfrm>
          <a:prstGeom prst="rect">
            <a:avLst/>
          </a:prstGeom>
          <a:noFill/>
          <a:ln>
            <a:noFill/>
          </a:ln>
        </p:spPr>
        <p:style>
          <a:lnRef idx="0"/>
          <a:fillRef idx="0"/>
          <a:effectRef idx="0"/>
          <a:fontRef idx="minor"/>
        </p:style>
        <p:txBody>
          <a:bodyPr lIns="90000" rIns="90000" tIns="45000" bIns="45000" anchor="ctr">
            <a:noAutofit/>
          </a:bodyPr>
          <a:p>
            <a:pPr>
              <a:lnSpc>
                <a:spcPct val="80000"/>
              </a:lnSpc>
            </a:pPr>
            <a:r>
              <a:rPr b="1" lang="en-US" sz="7200" spc="-1" strike="noStrike">
                <a:solidFill>
                  <a:srgbClr val="ffffff"/>
                </a:solidFill>
                <a:latin typeface="Tenorite"/>
              </a:rPr>
              <a:t>Thank you.</a:t>
            </a:r>
            <a:endParaRPr b="0" lang="en-US" sz="7200" spc="-1" strike="noStrike">
              <a:latin typeface="Arial"/>
            </a:endParaRPr>
          </a:p>
        </p:txBody>
      </p:sp>
      <p:pic>
        <p:nvPicPr>
          <p:cNvPr id="115" name="Picture 3" descr=""/>
          <p:cNvPicPr/>
          <p:nvPr/>
        </p:nvPicPr>
        <p:blipFill>
          <a:blip r:embed="rId1"/>
          <a:stretch/>
        </p:blipFill>
        <p:spPr>
          <a:xfrm>
            <a:off x="282600" y="354240"/>
            <a:ext cx="817920" cy="74880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026cb96-d076-4b8f-8bba-600fde14332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695A17936A1814F8480C50D6F4D8AF2" ma:contentTypeVersion="15" ma:contentTypeDescription="Create a new document." ma:contentTypeScope="" ma:versionID="33e503ad59dc1635b3a0092a11183290">
  <xsd:schema xmlns:xsd="http://www.w3.org/2001/XMLSchema" xmlns:xs="http://www.w3.org/2001/XMLSchema" xmlns:p="http://schemas.microsoft.com/office/2006/metadata/properties" xmlns:ns3="e03af730-ba2f-4e7e-8122-23e20c324a97" xmlns:ns4="9026cb96-d076-4b8f-8bba-600fde14332d" targetNamespace="http://schemas.microsoft.com/office/2006/metadata/properties" ma:root="true" ma:fieldsID="7159cf50d4b1f3b54638601431793ed5" ns3:_="" ns4:_="">
    <xsd:import namespace="e03af730-ba2f-4e7e-8122-23e20c324a97"/>
    <xsd:import namespace="9026cb96-d076-4b8f-8bba-600fde14332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LengthInSeconds" minOccurs="0"/>
                <xsd:element ref="ns4:_activity" minOccurs="0"/>
                <xsd:element ref="ns4:MediaServiceObjectDetectorVersions" minOccurs="0"/>
                <xsd:element ref="ns4:MediaServiceSearchPropertie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3af730-ba2f-4e7e-8122-23e20c324a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26cb96-d076-4b8f-8bba-600fde14332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ct:contentTypeSchema xmlns:ct="http://schemas.microsoft.com/office/2006/metadata/contentType" xmlns:ma="http://schemas.microsoft.com/office/2006/metadata/properties/metaAttributes" ct:_="" ma:_="" ma:contentTypeName="Document" ma:contentTypeID="0x010100EF6C47639219C8468A0D98F9A082EF44" ma:contentTypeVersion="23" ma:contentTypeDescription="Create a new document." ma:contentTypeScope="" ma:versionID="b81bdb1088f307d1cfc8f34f0100fd19">
  <xsd:schema xmlns:xsd="http://www.w3.org/2001/XMLSchema" xmlns:xs="http://www.w3.org/2001/XMLSchema" xmlns:p="http://schemas.microsoft.com/office/2006/metadata/properties" xmlns:ns1="http://schemas.microsoft.com/sharepoint/v3" xmlns:ns2="7d448632-807b-4369-bd0d-e154416c3237" xmlns:ns3="8702e0de-234b-4481-933a-668b39ac738d" targetNamespace="http://schemas.microsoft.com/office/2006/metadata/properties" ma:root="true" ma:fieldsID="3d8cdb8c30e839d9f23d6342f992fc14" ns1:_="" ns2:_="" ns3:_="">
    <xsd:import namespace="http://schemas.microsoft.com/sharepoint/v3"/>
    <xsd:import namespace="7d448632-807b-4369-bd0d-e154416c3237"/>
    <xsd:import namespace="8702e0de-234b-4481-933a-668b39ac738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3:TaxCatchAll" minOccurs="0"/>
                <xsd:element ref="ns2:MediaServiceGenerationTime" minOccurs="0"/>
                <xsd:element ref="ns2:MediaServiceEventHashCode" minOccurs="0"/>
                <xsd:element ref="ns2:lcf76f155ced4ddcb4097134ff3c332f" minOccurs="0"/>
                <xsd:element ref="ns2:MediaServiceAutoKeyPoints" minOccurs="0"/>
                <xsd:element ref="ns2:MediaServiceKeyPoints" minOccurs="0"/>
                <xsd:element ref="ns2:MediaServiceSearchProperties" minOccurs="0"/>
                <xsd:element ref="ns2:MediaServiceLocation" minOccurs="0"/>
                <xsd:element ref="ns2:MediaServiceOCR" minOccurs="0"/>
                <xsd:element ref="ns2:MediaServiceObjectDetectorVersions" minOccurs="0"/>
                <xsd:element ref="ns2:Remarks"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448632-807b-4369-bd0d-e154416c32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6df4c0-9ee9-406c-8b5c-a0fe24c95ff8" ma:termSetId="09814cd3-568e-fe90-9814-8d621ff8fb84" ma:anchorId="fba54fb3-c3e1-fe81-a776-ca4b69148c4d" ma:open="true" ma:isKeyword="false">
      <xsd:complexType>
        <xsd:sequence>
          <xsd:element ref="pc:Terms" minOccurs="0" maxOccurs="1"/>
        </xsd:sequence>
      </xsd:complex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marks" ma:index="25" nillable="true" ma:displayName="Remarks" ma:format="Dropdown" ma:internalName="Remarks">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02e0de-234b-4481-933a-668b39ac738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e8671c5e-7923-448b-9598-66361d6032a3}" ma:internalName="TaxCatchAll" ma:showField="CatchAllData" ma:web="8702e0de-234b-4481-933a-668b39ac73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7d448632-807b-4369-bd0d-e154416c3237">
      <Terms xmlns="http://schemas.microsoft.com/office/infopath/2007/PartnerControls"/>
    </lcf76f155ced4ddcb4097134ff3c332f>
    <_ip_UnifiedCompliancePolicyProperties xmlns="http://schemas.microsoft.com/sharepoint/v3" xsi:nil="true"/>
    <Remarks xmlns="7d448632-807b-4369-bd0d-e154416c3237" xsi:nil="true"/>
    <TaxCatchAll xmlns="8702e0de-234b-4481-933a-668b39ac738d" xsi:nil="true"/>
  </documentManagement>
</p:properties>
</file>

<file path=customXml/itemProps1.xml><?xml version="1.0" encoding="utf-8"?>
<ds:datastoreItem xmlns:ds="http://schemas.openxmlformats.org/officeDocument/2006/customXml" ds:itemID="{B616C3F9-B714-492D-80FA-0CB923406A12}">
  <ds:schemaRefs>
    <ds:schemaRef ds:uri="http://schemas.microsoft.com/sharepoint/v3/contenttype/forms"/>
  </ds:schemaRefs>
</ds:datastoreItem>
</file>

<file path=customXml/itemProps2.xml><?xml version="1.0" encoding="utf-8"?>
<ds:datastoreItem xmlns:ds="http://schemas.openxmlformats.org/officeDocument/2006/customXml" ds:itemID="{D63160D7-5DAD-4BEE-AB2A-5CFF7C3110D8}">
  <ds:schemaRefs>
    <ds:schemaRef ds:uri="http://schemas.microsoft.com/office/infopath/2007/PartnerControls"/>
    <ds:schemaRef ds:uri="http://purl.org/dc/elements/1.1/"/>
    <ds:schemaRef ds:uri="http://schemas.microsoft.com/office/2006/metadata/properties"/>
    <ds:schemaRef ds:uri="9026cb96-d076-4b8f-8bba-600fde14332d"/>
    <ds:schemaRef ds:uri="http://schemas.microsoft.com/office/2006/documentManagement/types"/>
    <ds:schemaRef ds:uri="http://purl.org/dc/terms/"/>
    <ds:schemaRef ds:uri="http://schemas.openxmlformats.org/package/2006/metadata/core-properties"/>
    <ds:schemaRef ds:uri="e03af730-ba2f-4e7e-8122-23e20c324a97"/>
    <ds:schemaRef ds:uri="http://purl.org/dc/dcmitype/"/>
    <ds:schemaRef ds:uri="http://www.w3.org/XML/1998/namespace"/>
  </ds:schemaRefs>
</ds:datastoreItem>
</file>

<file path=customXml/itemProps3.xml><?xml version="1.0" encoding="utf-8"?>
<ds:datastoreItem xmlns:ds="http://schemas.openxmlformats.org/officeDocument/2006/customXml" ds:itemID="{83EC6047-9440-4C8E-B7EE-4532FB81A122}">
  <ds:schemaRefs>
    <ds:schemaRef ds:uri="9026cb96-d076-4b8f-8bba-600fde14332d"/>
    <ds:schemaRef ds:uri="e03af730-ba2f-4e7e-8122-23e20c324a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893624BF-63B0-4812-B4BF-F75EE1CA8F1D}"/>
</file>

<file path=customXml/itemProps5.xml><?xml version="1.0" encoding="utf-8"?>
<ds:datastoreItem xmlns:ds="http://schemas.openxmlformats.org/officeDocument/2006/customXml" ds:itemID="{073784D7-6424-49C4-8738-5BED1D8F7697}"/>
</file>

<file path=customXml/itemProps6.xml><?xml version="1.0" encoding="utf-8"?>
<ds:datastoreItem xmlns:ds="http://schemas.openxmlformats.org/officeDocument/2006/customXml" ds:itemID="{29C4F429-5CBA-4556-B647-F45A0A22D200}"/>
</file>

<file path=docMetadata/LabelInfo.xml><?xml version="1.0" encoding="utf-8"?>
<clbl:labelList xmlns:clbl="http://schemas.microsoft.com/office/2020/mipLabelMetadata">
  <clbl:label id="{92e84ceb-fbfd-47ab-be52-080c6b87953f}" enabled="0" method="" siteId="{92e84ceb-fbfd-47ab-be52-080c6b87953f}" removed="1"/>
</clbl:labelList>
</file>

<file path=docProps/app.xml><?xml version="1.0" encoding="utf-8"?>
<Properties xmlns="http://schemas.openxmlformats.org/officeDocument/2006/extended-properties" xmlns:vt="http://schemas.openxmlformats.org/officeDocument/2006/docPropsVTypes">
  <Template/>
  <TotalTime>46650</TotalTime>
  <Application>LibreOffice/6.4.7.2$Linux_X86_64 LibreOffice_project/40$Build-2</Application>
  <Words>441</Words>
  <Paragraphs>31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SRIJAN</dc:creator>
  <dc:description/>
  <cp:lastModifiedBy/>
  <cp:revision>24</cp:revision>
  <dcterms:created xsi:type="dcterms:W3CDTF">2025-07-13T09:01:26Z</dcterms:created>
  <dcterms:modified xsi:type="dcterms:W3CDTF">2026-07-07T14:57:57Z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lassificationContentMarkingFooterLocations">
    <vt:lpwstr>Office Theme:8</vt:lpwstr>
  </property>
  <property fmtid="{D5CDD505-2E9C-101B-9397-08002B2CF9AE}" pid="4" name="ClassificationContentMarkingFooterText">
    <vt:lpwstr>Public</vt:lpwstr>
  </property>
  <property fmtid="{D5CDD505-2E9C-101B-9397-08002B2CF9AE}" pid="5" name="ContentTypeId">
    <vt:lpwstr>0x010100EF6C47639219C8468A0D98F9A082EF44</vt:lpwstr>
  </property>
  <property fmtid="{D5CDD505-2E9C-101B-9397-08002B2CF9AE}" pid="6" name="HiddenSlides">
    <vt:i4>0</vt:i4>
  </property>
  <property fmtid="{D5CDD505-2E9C-101B-9397-08002B2CF9AE}" pid="7" name="HyperlinksChanged">
    <vt:bool>false</vt:bool>
  </property>
  <property fmtid="{D5CDD505-2E9C-101B-9397-08002B2CF9AE}" pid="8" name="LinksUpToDate">
    <vt:bool>false</vt:bool>
  </property>
  <property fmtid="{D5CDD505-2E9C-101B-9397-08002B2CF9AE}" pid="9" name="MMClips">
    <vt:i4>0</vt:i4>
  </property>
  <property fmtid="{D5CDD505-2E9C-101B-9397-08002B2CF9AE}" pid="10" name="MSIP_Label_ce7ded32-6a8c-48b8-8009-ebf9a4e0e083_ActionId">
    <vt:lpwstr>f15241e6-4f12-4edf-b1ba-1e6c641504ae</vt:lpwstr>
  </property>
  <property fmtid="{D5CDD505-2E9C-101B-9397-08002B2CF9AE}" pid="11" name="MSIP_Label_ce7ded32-6a8c-48b8-8009-ebf9a4e0e083_ContentBits">
    <vt:lpwstr>2</vt:lpwstr>
  </property>
  <property fmtid="{D5CDD505-2E9C-101B-9397-08002B2CF9AE}" pid="12" name="MSIP_Label_ce7ded32-6a8c-48b8-8009-ebf9a4e0e083_Enabled">
    <vt:lpwstr>true</vt:lpwstr>
  </property>
  <property fmtid="{D5CDD505-2E9C-101B-9397-08002B2CF9AE}" pid="13" name="MSIP_Label_ce7ded32-6a8c-48b8-8009-ebf9a4e0e083_Method">
    <vt:lpwstr>Privileged</vt:lpwstr>
  </property>
  <property fmtid="{D5CDD505-2E9C-101B-9397-08002B2CF9AE}" pid="14" name="MSIP_Label_ce7ded32-6a8c-48b8-8009-ebf9a4e0e083_Name">
    <vt:lpwstr>Public - Public</vt:lpwstr>
  </property>
  <property fmtid="{D5CDD505-2E9C-101B-9397-08002B2CF9AE}" pid="15" name="MSIP_Label_ce7ded32-6a8c-48b8-8009-ebf9a4e0e083_SetDate">
    <vt:lpwstr>2025-08-20T11:39:55Z</vt:lpwstr>
  </property>
  <property fmtid="{D5CDD505-2E9C-101B-9397-08002B2CF9AE}" pid="16" name="MSIP_Label_ce7ded32-6a8c-48b8-8009-ebf9a4e0e083_SiteId">
    <vt:lpwstr>258ac4e4-146a-411e-9dc8-79a9e12fd6da</vt:lpwstr>
  </property>
  <property fmtid="{D5CDD505-2E9C-101B-9397-08002B2CF9AE}" pid="17" name="MSIP_Label_ce7ded32-6a8c-48b8-8009-ebf9a4e0e083_Tag">
    <vt:lpwstr>10, 0, 1, 1</vt:lpwstr>
  </property>
  <property fmtid="{D5CDD505-2E9C-101B-9397-08002B2CF9AE}" pid="18" name="Notes">
    <vt:i4>4</vt:i4>
  </property>
  <property fmtid="{D5CDD505-2E9C-101B-9397-08002B2CF9AE}" pid="19" name="PresentationFormat">
    <vt:lpwstr>Widescreen</vt:lpwstr>
  </property>
  <property fmtid="{D5CDD505-2E9C-101B-9397-08002B2CF9AE}" pid="20" name="ScaleCrop">
    <vt:bool>false</vt:bool>
  </property>
  <property fmtid="{D5CDD505-2E9C-101B-9397-08002B2CF9AE}" pid="21" name="ShareDoc">
    <vt:bool>false</vt:bool>
  </property>
  <property fmtid="{D5CDD505-2E9C-101B-9397-08002B2CF9AE}" pid="22" name="Slides">
    <vt:i4>6</vt:i4>
  </property>
</Properties>
</file>