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1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9"/>
  </p:notesMasterIdLst>
  <p:sldIdLst>
    <p:sldId id="2147478123" r:id="rId3"/>
    <p:sldId id="2147478048" r:id="rId4"/>
    <p:sldId id="2147478050" r:id="rId5"/>
    <p:sldId id="260" r:id="rId6"/>
    <p:sldId id="261" r:id="rId7"/>
    <p:sldId id="2147477947" r:id="rId8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A78F2C-482E-933A-BCFA-8A42B3B4B056}" v="913" dt="2026-07-07T08:02:22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17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customXml" Target="../customXml/item1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268263-AF87-43B0-9344-649A3718FC29}" type="datetimeFigureOut"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FD024-090D-47C6-A5E7-E5BAA1A4A3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61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35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E15D75-00C3-AD73-B27C-5C2AD7646F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999" y="-27000"/>
            <a:ext cx="12287998" cy="6912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5806FB-6111-AAD1-D85C-A763CAEA9D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1550" y="2971801"/>
            <a:ext cx="4626610" cy="1926862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z="7200" b="1">
                <a:solidFill>
                  <a:schemeClr val="bg1"/>
                </a:solidFill>
                <a:latin typeface="Tenorite" pitchFamily="2" charset="0"/>
              </a:defRPr>
            </a:lvl1pPr>
          </a:lstStyle>
          <a:p>
            <a:r>
              <a:rPr lang="en-US"/>
              <a:t>Click to add title</a:t>
            </a:r>
            <a:endParaRPr lang="en-AR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81257EB-8AE4-DD0B-36FA-D1683FC0BB0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71550" y="5573972"/>
            <a:ext cx="6603124" cy="3632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date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9BFE672-4E62-A737-4DF1-D4E48C0BBD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1550" y="5200954"/>
            <a:ext cx="6603124" cy="3679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Tenorit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9E69FC0-BE07-48A8-5E34-55D904073704}"/>
              </a:ext>
            </a:extLst>
          </p:cNvPr>
          <p:cNvGrpSpPr/>
          <p:nvPr userDrawn="1"/>
        </p:nvGrpSpPr>
        <p:grpSpPr>
          <a:xfrm>
            <a:off x="988026" y="1052565"/>
            <a:ext cx="1008000" cy="403159"/>
            <a:chOff x="988026" y="1052565"/>
            <a:chExt cx="1008000" cy="40315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E11CE03F-A641-5FC5-E255-2214CE83048E}"/>
                </a:ext>
              </a:extLst>
            </p:cNvPr>
            <p:cNvSpPr/>
            <p:nvPr/>
          </p:nvSpPr>
          <p:spPr>
            <a:xfrm>
              <a:off x="1757170" y="1052565"/>
              <a:ext cx="39164" cy="39112"/>
            </a:xfrm>
            <a:custGeom>
              <a:avLst/>
              <a:gdLst>
                <a:gd name="csX0" fmla="*/ 55512 w 111032"/>
                <a:gd name="csY0" fmla="*/ 110887 h 110887"/>
                <a:gd name="csX1" fmla="*/ 111033 w 111032"/>
                <a:gd name="csY1" fmla="*/ 55443 h 110887"/>
                <a:gd name="csX2" fmla="*/ 55512 w 111032"/>
                <a:gd name="csY2" fmla="*/ 0 h 110887"/>
                <a:gd name="csX3" fmla="*/ 0 w 111032"/>
                <a:gd name="csY3" fmla="*/ 55443 h 110887"/>
                <a:gd name="csX4" fmla="*/ 55512 w 111032"/>
                <a:gd name="csY4" fmla="*/ 110887 h 1108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1032" h="110887">
                  <a:moveTo>
                    <a:pt x="55512" y="110887"/>
                  </a:moveTo>
                  <a:cubicBezTo>
                    <a:pt x="86182" y="110887"/>
                    <a:pt x="111033" y="86064"/>
                    <a:pt x="111033" y="55443"/>
                  </a:cubicBezTo>
                  <a:cubicBezTo>
                    <a:pt x="111033" y="24823"/>
                    <a:pt x="86182" y="0"/>
                    <a:pt x="55512" y="0"/>
                  </a:cubicBezTo>
                  <a:cubicBezTo>
                    <a:pt x="24851" y="0"/>
                    <a:pt x="0" y="24823"/>
                    <a:pt x="0" y="55443"/>
                  </a:cubicBezTo>
                  <a:cubicBezTo>
                    <a:pt x="0" y="86064"/>
                    <a:pt x="24851" y="110887"/>
                    <a:pt x="55512" y="11088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02F6435-53E9-0419-8A9C-CD014CB0AA16}"/>
                </a:ext>
              </a:extLst>
            </p:cNvPr>
            <p:cNvSpPr/>
            <p:nvPr/>
          </p:nvSpPr>
          <p:spPr>
            <a:xfrm>
              <a:off x="1895310" y="1120097"/>
              <a:ext cx="65285" cy="65196"/>
            </a:xfrm>
            <a:custGeom>
              <a:avLst/>
              <a:gdLst>
                <a:gd name="csX0" fmla="*/ 92545 w 185089"/>
                <a:gd name="csY0" fmla="*/ 184837 h 184837"/>
                <a:gd name="csX1" fmla="*/ 185090 w 185089"/>
                <a:gd name="csY1" fmla="*/ 92419 h 184837"/>
                <a:gd name="csX2" fmla="*/ 92545 w 185089"/>
                <a:gd name="csY2" fmla="*/ 0 h 184837"/>
                <a:gd name="csX3" fmla="*/ 0 w 185089"/>
                <a:gd name="csY3" fmla="*/ 92419 h 184837"/>
                <a:gd name="csX4" fmla="*/ 92545 w 185089"/>
                <a:gd name="csY4" fmla="*/ 184837 h 1848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5089" h="184837">
                  <a:moveTo>
                    <a:pt x="92545" y="184837"/>
                  </a:moveTo>
                  <a:cubicBezTo>
                    <a:pt x="143656" y="184837"/>
                    <a:pt x="185090" y="143461"/>
                    <a:pt x="185090" y="92419"/>
                  </a:cubicBezTo>
                  <a:cubicBezTo>
                    <a:pt x="185090" y="41378"/>
                    <a:pt x="143656" y="0"/>
                    <a:pt x="92545" y="0"/>
                  </a:cubicBezTo>
                  <a:cubicBezTo>
                    <a:pt x="41434" y="0"/>
                    <a:pt x="0" y="41378"/>
                    <a:pt x="0" y="92419"/>
                  </a:cubicBezTo>
                  <a:cubicBezTo>
                    <a:pt x="0" y="143461"/>
                    <a:pt x="41434" y="184837"/>
                    <a:pt x="92545" y="18483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A11F67B-D681-9D45-9ABE-CDADCE828EF1}"/>
                </a:ext>
              </a:extLst>
            </p:cNvPr>
            <p:cNvSpPr/>
            <p:nvPr/>
          </p:nvSpPr>
          <p:spPr>
            <a:xfrm>
              <a:off x="1757170" y="1416611"/>
              <a:ext cx="39164" cy="39113"/>
            </a:xfrm>
            <a:custGeom>
              <a:avLst/>
              <a:gdLst>
                <a:gd name="csX0" fmla="*/ 55512 w 111032"/>
                <a:gd name="csY0" fmla="*/ 110890 h 110890"/>
                <a:gd name="csX1" fmla="*/ 111033 w 111032"/>
                <a:gd name="csY1" fmla="*/ 55445 h 110890"/>
                <a:gd name="csX2" fmla="*/ 55512 w 111032"/>
                <a:gd name="csY2" fmla="*/ 0 h 110890"/>
                <a:gd name="csX3" fmla="*/ 0 w 111032"/>
                <a:gd name="csY3" fmla="*/ 55445 h 110890"/>
                <a:gd name="csX4" fmla="*/ 55512 w 111032"/>
                <a:gd name="csY4" fmla="*/ 110890 h 1108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1032" h="110890">
                  <a:moveTo>
                    <a:pt x="55512" y="110890"/>
                  </a:moveTo>
                  <a:cubicBezTo>
                    <a:pt x="86182" y="110890"/>
                    <a:pt x="111033" y="86068"/>
                    <a:pt x="111033" y="55445"/>
                  </a:cubicBezTo>
                  <a:cubicBezTo>
                    <a:pt x="111033" y="24822"/>
                    <a:pt x="86182" y="0"/>
                    <a:pt x="55512" y="0"/>
                  </a:cubicBezTo>
                  <a:cubicBezTo>
                    <a:pt x="24851" y="0"/>
                    <a:pt x="0" y="24822"/>
                    <a:pt x="0" y="55445"/>
                  </a:cubicBezTo>
                  <a:cubicBezTo>
                    <a:pt x="0" y="86068"/>
                    <a:pt x="24851" y="110890"/>
                    <a:pt x="55512" y="11089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0EB9959-FEFC-3BCE-5D3B-E4374E9883FB}"/>
                </a:ext>
              </a:extLst>
            </p:cNvPr>
            <p:cNvSpPr/>
            <p:nvPr/>
          </p:nvSpPr>
          <p:spPr>
            <a:xfrm>
              <a:off x="1895310" y="1322996"/>
              <a:ext cx="65285" cy="65196"/>
            </a:xfrm>
            <a:custGeom>
              <a:avLst/>
              <a:gdLst>
                <a:gd name="csX0" fmla="*/ 92545 w 185089"/>
                <a:gd name="csY0" fmla="*/ 184837 h 184837"/>
                <a:gd name="csX1" fmla="*/ 185090 w 185089"/>
                <a:gd name="csY1" fmla="*/ 92418 h 184837"/>
                <a:gd name="csX2" fmla="*/ 92545 w 185089"/>
                <a:gd name="csY2" fmla="*/ 0 h 184837"/>
                <a:gd name="csX3" fmla="*/ 0 w 185089"/>
                <a:gd name="csY3" fmla="*/ 92418 h 184837"/>
                <a:gd name="csX4" fmla="*/ 92545 w 185089"/>
                <a:gd name="csY4" fmla="*/ 184837 h 1848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5089" h="184837">
                  <a:moveTo>
                    <a:pt x="92545" y="184837"/>
                  </a:moveTo>
                  <a:cubicBezTo>
                    <a:pt x="143656" y="184837"/>
                    <a:pt x="185090" y="143460"/>
                    <a:pt x="185090" y="92418"/>
                  </a:cubicBezTo>
                  <a:cubicBezTo>
                    <a:pt x="185090" y="41377"/>
                    <a:pt x="143656" y="0"/>
                    <a:pt x="92545" y="0"/>
                  </a:cubicBezTo>
                  <a:cubicBezTo>
                    <a:pt x="41434" y="0"/>
                    <a:pt x="0" y="41377"/>
                    <a:pt x="0" y="92418"/>
                  </a:cubicBezTo>
                  <a:cubicBezTo>
                    <a:pt x="0" y="143460"/>
                    <a:pt x="41434" y="184837"/>
                    <a:pt x="92545" y="18483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95917F6-4FAD-D542-C86A-23308DA80402}"/>
                </a:ext>
              </a:extLst>
            </p:cNvPr>
            <p:cNvSpPr/>
            <p:nvPr/>
          </p:nvSpPr>
          <p:spPr>
            <a:xfrm>
              <a:off x="1832276" y="1066038"/>
              <a:ext cx="49627" cy="49562"/>
            </a:xfrm>
            <a:custGeom>
              <a:avLst/>
              <a:gdLst>
                <a:gd name="csX0" fmla="*/ 138284 w 140696"/>
                <a:gd name="csY0" fmla="*/ 88413 h 140513"/>
                <a:gd name="csX1" fmla="*/ 52139 w 140696"/>
                <a:gd name="csY1" fmla="*/ 138090 h 140513"/>
                <a:gd name="csX2" fmla="*/ 2419 w 140696"/>
                <a:gd name="csY2" fmla="*/ 52061 h 140513"/>
                <a:gd name="csX3" fmla="*/ 88544 w 140696"/>
                <a:gd name="csY3" fmla="*/ 2423 h 140513"/>
                <a:gd name="csX4" fmla="*/ 138284 w 140696"/>
                <a:gd name="csY4" fmla="*/ 88394 h 140513"/>
                <a:gd name="csX5" fmla="*/ 138284 w 140696"/>
                <a:gd name="csY5" fmla="*/ 88413 h 1405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0696" h="140513">
                  <a:moveTo>
                    <a:pt x="138284" y="88413"/>
                  </a:moveTo>
                  <a:cubicBezTo>
                    <a:pt x="128225" y="125914"/>
                    <a:pt x="89658" y="148162"/>
                    <a:pt x="52139" y="138090"/>
                  </a:cubicBezTo>
                  <a:cubicBezTo>
                    <a:pt x="14630" y="128019"/>
                    <a:pt x="-7649" y="89562"/>
                    <a:pt x="2419" y="52061"/>
                  </a:cubicBezTo>
                  <a:cubicBezTo>
                    <a:pt x="12439" y="14599"/>
                    <a:pt x="51025" y="-7649"/>
                    <a:pt x="88544" y="2423"/>
                  </a:cubicBezTo>
                  <a:cubicBezTo>
                    <a:pt x="126072" y="12436"/>
                    <a:pt x="148332" y="50951"/>
                    <a:pt x="138284" y="88394"/>
                  </a:cubicBezTo>
                  <a:lnTo>
                    <a:pt x="138284" y="8841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98A5742-599A-2070-7756-B2F3F29F9498}"/>
                </a:ext>
              </a:extLst>
            </p:cNvPr>
            <p:cNvSpPr/>
            <p:nvPr/>
          </p:nvSpPr>
          <p:spPr>
            <a:xfrm>
              <a:off x="1832276" y="1392689"/>
              <a:ext cx="49627" cy="49561"/>
            </a:xfrm>
            <a:custGeom>
              <a:avLst/>
              <a:gdLst>
                <a:gd name="csX0" fmla="*/ 138284 w 140696"/>
                <a:gd name="csY0" fmla="*/ 88414 h 140511"/>
                <a:gd name="csX1" fmla="*/ 52139 w 140696"/>
                <a:gd name="csY1" fmla="*/ 138087 h 140511"/>
                <a:gd name="csX2" fmla="*/ 2419 w 140696"/>
                <a:gd name="csY2" fmla="*/ 52066 h 140511"/>
                <a:gd name="csX3" fmla="*/ 88544 w 140696"/>
                <a:gd name="csY3" fmla="*/ 2422 h 140511"/>
                <a:gd name="csX4" fmla="*/ 138284 w 140696"/>
                <a:gd name="csY4" fmla="*/ 88395 h 140511"/>
                <a:gd name="csX5" fmla="*/ 138284 w 140696"/>
                <a:gd name="csY5" fmla="*/ 88414 h 140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0696" h="140511">
                  <a:moveTo>
                    <a:pt x="138284" y="88414"/>
                  </a:moveTo>
                  <a:cubicBezTo>
                    <a:pt x="128225" y="125914"/>
                    <a:pt x="89658" y="148164"/>
                    <a:pt x="52139" y="138087"/>
                  </a:cubicBezTo>
                  <a:cubicBezTo>
                    <a:pt x="14630" y="128019"/>
                    <a:pt x="-7649" y="89566"/>
                    <a:pt x="2419" y="52066"/>
                  </a:cubicBezTo>
                  <a:cubicBezTo>
                    <a:pt x="12439" y="14595"/>
                    <a:pt x="51025" y="-7646"/>
                    <a:pt x="88544" y="2422"/>
                  </a:cubicBezTo>
                  <a:cubicBezTo>
                    <a:pt x="126072" y="12433"/>
                    <a:pt x="148332" y="50952"/>
                    <a:pt x="138284" y="88395"/>
                  </a:cubicBezTo>
                  <a:lnTo>
                    <a:pt x="138284" y="8841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BAEA663-A13A-57E3-9D12-98382F08ABF2}"/>
                </a:ext>
              </a:extLst>
            </p:cNvPr>
            <p:cNvSpPr/>
            <p:nvPr/>
          </p:nvSpPr>
          <p:spPr>
            <a:xfrm>
              <a:off x="1921762" y="1217279"/>
              <a:ext cx="74264" cy="74174"/>
            </a:xfrm>
            <a:custGeom>
              <a:avLst/>
              <a:gdLst>
                <a:gd name="csX0" fmla="*/ 206719 w 210545"/>
                <a:gd name="csY0" fmla="*/ 133127 h 210290"/>
                <a:gd name="csX1" fmla="*/ 133300 w 210545"/>
                <a:gd name="csY1" fmla="*/ 3819 h 210290"/>
                <a:gd name="csX2" fmla="*/ 3827 w 210545"/>
                <a:gd name="csY2" fmla="*/ 77164 h 210290"/>
                <a:gd name="csX3" fmla="*/ 77245 w 210545"/>
                <a:gd name="csY3" fmla="*/ 206472 h 210290"/>
                <a:gd name="csX4" fmla="*/ 206719 w 210545"/>
                <a:gd name="csY4" fmla="*/ 133127 h 210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0545" h="210290">
                  <a:moveTo>
                    <a:pt x="206719" y="133127"/>
                  </a:moveTo>
                  <a:cubicBezTo>
                    <a:pt x="222197" y="77165"/>
                    <a:pt x="189326" y="19272"/>
                    <a:pt x="133300" y="3819"/>
                  </a:cubicBezTo>
                  <a:cubicBezTo>
                    <a:pt x="77274" y="-11634"/>
                    <a:pt x="19305" y="21203"/>
                    <a:pt x="3827" y="77164"/>
                  </a:cubicBezTo>
                  <a:cubicBezTo>
                    <a:pt x="-11651" y="133126"/>
                    <a:pt x="21219" y="191019"/>
                    <a:pt x="77245" y="206472"/>
                  </a:cubicBezTo>
                  <a:cubicBezTo>
                    <a:pt x="133281" y="221925"/>
                    <a:pt x="191241" y="189087"/>
                    <a:pt x="206719" y="1331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009693E-A66C-D565-3683-05133DA62496}"/>
                </a:ext>
              </a:extLst>
            </p:cNvPr>
            <p:cNvSpPr/>
            <p:nvPr/>
          </p:nvSpPr>
          <p:spPr>
            <a:xfrm>
              <a:off x="988026" y="1099182"/>
              <a:ext cx="865977" cy="316881"/>
            </a:xfrm>
            <a:custGeom>
              <a:avLst/>
              <a:gdLst>
                <a:gd name="csX0" fmla="*/ 832640 w 2455116"/>
                <a:gd name="csY0" fmla="*/ 208210 h 898393"/>
                <a:gd name="csX1" fmla="*/ 953062 w 2455116"/>
                <a:gd name="csY1" fmla="*/ 208210 h 898393"/>
                <a:gd name="csX2" fmla="*/ 953062 w 2455116"/>
                <a:gd name="csY2" fmla="*/ 668745 h 898393"/>
                <a:gd name="csX3" fmla="*/ 832640 w 2455116"/>
                <a:gd name="csY3" fmla="*/ 668745 h 898393"/>
                <a:gd name="csX4" fmla="*/ 832640 w 2455116"/>
                <a:gd name="csY4" fmla="*/ 208210 h 898393"/>
                <a:gd name="csX5" fmla="*/ 905970 w 2455116"/>
                <a:gd name="csY5" fmla="*/ 2391 h 898393"/>
                <a:gd name="csX6" fmla="*/ 821052 w 2455116"/>
                <a:gd name="csY6" fmla="*/ 51328 h 898393"/>
                <a:gd name="csX7" fmla="*/ 870095 w 2455116"/>
                <a:gd name="csY7" fmla="*/ 136149 h 898393"/>
                <a:gd name="csX8" fmla="*/ 955034 w 2455116"/>
                <a:gd name="csY8" fmla="*/ 87154 h 898393"/>
                <a:gd name="csX9" fmla="*/ 905970 w 2455116"/>
                <a:gd name="csY9" fmla="*/ 2372 h 898393"/>
                <a:gd name="csX10" fmla="*/ 905970 w 2455116"/>
                <a:gd name="csY10" fmla="*/ 2391 h 898393"/>
                <a:gd name="csX11" fmla="*/ 1322794 w 2455116"/>
                <a:gd name="csY11" fmla="*/ 678135 h 898393"/>
                <a:gd name="csX12" fmla="*/ 1238250 w 2455116"/>
                <a:gd name="csY12" fmla="*/ 661498 h 898393"/>
                <a:gd name="csX13" fmla="*/ 1177623 w 2455116"/>
                <a:gd name="csY13" fmla="*/ 612464 h 898393"/>
                <a:gd name="csX14" fmla="*/ 1177623 w 2455116"/>
                <a:gd name="csY14" fmla="*/ 898394 h 898393"/>
                <a:gd name="csX15" fmla="*/ 1060609 w 2455116"/>
                <a:gd name="csY15" fmla="*/ 898394 h 898393"/>
                <a:gd name="csX16" fmla="*/ 1060609 w 2455116"/>
                <a:gd name="csY16" fmla="*/ 208210 h 898393"/>
                <a:gd name="csX17" fmla="*/ 1176757 w 2455116"/>
                <a:gd name="csY17" fmla="*/ 208210 h 898393"/>
                <a:gd name="csX18" fmla="*/ 1176757 w 2455116"/>
                <a:gd name="csY18" fmla="*/ 272167 h 898393"/>
                <a:gd name="csX19" fmla="*/ 1237393 w 2455116"/>
                <a:gd name="csY19" fmla="*/ 218437 h 898393"/>
                <a:gd name="csX20" fmla="*/ 1321937 w 2455116"/>
                <a:gd name="csY20" fmla="*/ 198820 h 898393"/>
                <a:gd name="csX21" fmla="*/ 1405633 w 2455116"/>
                <a:gd name="csY21" fmla="*/ 215457 h 898393"/>
                <a:gd name="csX22" fmla="*/ 1476518 w 2455116"/>
                <a:gd name="csY22" fmla="*/ 263653 h 898393"/>
                <a:gd name="csX23" fmla="*/ 1525619 w 2455116"/>
                <a:gd name="csY23" fmla="*/ 339552 h 898393"/>
                <a:gd name="csX24" fmla="*/ 1543984 w 2455116"/>
                <a:gd name="csY24" fmla="*/ 438477 h 898393"/>
                <a:gd name="csX25" fmla="*/ 1525191 w 2455116"/>
                <a:gd name="csY25" fmla="*/ 537831 h 898393"/>
                <a:gd name="csX26" fmla="*/ 1475661 w 2455116"/>
                <a:gd name="csY26" fmla="*/ 613302 h 898393"/>
                <a:gd name="csX27" fmla="*/ 1405195 w 2455116"/>
                <a:gd name="csY27" fmla="*/ 661498 h 898393"/>
                <a:gd name="csX28" fmla="*/ 1322775 w 2455116"/>
                <a:gd name="csY28" fmla="*/ 678135 h 898393"/>
                <a:gd name="csX29" fmla="*/ 1322794 w 2455116"/>
                <a:gd name="csY29" fmla="*/ 678135 h 898393"/>
                <a:gd name="csX30" fmla="*/ 1298877 w 2455116"/>
                <a:gd name="csY30" fmla="*/ 567267 h 898393"/>
                <a:gd name="csX31" fmla="*/ 1348416 w 2455116"/>
                <a:gd name="csY31" fmla="*/ 557040 h 898393"/>
                <a:gd name="csX32" fmla="*/ 1388964 w 2455116"/>
                <a:gd name="csY32" fmla="*/ 529318 h 898393"/>
                <a:gd name="csX33" fmla="*/ 1416301 w 2455116"/>
                <a:gd name="csY33" fmla="*/ 488388 h 898393"/>
                <a:gd name="csX34" fmla="*/ 1426131 w 2455116"/>
                <a:gd name="csY34" fmla="*/ 437640 h 898393"/>
                <a:gd name="csX35" fmla="*/ 1416301 w 2455116"/>
                <a:gd name="csY35" fmla="*/ 386892 h 898393"/>
                <a:gd name="csX36" fmla="*/ 1388964 w 2455116"/>
                <a:gd name="csY36" fmla="*/ 345962 h 898393"/>
                <a:gd name="csX37" fmla="*/ 1348416 w 2455116"/>
                <a:gd name="csY37" fmla="*/ 318239 h 898393"/>
                <a:gd name="csX38" fmla="*/ 1298877 w 2455116"/>
                <a:gd name="csY38" fmla="*/ 308012 h 898393"/>
                <a:gd name="csX39" fmla="*/ 1248061 w 2455116"/>
                <a:gd name="csY39" fmla="*/ 318239 h 898393"/>
                <a:gd name="csX40" fmla="*/ 1207503 w 2455116"/>
                <a:gd name="csY40" fmla="*/ 345962 h 898393"/>
                <a:gd name="csX41" fmla="*/ 1180605 w 2455116"/>
                <a:gd name="csY41" fmla="*/ 387320 h 898393"/>
                <a:gd name="csX42" fmla="*/ 1170794 w 2455116"/>
                <a:gd name="csY42" fmla="*/ 437640 h 898393"/>
                <a:gd name="csX43" fmla="*/ 1180605 w 2455116"/>
                <a:gd name="csY43" fmla="*/ 488388 h 898393"/>
                <a:gd name="csX44" fmla="*/ 1207503 w 2455116"/>
                <a:gd name="csY44" fmla="*/ 529318 h 898393"/>
                <a:gd name="csX45" fmla="*/ 1248061 w 2455116"/>
                <a:gd name="csY45" fmla="*/ 557040 h 898393"/>
                <a:gd name="csX46" fmla="*/ 1298877 w 2455116"/>
                <a:gd name="csY46" fmla="*/ 567267 h 898393"/>
                <a:gd name="csX47" fmla="*/ 1628975 w 2455116"/>
                <a:gd name="csY47" fmla="*/ 208210 h 898393"/>
                <a:gd name="csX48" fmla="*/ 1745123 w 2455116"/>
                <a:gd name="csY48" fmla="*/ 208210 h 898393"/>
                <a:gd name="csX49" fmla="*/ 1745123 w 2455116"/>
                <a:gd name="csY49" fmla="*/ 279005 h 898393"/>
                <a:gd name="csX50" fmla="*/ 1795082 w 2455116"/>
                <a:gd name="csY50" fmla="*/ 218866 h 898393"/>
                <a:gd name="csX51" fmla="*/ 1872377 w 2455116"/>
                <a:gd name="csY51" fmla="*/ 199678 h 898393"/>
                <a:gd name="csX52" fmla="*/ 1915506 w 2455116"/>
                <a:gd name="csY52" fmla="*/ 204801 h 898393"/>
                <a:gd name="csX53" fmla="*/ 1950101 w 2455116"/>
                <a:gd name="csY53" fmla="*/ 217600 h 898393"/>
                <a:gd name="csX54" fmla="*/ 1907391 w 2455116"/>
                <a:gd name="csY54" fmla="*/ 333591 h 898393"/>
                <a:gd name="csX55" fmla="*/ 1881778 w 2455116"/>
                <a:gd name="csY55" fmla="*/ 322078 h 898393"/>
                <a:gd name="csX56" fmla="*/ 1845907 w 2455116"/>
                <a:gd name="csY56" fmla="*/ 317383 h 898393"/>
                <a:gd name="csX57" fmla="*/ 1773317 w 2455116"/>
                <a:gd name="csY57" fmla="*/ 342533 h 898393"/>
                <a:gd name="csX58" fmla="*/ 1745980 w 2455116"/>
                <a:gd name="csY58" fmla="*/ 425697 h 898393"/>
                <a:gd name="csX59" fmla="*/ 1745980 w 2455116"/>
                <a:gd name="csY59" fmla="*/ 668765 h 898393"/>
                <a:gd name="csX60" fmla="*/ 1628975 w 2455116"/>
                <a:gd name="csY60" fmla="*/ 668765 h 898393"/>
                <a:gd name="csX61" fmla="*/ 1628975 w 2455116"/>
                <a:gd name="csY61" fmla="*/ 208229 h 898393"/>
                <a:gd name="csX62" fmla="*/ 1628975 w 2455116"/>
                <a:gd name="csY62" fmla="*/ 208210 h 898393"/>
                <a:gd name="csX63" fmla="*/ 2210857 w 2455116"/>
                <a:gd name="csY63" fmla="*/ 678135 h 898393"/>
                <a:gd name="csX64" fmla="*/ 2114350 w 2455116"/>
                <a:gd name="csY64" fmla="*/ 659374 h 898393"/>
                <a:gd name="csX65" fmla="*/ 2037064 w 2455116"/>
                <a:gd name="csY65" fmla="*/ 607769 h 898393"/>
                <a:gd name="csX66" fmla="*/ 1985820 w 2455116"/>
                <a:gd name="csY66" fmla="*/ 531442 h 898393"/>
                <a:gd name="csX67" fmla="*/ 1967456 w 2455116"/>
                <a:gd name="csY67" fmla="*/ 438477 h 898393"/>
                <a:gd name="csX68" fmla="*/ 1985820 w 2455116"/>
                <a:gd name="csY68" fmla="*/ 345084 h 898393"/>
                <a:gd name="csX69" fmla="*/ 2037064 w 2455116"/>
                <a:gd name="csY69" fmla="*/ 268758 h 898393"/>
                <a:gd name="csX70" fmla="*/ 2114350 w 2455116"/>
                <a:gd name="csY70" fmla="*/ 217581 h 898393"/>
                <a:gd name="csX71" fmla="*/ 2210857 w 2455116"/>
                <a:gd name="csY71" fmla="*/ 198820 h 898393"/>
                <a:gd name="csX72" fmla="*/ 2306936 w 2455116"/>
                <a:gd name="csY72" fmla="*/ 217581 h 898393"/>
                <a:gd name="csX73" fmla="*/ 2384660 w 2455116"/>
                <a:gd name="csY73" fmla="*/ 268758 h 898393"/>
                <a:gd name="csX74" fmla="*/ 2436333 w 2455116"/>
                <a:gd name="csY74" fmla="*/ 345084 h 898393"/>
                <a:gd name="csX75" fmla="*/ 2455117 w 2455116"/>
                <a:gd name="csY75" fmla="*/ 438477 h 898393"/>
                <a:gd name="csX76" fmla="*/ 2436333 w 2455116"/>
                <a:gd name="csY76" fmla="*/ 531442 h 898393"/>
                <a:gd name="csX77" fmla="*/ 2385089 w 2455116"/>
                <a:gd name="csY77" fmla="*/ 607769 h 898393"/>
                <a:gd name="csX78" fmla="*/ 2307793 w 2455116"/>
                <a:gd name="csY78" fmla="*/ 659374 h 898393"/>
                <a:gd name="csX79" fmla="*/ 2210857 w 2455116"/>
                <a:gd name="csY79" fmla="*/ 678135 h 898393"/>
                <a:gd name="csX80" fmla="*/ 2211715 w 2455116"/>
                <a:gd name="csY80" fmla="*/ 566410 h 898393"/>
                <a:gd name="csX81" fmla="*/ 2261245 w 2455116"/>
                <a:gd name="csY81" fmla="*/ 556183 h 898393"/>
                <a:gd name="csX82" fmla="*/ 2301392 w 2455116"/>
                <a:gd name="csY82" fmla="*/ 528889 h 898393"/>
                <a:gd name="csX83" fmla="*/ 2328301 w 2455116"/>
                <a:gd name="csY83" fmla="*/ 488388 h 898393"/>
                <a:gd name="csX84" fmla="*/ 2338131 w 2455116"/>
                <a:gd name="csY84" fmla="*/ 437640 h 898393"/>
                <a:gd name="csX85" fmla="*/ 2328301 w 2455116"/>
                <a:gd name="csY85" fmla="*/ 387320 h 898393"/>
                <a:gd name="csX86" fmla="*/ 2301392 w 2455116"/>
                <a:gd name="csY86" fmla="*/ 346390 h 898393"/>
                <a:gd name="csX87" fmla="*/ 2261245 w 2455116"/>
                <a:gd name="csY87" fmla="*/ 319096 h 898393"/>
                <a:gd name="csX88" fmla="*/ 2211715 w 2455116"/>
                <a:gd name="csY88" fmla="*/ 308849 h 898393"/>
                <a:gd name="csX89" fmla="*/ 2162185 w 2455116"/>
                <a:gd name="csY89" fmla="*/ 319077 h 898393"/>
                <a:gd name="csX90" fmla="*/ 2122037 w 2455116"/>
                <a:gd name="csY90" fmla="*/ 346370 h 898393"/>
                <a:gd name="csX91" fmla="*/ 2095138 w 2455116"/>
                <a:gd name="csY91" fmla="*/ 387300 h 898393"/>
                <a:gd name="csX92" fmla="*/ 2085308 w 2455116"/>
                <a:gd name="csY92" fmla="*/ 437621 h 898393"/>
                <a:gd name="csX93" fmla="*/ 2095138 w 2455116"/>
                <a:gd name="csY93" fmla="*/ 488369 h 898393"/>
                <a:gd name="csX94" fmla="*/ 2122037 w 2455116"/>
                <a:gd name="csY94" fmla="*/ 528870 h 898393"/>
                <a:gd name="csX95" fmla="*/ 2162185 w 2455116"/>
                <a:gd name="csY95" fmla="*/ 556163 h 898393"/>
                <a:gd name="csX96" fmla="*/ 2211715 w 2455116"/>
                <a:gd name="csY96" fmla="*/ 566391 h 898393"/>
                <a:gd name="csX97" fmla="*/ 2211715 w 2455116"/>
                <a:gd name="csY97" fmla="*/ 566410 h 898393"/>
                <a:gd name="csX98" fmla="*/ 0 w 2455116"/>
                <a:gd name="csY98" fmla="*/ 208054 h 898393"/>
                <a:gd name="csX99" fmla="*/ 119447 w 2455116"/>
                <a:gd name="csY99" fmla="*/ 208054 h 898393"/>
                <a:gd name="csX100" fmla="*/ 212442 w 2455116"/>
                <a:gd name="csY100" fmla="*/ 501928 h 898393"/>
                <a:gd name="csX101" fmla="*/ 321648 w 2455116"/>
                <a:gd name="csY101" fmla="*/ 208074 h 898393"/>
                <a:gd name="csX102" fmla="*/ 426581 w 2455116"/>
                <a:gd name="csY102" fmla="*/ 208074 h 898393"/>
                <a:gd name="csX103" fmla="*/ 534090 w 2455116"/>
                <a:gd name="csY103" fmla="*/ 501947 h 898393"/>
                <a:gd name="csX104" fmla="*/ 630498 w 2455116"/>
                <a:gd name="csY104" fmla="*/ 208093 h 898393"/>
                <a:gd name="csX105" fmla="*/ 749945 w 2455116"/>
                <a:gd name="csY105" fmla="*/ 208093 h 898393"/>
                <a:gd name="csX106" fmla="*/ 593804 w 2455116"/>
                <a:gd name="csY106" fmla="*/ 668180 h 898393"/>
                <a:gd name="csX107" fmla="*/ 482881 w 2455116"/>
                <a:gd name="csY107" fmla="*/ 668180 h 898393"/>
                <a:gd name="csX108" fmla="*/ 372817 w 2455116"/>
                <a:gd name="csY108" fmla="*/ 368267 h 898393"/>
                <a:gd name="csX109" fmla="*/ 261895 w 2455116"/>
                <a:gd name="csY109" fmla="*/ 668180 h 898393"/>
                <a:gd name="csX110" fmla="*/ 149275 w 2455116"/>
                <a:gd name="csY110" fmla="*/ 668180 h 898393"/>
                <a:gd name="csX111" fmla="*/ 0 w 2455116"/>
                <a:gd name="csY111" fmla="*/ 208054 h 898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</a:cxnLst>
              <a:rect l="l" t="t" r="r" b="b"/>
              <a:pathLst>
                <a:path w="2455116" h="898393">
                  <a:moveTo>
                    <a:pt x="832640" y="208210"/>
                  </a:moveTo>
                  <a:lnTo>
                    <a:pt x="953062" y="208210"/>
                  </a:lnTo>
                  <a:lnTo>
                    <a:pt x="953062" y="668745"/>
                  </a:lnTo>
                  <a:lnTo>
                    <a:pt x="832640" y="668745"/>
                  </a:lnTo>
                  <a:lnTo>
                    <a:pt x="832640" y="208210"/>
                  </a:lnTo>
                  <a:close/>
                  <a:moveTo>
                    <a:pt x="905970" y="2391"/>
                  </a:moveTo>
                  <a:cubicBezTo>
                    <a:pt x="869003" y="-7544"/>
                    <a:pt x="830943" y="14392"/>
                    <a:pt x="821052" y="51328"/>
                  </a:cubicBezTo>
                  <a:cubicBezTo>
                    <a:pt x="811142" y="88304"/>
                    <a:pt x="833108" y="126233"/>
                    <a:pt x="870095" y="136149"/>
                  </a:cubicBezTo>
                  <a:cubicBezTo>
                    <a:pt x="907082" y="146065"/>
                    <a:pt x="945103" y="124129"/>
                    <a:pt x="955034" y="87154"/>
                  </a:cubicBezTo>
                  <a:cubicBezTo>
                    <a:pt x="964921" y="50237"/>
                    <a:pt x="942977" y="12249"/>
                    <a:pt x="905970" y="2372"/>
                  </a:cubicBezTo>
                  <a:lnTo>
                    <a:pt x="905970" y="2391"/>
                  </a:lnTo>
                  <a:close/>
                  <a:moveTo>
                    <a:pt x="1322794" y="678135"/>
                  </a:moveTo>
                  <a:cubicBezTo>
                    <a:pt x="1291485" y="678135"/>
                    <a:pt x="1263301" y="672583"/>
                    <a:pt x="1238250" y="661498"/>
                  </a:cubicBezTo>
                  <a:cubicBezTo>
                    <a:pt x="1213180" y="650413"/>
                    <a:pt x="1192987" y="634068"/>
                    <a:pt x="1177623" y="612464"/>
                  </a:cubicBezTo>
                  <a:lnTo>
                    <a:pt x="1177623" y="898394"/>
                  </a:lnTo>
                  <a:lnTo>
                    <a:pt x="1060609" y="898394"/>
                  </a:lnTo>
                  <a:lnTo>
                    <a:pt x="1060609" y="208210"/>
                  </a:lnTo>
                  <a:lnTo>
                    <a:pt x="1176757" y="208210"/>
                  </a:lnTo>
                  <a:lnTo>
                    <a:pt x="1176757" y="272167"/>
                  </a:lnTo>
                  <a:cubicBezTo>
                    <a:pt x="1192130" y="249433"/>
                    <a:pt x="1212342" y="231529"/>
                    <a:pt x="1237393" y="218437"/>
                  </a:cubicBezTo>
                  <a:cubicBezTo>
                    <a:pt x="1262443" y="205366"/>
                    <a:pt x="1290628" y="198820"/>
                    <a:pt x="1321937" y="198820"/>
                  </a:cubicBezTo>
                  <a:cubicBezTo>
                    <a:pt x="1350969" y="198820"/>
                    <a:pt x="1378868" y="204353"/>
                    <a:pt x="1405633" y="215457"/>
                  </a:cubicBezTo>
                  <a:cubicBezTo>
                    <a:pt x="1432398" y="226542"/>
                    <a:pt x="1456020" y="242614"/>
                    <a:pt x="1476518" y="263653"/>
                  </a:cubicBezTo>
                  <a:cubicBezTo>
                    <a:pt x="1497025" y="284693"/>
                    <a:pt x="1513370" y="309999"/>
                    <a:pt x="1525619" y="339552"/>
                  </a:cubicBezTo>
                  <a:cubicBezTo>
                    <a:pt x="1537849" y="369125"/>
                    <a:pt x="1543984" y="402106"/>
                    <a:pt x="1543984" y="438477"/>
                  </a:cubicBezTo>
                  <a:cubicBezTo>
                    <a:pt x="1543984" y="475453"/>
                    <a:pt x="1537716" y="508552"/>
                    <a:pt x="1525191" y="537831"/>
                  </a:cubicBezTo>
                  <a:cubicBezTo>
                    <a:pt x="1512665" y="567131"/>
                    <a:pt x="1496168" y="592281"/>
                    <a:pt x="1475661" y="613302"/>
                  </a:cubicBezTo>
                  <a:cubicBezTo>
                    <a:pt x="1455163" y="634342"/>
                    <a:pt x="1431674" y="650394"/>
                    <a:pt x="1405195" y="661498"/>
                  </a:cubicBezTo>
                  <a:cubicBezTo>
                    <a:pt x="1378725" y="672583"/>
                    <a:pt x="1351236" y="678135"/>
                    <a:pt x="1322775" y="678135"/>
                  </a:cubicBezTo>
                  <a:lnTo>
                    <a:pt x="1322794" y="678135"/>
                  </a:lnTo>
                  <a:close/>
                  <a:moveTo>
                    <a:pt x="1298877" y="567267"/>
                  </a:moveTo>
                  <a:cubicBezTo>
                    <a:pt x="1316517" y="567267"/>
                    <a:pt x="1333043" y="563858"/>
                    <a:pt x="1348416" y="557040"/>
                  </a:cubicBezTo>
                  <a:cubicBezTo>
                    <a:pt x="1363780" y="550222"/>
                    <a:pt x="1377306" y="540987"/>
                    <a:pt x="1388964" y="529318"/>
                  </a:cubicBezTo>
                  <a:cubicBezTo>
                    <a:pt x="1400632" y="517669"/>
                    <a:pt x="1409748" y="504032"/>
                    <a:pt x="1416301" y="488388"/>
                  </a:cubicBezTo>
                  <a:cubicBezTo>
                    <a:pt x="1422835" y="472764"/>
                    <a:pt x="1426131" y="455835"/>
                    <a:pt x="1426131" y="437640"/>
                  </a:cubicBezTo>
                  <a:cubicBezTo>
                    <a:pt x="1426131" y="419444"/>
                    <a:pt x="1422854" y="402535"/>
                    <a:pt x="1416301" y="386892"/>
                  </a:cubicBezTo>
                  <a:cubicBezTo>
                    <a:pt x="1409748" y="371268"/>
                    <a:pt x="1400632" y="357611"/>
                    <a:pt x="1388964" y="345962"/>
                  </a:cubicBezTo>
                  <a:cubicBezTo>
                    <a:pt x="1377286" y="334312"/>
                    <a:pt x="1363780" y="325058"/>
                    <a:pt x="1348416" y="318239"/>
                  </a:cubicBezTo>
                  <a:cubicBezTo>
                    <a:pt x="1333043" y="311421"/>
                    <a:pt x="1316517" y="308012"/>
                    <a:pt x="1298877" y="308012"/>
                  </a:cubicBezTo>
                  <a:cubicBezTo>
                    <a:pt x="1280665" y="308012"/>
                    <a:pt x="1263729" y="311421"/>
                    <a:pt x="1248061" y="318239"/>
                  </a:cubicBezTo>
                  <a:cubicBezTo>
                    <a:pt x="1232402" y="325058"/>
                    <a:pt x="1218876" y="334312"/>
                    <a:pt x="1207503" y="345962"/>
                  </a:cubicBezTo>
                  <a:cubicBezTo>
                    <a:pt x="1196111" y="357631"/>
                    <a:pt x="1187139" y="371423"/>
                    <a:pt x="1180605" y="387320"/>
                  </a:cubicBezTo>
                  <a:cubicBezTo>
                    <a:pt x="1174052" y="403236"/>
                    <a:pt x="1170794" y="420029"/>
                    <a:pt x="1170794" y="437640"/>
                  </a:cubicBezTo>
                  <a:cubicBezTo>
                    <a:pt x="1170794" y="455835"/>
                    <a:pt x="1174052" y="472764"/>
                    <a:pt x="1180605" y="488388"/>
                  </a:cubicBezTo>
                  <a:cubicBezTo>
                    <a:pt x="1187139" y="504032"/>
                    <a:pt x="1196111" y="517669"/>
                    <a:pt x="1207503" y="529318"/>
                  </a:cubicBezTo>
                  <a:cubicBezTo>
                    <a:pt x="1218876" y="540987"/>
                    <a:pt x="1232402" y="550222"/>
                    <a:pt x="1248061" y="557040"/>
                  </a:cubicBezTo>
                  <a:cubicBezTo>
                    <a:pt x="1263710" y="563858"/>
                    <a:pt x="1280636" y="567267"/>
                    <a:pt x="1298877" y="567267"/>
                  </a:cubicBezTo>
                  <a:close/>
                  <a:moveTo>
                    <a:pt x="1628975" y="208210"/>
                  </a:moveTo>
                  <a:lnTo>
                    <a:pt x="1745123" y="208210"/>
                  </a:lnTo>
                  <a:lnTo>
                    <a:pt x="1745123" y="279005"/>
                  </a:lnTo>
                  <a:cubicBezTo>
                    <a:pt x="1756515" y="251712"/>
                    <a:pt x="1773155" y="231666"/>
                    <a:pt x="1795082" y="218866"/>
                  </a:cubicBezTo>
                  <a:cubicBezTo>
                    <a:pt x="1816989" y="206067"/>
                    <a:pt x="1842764" y="199678"/>
                    <a:pt x="1872377" y="199678"/>
                  </a:cubicBezTo>
                  <a:cubicBezTo>
                    <a:pt x="1887750" y="199678"/>
                    <a:pt x="1902123" y="201372"/>
                    <a:pt x="1915506" y="204801"/>
                  </a:cubicBezTo>
                  <a:cubicBezTo>
                    <a:pt x="1928870" y="208210"/>
                    <a:pt x="1940404" y="212476"/>
                    <a:pt x="1950101" y="217600"/>
                  </a:cubicBezTo>
                  <a:lnTo>
                    <a:pt x="1907391" y="333591"/>
                  </a:lnTo>
                  <a:cubicBezTo>
                    <a:pt x="1901133" y="329052"/>
                    <a:pt x="1892589" y="325214"/>
                    <a:pt x="1881778" y="322078"/>
                  </a:cubicBezTo>
                  <a:cubicBezTo>
                    <a:pt x="1870948" y="318960"/>
                    <a:pt x="1858994" y="317383"/>
                    <a:pt x="1845907" y="317383"/>
                  </a:cubicBezTo>
                  <a:cubicBezTo>
                    <a:pt x="1815722" y="317383"/>
                    <a:pt x="1791519" y="325779"/>
                    <a:pt x="1773317" y="342533"/>
                  </a:cubicBezTo>
                  <a:cubicBezTo>
                    <a:pt x="1755096" y="359306"/>
                    <a:pt x="1745980" y="387028"/>
                    <a:pt x="1745980" y="425697"/>
                  </a:cubicBezTo>
                  <a:lnTo>
                    <a:pt x="1745980" y="668765"/>
                  </a:lnTo>
                  <a:lnTo>
                    <a:pt x="1628975" y="668765"/>
                  </a:lnTo>
                  <a:lnTo>
                    <a:pt x="1628975" y="208229"/>
                  </a:lnTo>
                  <a:lnTo>
                    <a:pt x="1628975" y="208210"/>
                  </a:lnTo>
                  <a:close/>
                  <a:moveTo>
                    <a:pt x="2210857" y="678135"/>
                  </a:moveTo>
                  <a:cubicBezTo>
                    <a:pt x="2176120" y="678135"/>
                    <a:pt x="2143944" y="671882"/>
                    <a:pt x="2114350" y="659374"/>
                  </a:cubicBezTo>
                  <a:cubicBezTo>
                    <a:pt x="2084737" y="646868"/>
                    <a:pt x="2058972" y="629666"/>
                    <a:pt x="2037064" y="607769"/>
                  </a:cubicBezTo>
                  <a:cubicBezTo>
                    <a:pt x="2015138" y="585892"/>
                    <a:pt x="1998069" y="560430"/>
                    <a:pt x="1985820" y="531442"/>
                  </a:cubicBezTo>
                  <a:cubicBezTo>
                    <a:pt x="1973561" y="502454"/>
                    <a:pt x="1967456" y="471459"/>
                    <a:pt x="1967456" y="438477"/>
                  </a:cubicBezTo>
                  <a:cubicBezTo>
                    <a:pt x="1967456" y="405516"/>
                    <a:pt x="1973561" y="374384"/>
                    <a:pt x="1985820" y="345084"/>
                  </a:cubicBezTo>
                  <a:cubicBezTo>
                    <a:pt x="1998050" y="315805"/>
                    <a:pt x="2015138" y="290362"/>
                    <a:pt x="2037064" y="268758"/>
                  </a:cubicBezTo>
                  <a:cubicBezTo>
                    <a:pt x="2058972" y="247153"/>
                    <a:pt x="2084737" y="230107"/>
                    <a:pt x="2114350" y="217581"/>
                  </a:cubicBezTo>
                  <a:cubicBezTo>
                    <a:pt x="2143944" y="205074"/>
                    <a:pt x="2176139" y="198820"/>
                    <a:pt x="2210857" y="198820"/>
                  </a:cubicBezTo>
                  <a:cubicBezTo>
                    <a:pt x="2245014" y="198820"/>
                    <a:pt x="2277047" y="205074"/>
                    <a:pt x="2306936" y="217581"/>
                  </a:cubicBezTo>
                  <a:cubicBezTo>
                    <a:pt x="2336826" y="230087"/>
                    <a:pt x="2362734" y="247153"/>
                    <a:pt x="2384660" y="268758"/>
                  </a:cubicBezTo>
                  <a:cubicBezTo>
                    <a:pt x="2406568" y="290362"/>
                    <a:pt x="2423789" y="315805"/>
                    <a:pt x="2436333" y="345084"/>
                  </a:cubicBezTo>
                  <a:cubicBezTo>
                    <a:pt x="2448858" y="374365"/>
                    <a:pt x="2455117" y="405496"/>
                    <a:pt x="2455117" y="438477"/>
                  </a:cubicBezTo>
                  <a:cubicBezTo>
                    <a:pt x="2455117" y="471459"/>
                    <a:pt x="2448858" y="502435"/>
                    <a:pt x="2436333" y="531442"/>
                  </a:cubicBezTo>
                  <a:cubicBezTo>
                    <a:pt x="2423808" y="560450"/>
                    <a:pt x="2406720" y="585892"/>
                    <a:pt x="2385089" y="607769"/>
                  </a:cubicBezTo>
                  <a:cubicBezTo>
                    <a:pt x="2363429" y="629666"/>
                    <a:pt x="2337683" y="646868"/>
                    <a:pt x="2307793" y="659374"/>
                  </a:cubicBezTo>
                  <a:cubicBezTo>
                    <a:pt x="2277904" y="671882"/>
                    <a:pt x="2245586" y="678135"/>
                    <a:pt x="2210857" y="678135"/>
                  </a:cubicBezTo>
                  <a:close/>
                  <a:moveTo>
                    <a:pt x="2211715" y="566410"/>
                  </a:moveTo>
                  <a:cubicBezTo>
                    <a:pt x="2229355" y="566410"/>
                    <a:pt x="2245881" y="563001"/>
                    <a:pt x="2261245" y="556183"/>
                  </a:cubicBezTo>
                  <a:cubicBezTo>
                    <a:pt x="2276618" y="549364"/>
                    <a:pt x="2289982" y="540267"/>
                    <a:pt x="2301392" y="528889"/>
                  </a:cubicBezTo>
                  <a:cubicBezTo>
                    <a:pt x="2312784" y="517532"/>
                    <a:pt x="2321748" y="504032"/>
                    <a:pt x="2328301" y="488388"/>
                  </a:cubicBezTo>
                  <a:cubicBezTo>
                    <a:pt x="2334835" y="472764"/>
                    <a:pt x="2338131" y="455835"/>
                    <a:pt x="2338131" y="437640"/>
                  </a:cubicBezTo>
                  <a:cubicBezTo>
                    <a:pt x="2338131" y="420029"/>
                    <a:pt x="2334854" y="403236"/>
                    <a:pt x="2328301" y="387320"/>
                  </a:cubicBezTo>
                  <a:cubicBezTo>
                    <a:pt x="2321748" y="371404"/>
                    <a:pt x="2312784" y="357767"/>
                    <a:pt x="2301392" y="346390"/>
                  </a:cubicBezTo>
                  <a:cubicBezTo>
                    <a:pt x="2290001" y="335033"/>
                    <a:pt x="2276618" y="325915"/>
                    <a:pt x="2261245" y="319096"/>
                  </a:cubicBezTo>
                  <a:cubicBezTo>
                    <a:pt x="2245881" y="312278"/>
                    <a:pt x="2229355" y="308849"/>
                    <a:pt x="2211715" y="308849"/>
                  </a:cubicBezTo>
                  <a:cubicBezTo>
                    <a:pt x="2194065" y="308849"/>
                    <a:pt x="2177558" y="312259"/>
                    <a:pt x="2162185" y="319077"/>
                  </a:cubicBezTo>
                  <a:cubicBezTo>
                    <a:pt x="2146811" y="325895"/>
                    <a:pt x="2133429" y="334994"/>
                    <a:pt x="2122037" y="346370"/>
                  </a:cubicBezTo>
                  <a:cubicBezTo>
                    <a:pt x="2110645" y="357748"/>
                    <a:pt x="2101672" y="371404"/>
                    <a:pt x="2095138" y="387300"/>
                  </a:cubicBezTo>
                  <a:cubicBezTo>
                    <a:pt x="2088585" y="403217"/>
                    <a:pt x="2085308" y="420009"/>
                    <a:pt x="2085308" y="437621"/>
                  </a:cubicBezTo>
                  <a:cubicBezTo>
                    <a:pt x="2085308" y="455815"/>
                    <a:pt x="2088585" y="472745"/>
                    <a:pt x="2095138" y="488369"/>
                  </a:cubicBezTo>
                  <a:cubicBezTo>
                    <a:pt x="2101672" y="504012"/>
                    <a:pt x="2110645" y="517513"/>
                    <a:pt x="2122037" y="528870"/>
                  </a:cubicBezTo>
                  <a:cubicBezTo>
                    <a:pt x="2133410" y="540247"/>
                    <a:pt x="2146811" y="549345"/>
                    <a:pt x="2162185" y="556163"/>
                  </a:cubicBezTo>
                  <a:cubicBezTo>
                    <a:pt x="2177558" y="562982"/>
                    <a:pt x="2194065" y="566391"/>
                    <a:pt x="2211715" y="566391"/>
                  </a:cubicBezTo>
                  <a:lnTo>
                    <a:pt x="2211715" y="566410"/>
                  </a:lnTo>
                  <a:close/>
                  <a:moveTo>
                    <a:pt x="0" y="208054"/>
                  </a:moveTo>
                  <a:lnTo>
                    <a:pt x="119447" y="208054"/>
                  </a:lnTo>
                  <a:lnTo>
                    <a:pt x="212442" y="501928"/>
                  </a:lnTo>
                  <a:lnTo>
                    <a:pt x="321648" y="208074"/>
                  </a:lnTo>
                  <a:lnTo>
                    <a:pt x="426581" y="208074"/>
                  </a:lnTo>
                  <a:lnTo>
                    <a:pt x="534090" y="501947"/>
                  </a:lnTo>
                  <a:lnTo>
                    <a:pt x="630498" y="208093"/>
                  </a:lnTo>
                  <a:lnTo>
                    <a:pt x="749945" y="208093"/>
                  </a:lnTo>
                  <a:lnTo>
                    <a:pt x="593804" y="668180"/>
                  </a:lnTo>
                  <a:lnTo>
                    <a:pt x="482881" y="668180"/>
                  </a:lnTo>
                  <a:lnTo>
                    <a:pt x="372817" y="368267"/>
                  </a:lnTo>
                  <a:lnTo>
                    <a:pt x="261895" y="668180"/>
                  </a:lnTo>
                  <a:lnTo>
                    <a:pt x="149275" y="668180"/>
                  </a:lnTo>
                  <a:lnTo>
                    <a:pt x="0" y="2080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815095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with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1">
            <a:extLst>
              <a:ext uri="{FF2B5EF4-FFF2-40B4-BE49-F238E27FC236}">
                <a16:creationId xmlns:a16="http://schemas.microsoft.com/office/drawing/2014/main" id="{EEF51DA0-B7C8-D735-D09B-6440D1BC74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4741" y="572408"/>
            <a:ext cx="10842021" cy="74964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000" b="1">
                <a:solidFill>
                  <a:schemeClr val="tx1"/>
                </a:solidFill>
                <a:latin typeface="Tenorite" pitchFamily="2" charset="0"/>
              </a:defRPr>
            </a:lvl1pPr>
          </a:lstStyle>
          <a:p>
            <a:r>
              <a:rPr lang="en-US"/>
              <a:t>Click to add title</a:t>
            </a:r>
            <a:endParaRPr lang="en-AR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84C9B81-F156-B786-3901-094E0257CD7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74741" y="1343256"/>
            <a:ext cx="10842022" cy="5645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Tenorit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5" name="Número de diapositiva">
            <a:extLst>
              <a:ext uri="{FF2B5EF4-FFF2-40B4-BE49-F238E27FC236}">
                <a16:creationId xmlns:a16="http://schemas.microsoft.com/office/drawing/2014/main" id="{164C7241-EFB5-1E69-F268-CCD2FFC9A60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808000" y="6192000"/>
            <a:ext cx="402187" cy="226790"/>
          </a:xfrm>
          <a:prstGeom prst="rect">
            <a:avLst/>
          </a:prstGeom>
        </p:spPr>
        <p:txBody>
          <a:bodyPr/>
          <a:lstStyle>
            <a:lvl1pPr>
              <a:defRPr sz="700">
                <a:latin typeface="Tenorite" pitchFamily="2" charset="0"/>
              </a:defRPr>
            </a:lvl1pPr>
          </a:lstStyle>
          <a:p>
            <a:fld id="{86CB4B4D-7CA3-9044-876B-883B54F8677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74345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_Wipro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5054D8D-2CB1-BE64-BFA6-C1005E667FA2}"/>
              </a:ext>
            </a:extLst>
          </p:cNvPr>
          <p:cNvSpPr/>
          <p:nvPr userDrawn="1"/>
        </p:nvSpPr>
        <p:spPr>
          <a:xfrm>
            <a:off x="0" y="0"/>
            <a:ext cx="12192000" cy="6857166"/>
          </a:xfrm>
          <a:prstGeom prst="rect">
            <a:avLst/>
          </a:prstGeom>
          <a:gradFill>
            <a:gsLst>
              <a:gs pos="0">
                <a:srgbClr val="341954"/>
              </a:gs>
              <a:gs pos="100000">
                <a:srgbClr val="341954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E3E631-4B95-4EAE-8892-843D15A3A9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lum bright="-100000" contrast="100000"/>
          </a:blip>
          <a:srcRect l="-1" t="8663" r="87" b="8663"/>
          <a:stretch>
            <a:fillRect/>
          </a:stretch>
        </p:blipFill>
        <p:spPr>
          <a:xfrm>
            <a:off x="5724891" y="-1"/>
            <a:ext cx="4895742" cy="685716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F6D57C2-D34E-75B0-C6CD-E5E9A6183D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1550" y="2971801"/>
            <a:ext cx="4626610" cy="1926862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z="7200" b="1">
                <a:solidFill>
                  <a:schemeClr val="bg1"/>
                </a:solidFill>
                <a:latin typeface="Tenorite" pitchFamily="2" charset="0"/>
              </a:defRPr>
            </a:lvl1pPr>
          </a:lstStyle>
          <a:p>
            <a:r>
              <a:rPr lang="en-US"/>
              <a:t>Click to add title</a:t>
            </a:r>
            <a:endParaRPr lang="en-AR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CCAEC27-23B5-BE25-DDD0-CCBF286309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1550" y="5200954"/>
            <a:ext cx="6603124" cy="3679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Tenorit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DFACF70-B989-D908-EB16-A60AE351078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71550" y="5573972"/>
            <a:ext cx="6603124" cy="3632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date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3997B17-CD19-CBCB-BBB1-16891192E164}"/>
              </a:ext>
            </a:extLst>
          </p:cNvPr>
          <p:cNvGrpSpPr/>
          <p:nvPr userDrawn="1"/>
        </p:nvGrpSpPr>
        <p:grpSpPr>
          <a:xfrm>
            <a:off x="988026" y="1052565"/>
            <a:ext cx="1008000" cy="403159"/>
            <a:chOff x="988026" y="1052565"/>
            <a:chExt cx="1008000" cy="403159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4B42AE2-511F-6D60-1444-864A15110555}"/>
                </a:ext>
              </a:extLst>
            </p:cNvPr>
            <p:cNvSpPr/>
            <p:nvPr/>
          </p:nvSpPr>
          <p:spPr>
            <a:xfrm>
              <a:off x="1757170" y="1052565"/>
              <a:ext cx="39164" cy="39112"/>
            </a:xfrm>
            <a:custGeom>
              <a:avLst/>
              <a:gdLst>
                <a:gd name="csX0" fmla="*/ 55512 w 111032"/>
                <a:gd name="csY0" fmla="*/ 110887 h 110887"/>
                <a:gd name="csX1" fmla="*/ 111033 w 111032"/>
                <a:gd name="csY1" fmla="*/ 55443 h 110887"/>
                <a:gd name="csX2" fmla="*/ 55512 w 111032"/>
                <a:gd name="csY2" fmla="*/ 0 h 110887"/>
                <a:gd name="csX3" fmla="*/ 0 w 111032"/>
                <a:gd name="csY3" fmla="*/ 55443 h 110887"/>
                <a:gd name="csX4" fmla="*/ 55512 w 111032"/>
                <a:gd name="csY4" fmla="*/ 110887 h 1108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1032" h="110887">
                  <a:moveTo>
                    <a:pt x="55512" y="110887"/>
                  </a:moveTo>
                  <a:cubicBezTo>
                    <a:pt x="86182" y="110887"/>
                    <a:pt x="111033" y="86064"/>
                    <a:pt x="111033" y="55443"/>
                  </a:cubicBezTo>
                  <a:cubicBezTo>
                    <a:pt x="111033" y="24823"/>
                    <a:pt x="86182" y="0"/>
                    <a:pt x="55512" y="0"/>
                  </a:cubicBezTo>
                  <a:cubicBezTo>
                    <a:pt x="24851" y="0"/>
                    <a:pt x="0" y="24823"/>
                    <a:pt x="0" y="55443"/>
                  </a:cubicBezTo>
                  <a:cubicBezTo>
                    <a:pt x="0" y="86064"/>
                    <a:pt x="24851" y="110887"/>
                    <a:pt x="55512" y="11088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9D113C6-02AB-FAD7-6068-BEBACA7908DE}"/>
                </a:ext>
              </a:extLst>
            </p:cNvPr>
            <p:cNvSpPr/>
            <p:nvPr/>
          </p:nvSpPr>
          <p:spPr>
            <a:xfrm>
              <a:off x="1895310" y="1120097"/>
              <a:ext cx="65285" cy="65196"/>
            </a:xfrm>
            <a:custGeom>
              <a:avLst/>
              <a:gdLst>
                <a:gd name="csX0" fmla="*/ 92545 w 185089"/>
                <a:gd name="csY0" fmla="*/ 184837 h 184837"/>
                <a:gd name="csX1" fmla="*/ 185090 w 185089"/>
                <a:gd name="csY1" fmla="*/ 92419 h 184837"/>
                <a:gd name="csX2" fmla="*/ 92545 w 185089"/>
                <a:gd name="csY2" fmla="*/ 0 h 184837"/>
                <a:gd name="csX3" fmla="*/ 0 w 185089"/>
                <a:gd name="csY3" fmla="*/ 92419 h 184837"/>
                <a:gd name="csX4" fmla="*/ 92545 w 185089"/>
                <a:gd name="csY4" fmla="*/ 184837 h 1848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5089" h="184837">
                  <a:moveTo>
                    <a:pt x="92545" y="184837"/>
                  </a:moveTo>
                  <a:cubicBezTo>
                    <a:pt x="143656" y="184837"/>
                    <a:pt x="185090" y="143461"/>
                    <a:pt x="185090" y="92419"/>
                  </a:cubicBezTo>
                  <a:cubicBezTo>
                    <a:pt x="185090" y="41378"/>
                    <a:pt x="143656" y="0"/>
                    <a:pt x="92545" y="0"/>
                  </a:cubicBezTo>
                  <a:cubicBezTo>
                    <a:pt x="41434" y="0"/>
                    <a:pt x="0" y="41378"/>
                    <a:pt x="0" y="92419"/>
                  </a:cubicBezTo>
                  <a:cubicBezTo>
                    <a:pt x="0" y="143461"/>
                    <a:pt x="41434" y="184837"/>
                    <a:pt x="92545" y="18483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410C33E-77F7-742E-94CE-45C131F98319}"/>
                </a:ext>
              </a:extLst>
            </p:cNvPr>
            <p:cNvSpPr/>
            <p:nvPr/>
          </p:nvSpPr>
          <p:spPr>
            <a:xfrm>
              <a:off x="1757170" y="1416611"/>
              <a:ext cx="39164" cy="39113"/>
            </a:xfrm>
            <a:custGeom>
              <a:avLst/>
              <a:gdLst>
                <a:gd name="csX0" fmla="*/ 55512 w 111032"/>
                <a:gd name="csY0" fmla="*/ 110890 h 110890"/>
                <a:gd name="csX1" fmla="*/ 111033 w 111032"/>
                <a:gd name="csY1" fmla="*/ 55445 h 110890"/>
                <a:gd name="csX2" fmla="*/ 55512 w 111032"/>
                <a:gd name="csY2" fmla="*/ 0 h 110890"/>
                <a:gd name="csX3" fmla="*/ 0 w 111032"/>
                <a:gd name="csY3" fmla="*/ 55445 h 110890"/>
                <a:gd name="csX4" fmla="*/ 55512 w 111032"/>
                <a:gd name="csY4" fmla="*/ 110890 h 1108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1032" h="110890">
                  <a:moveTo>
                    <a:pt x="55512" y="110890"/>
                  </a:moveTo>
                  <a:cubicBezTo>
                    <a:pt x="86182" y="110890"/>
                    <a:pt x="111033" y="86068"/>
                    <a:pt x="111033" y="55445"/>
                  </a:cubicBezTo>
                  <a:cubicBezTo>
                    <a:pt x="111033" y="24822"/>
                    <a:pt x="86182" y="0"/>
                    <a:pt x="55512" y="0"/>
                  </a:cubicBezTo>
                  <a:cubicBezTo>
                    <a:pt x="24851" y="0"/>
                    <a:pt x="0" y="24822"/>
                    <a:pt x="0" y="55445"/>
                  </a:cubicBezTo>
                  <a:cubicBezTo>
                    <a:pt x="0" y="86068"/>
                    <a:pt x="24851" y="110890"/>
                    <a:pt x="55512" y="11089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7716783-5D2B-0697-8639-BD8FE79D7610}"/>
                </a:ext>
              </a:extLst>
            </p:cNvPr>
            <p:cNvSpPr/>
            <p:nvPr/>
          </p:nvSpPr>
          <p:spPr>
            <a:xfrm>
              <a:off x="1895310" y="1322996"/>
              <a:ext cx="65285" cy="65196"/>
            </a:xfrm>
            <a:custGeom>
              <a:avLst/>
              <a:gdLst>
                <a:gd name="csX0" fmla="*/ 92545 w 185089"/>
                <a:gd name="csY0" fmla="*/ 184837 h 184837"/>
                <a:gd name="csX1" fmla="*/ 185090 w 185089"/>
                <a:gd name="csY1" fmla="*/ 92418 h 184837"/>
                <a:gd name="csX2" fmla="*/ 92545 w 185089"/>
                <a:gd name="csY2" fmla="*/ 0 h 184837"/>
                <a:gd name="csX3" fmla="*/ 0 w 185089"/>
                <a:gd name="csY3" fmla="*/ 92418 h 184837"/>
                <a:gd name="csX4" fmla="*/ 92545 w 185089"/>
                <a:gd name="csY4" fmla="*/ 184837 h 1848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5089" h="184837">
                  <a:moveTo>
                    <a:pt x="92545" y="184837"/>
                  </a:moveTo>
                  <a:cubicBezTo>
                    <a:pt x="143656" y="184837"/>
                    <a:pt x="185090" y="143460"/>
                    <a:pt x="185090" y="92418"/>
                  </a:cubicBezTo>
                  <a:cubicBezTo>
                    <a:pt x="185090" y="41377"/>
                    <a:pt x="143656" y="0"/>
                    <a:pt x="92545" y="0"/>
                  </a:cubicBezTo>
                  <a:cubicBezTo>
                    <a:pt x="41434" y="0"/>
                    <a:pt x="0" y="41377"/>
                    <a:pt x="0" y="92418"/>
                  </a:cubicBezTo>
                  <a:cubicBezTo>
                    <a:pt x="0" y="143460"/>
                    <a:pt x="41434" y="184837"/>
                    <a:pt x="92545" y="18483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33BB017-E2E4-C8E2-FD1E-0479D86BD7CA}"/>
                </a:ext>
              </a:extLst>
            </p:cNvPr>
            <p:cNvSpPr/>
            <p:nvPr/>
          </p:nvSpPr>
          <p:spPr>
            <a:xfrm>
              <a:off x="1832276" y="1066038"/>
              <a:ext cx="49627" cy="49562"/>
            </a:xfrm>
            <a:custGeom>
              <a:avLst/>
              <a:gdLst>
                <a:gd name="csX0" fmla="*/ 138284 w 140696"/>
                <a:gd name="csY0" fmla="*/ 88413 h 140513"/>
                <a:gd name="csX1" fmla="*/ 52139 w 140696"/>
                <a:gd name="csY1" fmla="*/ 138090 h 140513"/>
                <a:gd name="csX2" fmla="*/ 2419 w 140696"/>
                <a:gd name="csY2" fmla="*/ 52061 h 140513"/>
                <a:gd name="csX3" fmla="*/ 88544 w 140696"/>
                <a:gd name="csY3" fmla="*/ 2423 h 140513"/>
                <a:gd name="csX4" fmla="*/ 138284 w 140696"/>
                <a:gd name="csY4" fmla="*/ 88394 h 140513"/>
                <a:gd name="csX5" fmla="*/ 138284 w 140696"/>
                <a:gd name="csY5" fmla="*/ 88413 h 1405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0696" h="140513">
                  <a:moveTo>
                    <a:pt x="138284" y="88413"/>
                  </a:moveTo>
                  <a:cubicBezTo>
                    <a:pt x="128225" y="125914"/>
                    <a:pt x="89658" y="148162"/>
                    <a:pt x="52139" y="138090"/>
                  </a:cubicBezTo>
                  <a:cubicBezTo>
                    <a:pt x="14630" y="128019"/>
                    <a:pt x="-7649" y="89562"/>
                    <a:pt x="2419" y="52061"/>
                  </a:cubicBezTo>
                  <a:cubicBezTo>
                    <a:pt x="12439" y="14599"/>
                    <a:pt x="51025" y="-7649"/>
                    <a:pt x="88544" y="2423"/>
                  </a:cubicBezTo>
                  <a:cubicBezTo>
                    <a:pt x="126072" y="12436"/>
                    <a:pt x="148332" y="50951"/>
                    <a:pt x="138284" y="88394"/>
                  </a:cubicBezTo>
                  <a:lnTo>
                    <a:pt x="138284" y="8841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7CD23E3-866D-1BF6-20CF-30DAD357D3BC}"/>
                </a:ext>
              </a:extLst>
            </p:cNvPr>
            <p:cNvSpPr/>
            <p:nvPr/>
          </p:nvSpPr>
          <p:spPr>
            <a:xfrm>
              <a:off x="1832276" y="1392689"/>
              <a:ext cx="49627" cy="49561"/>
            </a:xfrm>
            <a:custGeom>
              <a:avLst/>
              <a:gdLst>
                <a:gd name="csX0" fmla="*/ 138284 w 140696"/>
                <a:gd name="csY0" fmla="*/ 88414 h 140511"/>
                <a:gd name="csX1" fmla="*/ 52139 w 140696"/>
                <a:gd name="csY1" fmla="*/ 138087 h 140511"/>
                <a:gd name="csX2" fmla="*/ 2419 w 140696"/>
                <a:gd name="csY2" fmla="*/ 52066 h 140511"/>
                <a:gd name="csX3" fmla="*/ 88544 w 140696"/>
                <a:gd name="csY3" fmla="*/ 2422 h 140511"/>
                <a:gd name="csX4" fmla="*/ 138284 w 140696"/>
                <a:gd name="csY4" fmla="*/ 88395 h 140511"/>
                <a:gd name="csX5" fmla="*/ 138284 w 140696"/>
                <a:gd name="csY5" fmla="*/ 88414 h 140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0696" h="140511">
                  <a:moveTo>
                    <a:pt x="138284" y="88414"/>
                  </a:moveTo>
                  <a:cubicBezTo>
                    <a:pt x="128225" y="125914"/>
                    <a:pt x="89658" y="148164"/>
                    <a:pt x="52139" y="138087"/>
                  </a:cubicBezTo>
                  <a:cubicBezTo>
                    <a:pt x="14630" y="128019"/>
                    <a:pt x="-7649" y="89566"/>
                    <a:pt x="2419" y="52066"/>
                  </a:cubicBezTo>
                  <a:cubicBezTo>
                    <a:pt x="12439" y="14595"/>
                    <a:pt x="51025" y="-7646"/>
                    <a:pt x="88544" y="2422"/>
                  </a:cubicBezTo>
                  <a:cubicBezTo>
                    <a:pt x="126072" y="12433"/>
                    <a:pt x="148332" y="50952"/>
                    <a:pt x="138284" y="88395"/>
                  </a:cubicBezTo>
                  <a:lnTo>
                    <a:pt x="138284" y="8841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61A6215-A4E2-6CF5-579C-6D986085D1BA}"/>
                </a:ext>
              </a:extLst>
            </p:cNvPr>
            <p:cNvSpPr/>
            <p:nvPr/>
          </p:nvSpPr>
          <p:spPr>
            <a:xfrm>
              <a:off x="1921762" y="1217279"/>
              <a:ext cx="74264" cy="74174"/>
            </a:xfrm>
            <a:custGeom>
              <a:avLst/>
              <a:gdLst>
                <a:gd name="csX0" fmla="*/ 206719 w 210545"/>
                <a:gd name="csY0" fmla="*/ 133127 h 210290"/>
                <a:gd name="csX1" fmla="*/ 133300 w 210545"/>
                <a:gd name="csY1" fmla="*/ 3819 h 210290"/>
                <a:gd name="csX2" fmla="*/ 3827 w 210545"/>
                <a:gd name="csY2" fmla="*/ 77164 h 210290"/>
                <a:gd name="csX3" fmla="*/ 77245 w 210545"/>
                <a:gd name="csY3" fmla="*/ 206472 h 210290"/>
                <a:gd name="csX4" fmla="*/ 206719 w 210545"/>
                <a:gd name="csY4" fmla="*/ 133127 h 210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0545" h="210290">
                  <a:moveTo>
                    <a:pt x="206719" y="133127"/>
                  </a:moveTo>
                  <a:cubicBezTo>
                    <a:pt x="222197" y="77165"/>
                    <a:pt x="189326" y="19272"/>
                    <a:pt x="133300" y="3819"/>
                  </a:cubicBezTo>
                  <a:cubicBezTo>
                    <a:pt x="77274" y="-11634"/>
                    <a:pt x="19305" y="21203"/>
                    <a:pt x="3827" y="77164"/>
                  </a:cubicBezTo>
                  <a:cubicBezTo>
                    <a:pt x="-11651" y="133126"/>
                    <a:pt x="21219" y="191019"/>
                    <a:pt x="77245" y="206472"/>
                  </a:cubicBezTo>
                  <a:cubicBezTo>
                    <a:pt x="133281" y="221925"/>
                    <a:pt x="191241" y="189087"/>
                    <a:pt x="206719" y="1331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DA783F2-AEE2-1449-2638-2112D44ECBA1}"/>
                </a:ext>
              </a:extLst>
            </p:cNvPr>
            <p:cNvSpPr/>
            <p:nvPr/>
          </p:nvSpPr>
          <p:spPr>
            <a:xfrm>
              <a:off x="988026" y="1099182"/>
              <a:ext cx="865977" cy="316881"/>
            </a:xfrm>
            <a:custGeom>
              <a:avLst/>
              <a:gdLst>
                <a:gd name="csX0" fmla="*/ 832640 w 2455116"/>
                <a:gd name="csY0" fmla="*/ 208210 h 898393"/>
                <a:gd name="csX1" fmla="*/ 953062 w 2455116"/>
                <a:gd name="csY1" fmla="*/ 208210 h 898393"/>
                <a:gd name="csX2" fmla="*/ 953062 w 2455116"/>
                <a:gd name="csY2" fmla="*/ 668745 h 898393"/>
                <a:gd name="csX3" fmla="*/ 832640 w 2455116"/>
                <a:gd name="csY3" fmla="*/ 668745 h 898393"/>
                <a:gd name="csX4" fmla="*/ 832640 w 2455116"/>
                <a:gd name="csY4" fmla="*/ 208210 h 898393"/>
                <a:gd name="csX5" fmla="*/ 905970 w 2455116"/>
                <a:gd name="csY5" fmla="*/ 2391 h 898393"/>
                <a:gd name="csX6" fmla="*/ 821052 w 2455116"/>
                <a:gd name="csY6" fmla="*/ 51328 h 898393"/>
                <a:gd name="csX7" fmla="*/ 870095 w 2455116"/>
                <a:gd name="csY7" fmla="*/ 136149 h 898393"/>
                <a:gd name="csX8" fmla="*/ 955034 w 2455116"/>
                <a:gd name="csY8" fmla="*/ 87154 h 898393"/>
                <a:gd name="csX9" fmla="*/ 905970 w 2455116"/>
                <a:gd name="csY9" fmla="*/ 2372 h 898393"/>
                <a:gd name="csX10" fmla="*/ 905970 w 2455116"/>
                <a:gd name="csY10" fmla="*/ 2391 h 898393"/>
                <a:gd name="csX11" fmla="*/ 1322794 w 2455116"/>
                <a:gd name="csY11" fmla="*/ 678135 h 898393"/>
                <a:gd name="csX12" fmla="*/ 1238250 w 2455116"/>
                <a:gd name="csY12" fmla="*/ 661498 h 898393"/>
                <a:gd name="csX13" fmla="*/ 1177623 w 2455116"/>
                <a:gd name="csY13" fmla="*/ 612464 h 898393"/>
                <a:gd name="csX14" fmla="*/ 1177623 w 2455116"/>
                <a:gd name="csY14" fmla="*/ 898394 h 898393"/>
                <a:gd name="csX15" fmla="*/ 1060609 w 2455116"/>
                <a:gd name="csY15" fmla="*/ 898394 h 898393"/>
                <a:gd name="csX16" fmla="*/ 1060609 w 2455116"/>
                <a:gd name="csY16" fmla="*/ 208210 h 898393"/>
                <a:gd name="csX17" fmla="*/ 1176757 w 2455116"/>
                <a:gd name="csY17" fmla="*/ 208210 h 898393"/>
                <a:gd name="csX18" fmla="*/ 1176757 w 2455116"/>
                <a:gd name="csY18" fmla="*/ 272167 h 898393"/>
                <a:gd name="csX19" fmla="*/ 1237393 w 2455116"/>
                <a:gd name="csY19" fmla="*/ 218437 h 898393"/>
                <a:gd name="csX20" fmla="*/ 1321937 w 2455116"/>
                <a:gd name="csY20" fmla="*/ 198820 h 898393"/>
                <a:gd name="csX21" fmla="*/ 1405633 w 2455116"/>
                <a:gd name="csY21" fmla="*/ 215457 h 898393"/>
                <a:gd name="csX22" fmla="*/ 1476518 w 2455116"/>
                <a:gd name="csY22" fmla="*/ 263653 h 898393"/>
                <a:gd name="csX23" fmla="*/ 1525619 w 2455116"/>
                <a:gd name="csY23" fmla="*/ 339552 h 898393"/>
                <a:gd name="csX24" fmla="*/ 1543984 w 2455116"/>
                <a:gd name="csY24" fmla="*/ 438477 h 898393"/>
                <a:gd name="csX25" fmla="*/ 1525191 w 2455116"/>
                <a:gd name="csY25" fmla="*/ 537831 h 898393"/>
                <a:gd name="csX26" fmla="*/ 1475661 w 2455116"/>
                <a:gd name="csY26" fmla="*/ 613302 h 898393"/>
                <a:gd name="csX27" fmla="*/ 1405195 w 2455116"/>
                <a:gd name="csY27" fmla="*/ 661498 h 898393"/>
                <a:gd name="csX28" fmla="*/ 1322775 w 2455116"/>
                <a:gd name="csY28" fmla="*/ 678135 h 898393"/>
                <a:gd name="csX29" fmla="*/ 1322794 w 2455116"/>
                <a:gd name="csY29" fmla="*/ 678135 h 898393"/>
                <a:gd name="csX30" fmla="*/ 1298877 w 2455116"/>
                <a:gd name="csY30" fmla="*/ 567267 h 898393"/>
                <a:gd name="csX31" fmla="*/ 1348416 w 2455116"/>
                <a:gd name="csY31" fmla="*/ 557040 h 898393"/>
                <a:gd name="csX32" fmla="*/ 1388964 w 2455116"/>
                <a:gd name="csY32" fmla="*/ 529318 h 898393"/>
                <a:gd name="csX33" fmla="*/ 1416301 w 2455116"/>
                <a:gd name="csY33" fmla="*/ 488388 h 898393"/>
                <a:gd name="csX34" fmla="*/ 1426131 w 2455116"/>
                <a:gd name="csY34" fmla="*/ 437640 h 898393"/>
                <a:gd name="csX35" fmla="*/ 1416301 w 2455116"/>
                <a:gd name="csY35" fmla="*/ 386892 h 898393"/>
                <a:gd name="csX36" fmla="*/ 1388964 w 2455116"/>
                <a:gd name="csY36" fmla="*/ 345962 h 898393"/>
                <a:gd name="csX37" fmla="*/ 1348416 w 2455116"/>
                <a:gd name="csY37" fmla="*/ 318239 h 898393"/>
                <a:gd name="csX38" fmla="*/ 1298877 w 2455116"/>
                <a:gd name="csY38" fmla="*/ 308012 h 898393"/>
                <a:gd name="csX39" fmla="*/ 1248061 w 2455116"/>
                <a:gd name="csY39" fmla="*/ 318239 h 898393"/>
                <a:gd name="csX40" fmla="*/ 1207503 w 2455116"/>
                <a:gd name="csY40" fmla="*/ 345962 h 898393"/>
                <a:gd name="csX41" fmla="*/ 1180605 w 2455116"/>
                <a:gd name="csY41" fmla="*/ 387320 h 898393"/>
                <a:gd name="csX42" fmla="*/ 1170794 w 2455116"/>
                <a:gd name="csY42" fmla="*/ 437640 h 898393"/>
                <a:gd name="csX43" fmla="*/ 1180605 w 2455116"/>
                <a:gd name="csY43" fmla="*/ 488388 h 898393"/>
                <a:gd name="csX44" fmla="*/ 1207503 w 2455116"/>
                <a:gd name="csY44" fmla="*/ 529318 h 898393"/>
                <a:gd name="csX45" fmla="*/ 1248061 w 2455116"/>
                <a:gd name="csY45" fmla="*/ 557040 h 898393"/>
                <a:gd name="csX46" fmla="*/ 1298877 w 2455116"/>
                <a:gd name="csY46" fmla="*/ 567267 h 898393"/>
                <a:gd name="csX47" fmla="*/ 1628975 w 2455116"/>
                <a:gd name="csY47" fmla="*/ 208210 h 898393"/>
                <a:gd name="csX48" fmla="*/ 1745123 w 2455116"/>
                <a:gd name="csY48" fmla="*/ 208210 h 898393"/>
                <a:gd name="csX49" fmla="*/ 1745123 w 2455116"/>
                <a:gd name="csY49" fmla="*/ 279005 h 898393"/>
                <a:gd name="csX50" fmla="*/ 1795082 w 2455116"/>
                <a:gd name="csY50" fmla="*/ 218866 h 898393"/>
                <a:gd name="csX51" fmla="*/ 1872377 w 2455116"/>
                <a:gd name="csY51" fmla="*/ 199678 h 898393"/>
                <a:gd name="csX52" fmla="*/ 1915506 w 2455116"/>
                <a:gd name="csY52" fmla="*/ 204801 h 898393"/>
                <a:gd name="csX53" fmla="*/ 1950101 w 2455116"/>
                <a:gd name="csY53" fmla="*/ 217600 h 898393"/>
                <a:gd name="csX54" fmla="*/ 1907391 w 2455116"/>
                <a:gd name="csY54" fmla="*/ 333591 h 898393"/>
                <a:gd name="csX55" fmla="*/ 1881778 w 2455116"/>
                <a:gd name="csY55" fmla="*/ 322078 h 898393"/>
                <a:gd name="csX56" fmla="*/ 1845907 w 2455116"/>
                <a:gd name="csY56" fmla="*/ 317383 h 898393"/>
                <a:gd name="csX57" fmla="*/ 1773317 w 2455116"/>
                <a:gd name="csY57" fmla="*/ 342533 h 898393"/>
                <a:gd name="csX58" fmla="*/ 1745980 w 2455116"/>
                <a:gd name="csY58" fmla="*/ 425697 h 898393"/>
                <a:gd name="csX59" fmla="*/ 1745980 w 2455116"/>
                <a:gd name="csY59" fmla="*/ 668765 h 898393"/>
                <a:gd name="csX60" fmla="*/ 1628975 w 2455116"/>
                <a:gd name="csY60" fmla="*/ 668765 h 898393"/>
                <a:gd name="csX61" fmla="*/ 1628975 w 2455116"/>
                <a:gd name="csY61" fmla="*/ 208229 h 898393"/>
                <a:gd name="csX62" fmla="*/ 1628975 w 2455116"/>
                <a:gd name="csY62" fmla="*/ 208210 h 898393"/>
                <a:gd name="csX63" fmla="*/ 2210857 w 2455116"/>
                <a:gd name="csY63" fmla="*/ 678135 h 898393"/>
                <a:gd name="csX64" fmla="*/ 2114350 w 2455116"/>
                <a:gd name="csY64" fmla="*/ 659374 h 898393"/>
                <a:gd name="csX65" fmla="*/ 2037064 w 2455116"/>
                <a:gd name="csY65" fmla="*/ 607769 h 898393"/>
                <a:gd name="csX66" fmla="*/ 1985820 w 2455116"/>
                <a:gd name="csY66" fmla="*/ 531442 h 898393"/>
                <a:gd name="csX67" fmla="*/ 1967456 w 2455116"/>
                <a:gd name="csY67" fmla="*/ 438477 h 898393"/>
                <a:gd name="csX68" fmla="*/ 1985820 w 2455116"/>
                <a:gd name="csY68" fmla="*/ 345084 h 898393"/>
                <a:gd name="csX69" fmla="*/ 2037064 w 2455116"/>
                <a:gd name="csY69" fmla="*/ 268758 h 898393"/>
                <a:gd name="csX70" fmla="*/ 2114350 w 2455116"/>
                <a:gd name="csY70" fmla="*/ 217581 h 898393"/>
                <a:gd name="csX71" fmla="*/ 2210857 w 2455116"/>
                <a:gd name="csY71" fmla="*/ 198820 h 898393"/>
                <a:gd name="csX72" fmla="*/ 2306936 w 2455116"/>
                <a:gd name="csY72" fmla="*/ 217581 h 898393"/>
                <a:gd name="csX73" fmla="*/ 2384660 w 2455116"/>
                <a:gd name="csY73" fmla="*/ 268758 h 898393"/>
                <a:gd name="csX74" fmla="*/ 2436333 w 2455116"/>
                <a:gd name="csY74" fmla="*/ 345084 h 898393"/>
                <a:gd name="csX75" fmla="*/ 2455117 w 2455116"/>
                <a:gd name="csY75" fmla="*/ 438477 h 898393"/>
                <a:gd name="csX76" fmla="*/ 2436333 w 2455116"/>
                <a:gd name="csY76" fmla="*/ 531442 h 898393"/>
                <a:gd name="csX77" fmla="*/ 2385089 w 2455116"/>
                <a:gd name="csY77" fmla="*/ 607769 h 898393"/>
                <a:gd name="csX78" fmla="*/ 2307793 w 2455116"/>
                <a:gd name="csY78" fmla="*/ 659374 h 898393"/>
                <a:gd name="csX79" fmla="*/ 2210857 w 2455116"/>
                <a:gd name="csY79" fmla="*/ 678135 h 898393"/>
                <a:gd name="csX80" fmla="*/ 2211715 w 2455116"/>
                <a:gd name="csY80" fmla="*/ 566410 h 898393"/>
                <a:gd name="csX81" fmla="*/ 2261245 w 2455116"/>
                <a:gd name="csY81" fmla="*/ 556183 h 898393"/>
                <a:gd name="csX82" fmla="*/ 2301392 w 2455116"/>
                <a:gd name="csY82" fmla="*/ 528889 h 898393"/>
                <a:gd name="csX83" fmla="*/ 2328301 w 2455116"/>
                <a:gd name="csY83" fmla="*/ 488388 h 898393"/>
                <a:gd name="csX84" fmla="*/ 2338131 w 2455116"/>
                <a:gd name="csY84" fmla="*/ 437640 h 898393"/>
                <a:gd name="csX85" fmla="*/ 2328301 w 2455116"/>
                <a:gd name="csY85" fmla="*/ 387320 h 898393"/>
                <a:gd name="csX86" fmla="*/ 2301392 w 2455116"/>
                <a:gd name="csY86" fmla="*/ 346390 h 898393"/>
                <a:gd name="csX87" fmla="*/ 2261245 w 2455116"/>
                <a:gd name="csY87" fmla="*/ 319096 h 898393"/>
                <a:gd name="csX88" fmla="*/ 2211715 w 2455116"/>
                <a:gd name="csY88" fmla="*/ 308849 h 898393"/>
                <a:gd name="csX89" fmla="*/ 2162185 w 2455116"/>
                <a:gd name="csY89" fmla="*/ 319077 h 898393"/>
                <a:gd name="csX90" fmla="*/ 2122037 w 2455116"/>
                <a:gd name="csY90" fmla="*/ 346370 h 898393"/>
                <a:gd name="csX91" fmla="*/ 2095138 w 2455116"/>
                <a:gd name="csY91" fmla="*/ 387300 h 898393"/>
                <a:gd name="csX92" fmla="*/ 2085308 w 2455116"/>
                <a:gd name="csY92" fmla="*/ 437621 h 898393"/>
                <a:gd name="csX93" fmla="*/ 2095138 w 2455116"/>
                <a:gd name="csY93" fmla="*/ 488369 h 898393"/>
                <a:gd name="csX94" fmla="*/ 2122037 w 2455116"/>
                <a:gd name="csY94" fmla="*/ 528870 h 898393"/>
                <a:gd name="csX95" fmla="*/ 2162185 w 2455116"/>
                <a:gd name="csY95" fmla="*/ 556163 h 898393"/>
                <a:gd name="csX96" fmla="*/ 2211715 w 2455116"/>
                <a:gd name="csY96" fmla="*/ 566391 h 898393"/>
                <a:gd name="csX97" fmla="*/ 2211715 w 2455116"/>
                <a:gd name="csY97" fmla="*/ 566410 h 898393"/>
                <a:gd name="csX98" fmla="*/ 0 w 2455116"/>
                <a:gd name="csY98" fmla="*/ 208054 h 898393"/>
                <a:gd name="csX99" fmla="*/ 119447 w 2455116"/>
                <a:gd name="csY99" fmla="*/ 208054 h 898393"/>
                <a:gd name="csX100" fmla="*/ 212442 w 2455116"/>
                <a:gd name="csY100" fmla="*/ 501928 h 898393"/>
                <a:gd name="csX101" fmla="*/ 321648 w 2455116"/>
                <a:gd name="csY101" fmla="*/ 208074 h 898393"/>
                <a:gd name="csX102" fmla="*/ 426581 w 2455116"/>
                <a:gd name="csY102" fmla="*/ 208074 h 898393"/>
                <a:gd name="csX103" fmla="*/ 534090 w 2455116"/>
                <a:gd name="csY103" fmla="*/ 501947 h 898393"/>
                <a:gd name="csX104" fmla="*/ 630498 w 2455116"/>
                <a:gd name="csY104" fmla="*/ 208093 h 898393"/>
                <a:gd name="csX105" fmla="*/ 749945 w 2455116"/>
                <a:gd name="csY105" fmla="*/ 208093 h 898393"/>
                <a:gd name="csX106" fmla="*/ 593804 w 2455116"/>
                <a:gd name="csY106" fmla="*/ 668180 h 898393"/>
                <a:gd name="csX107" fmla="*/ 482881 w 2455116"/>
                <a:gd name="csY107" fmla="*/ 668180 h 898393"/>
                <a:gd name="csX108" fmla="*/ 372817 w 2455116"/>
                <a:gd name="csY108" fmla="*/ 368267 h 898393"/>
                <a:gd name="csX109" fmla="*/ 261895 w 2455116"/>
                <a:gd name="csY109" fmla="*/ 668180 h 898393"/>
                <a:gd name="csX110" fmla="*/ 149275 w 2455116"/>
                <a:gd name="csY110" fmla="*/ 668180 h 898393"/>
                <a:gd name="csX111" fmla="*/ 0 w 2455116"/>
                <a:gd name="csY111" fmla="*/ 208054 h 898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</a:cxnLst>
              <a:rect l="l" t="t" r="r" b="b"/>
              <a:pathLst>
                <a:path w="2455116" h="898393">
                  <a:moveTo>
                    <a:pt x="832640" y="208210"/>
                  </a:moveTo>
                  <a:lnTo>
                    <a:pt x="953062" y="208210"/>
                  </a:lnTo>
                  <a:lnTo>
                    <a:pt x="953062" y="668745"/>
                  </a:lnTo>
                  <a:lnTo>
                    <a:pt x="832640" y="668745"/>
                  </a:lnTo>
                  <a:lnTo>
                    <a:pt x="832640" y="208210"/>
                  </a:lnTo>
                  <a:close/>
                  <a:moveTo>
                    <a:pt x="905970" y="2391"/>
                  </a:moveTo>
                  <a:cubicBezTo>
                    <a:pt x="869003" y="-7544"/>
                    <a:pt x="830943" y="14392"/>
                    <a:pt x="821052" y="51328"/>
                  </a:cubicBezTo>
                  <a:cubicBezTo>
                    <a:pt x="811142" y="88304"/>
                    <a:pt x="833108" y="126233"/>
                    <a:pt x="870095" y="136149"/>
                  </a:cubicBezTo>
                  <a:cubicBezTo>
                    <a:pt x="907082" y="146065"/>
                    <a:pt x="945103" y="124129"/>
                    <a:pt x="955034" y="87154"/>
                  </a:cubicBezTo>
                  <a:cubicBezTo>
                    <a:pt x="964921" y="50237"/>
                    <a:pt x="942977" y="12249"/>
                    <a:pt x="905970" y="2372"/>
                  </a:cubicBezTo>
                  <a:lnTo>
                    <a:pt x="905970" y="2391"/>
                  </a:lnTo>
                  <a:close/>
                  <a:moveTo>
                    <a:pt x="1322794" y="678135"/>
                  </a:moveTo>
                  <a:cubicBezTo>
                    <a:pt x="1291485" y="678135"/>
                    <a:pt x="1263301" y="672583"/>
                    <a:pt x="1238250" y="661498"/>
                  </a:cubicBezTo>
                  <a:cubicBezTo>
                    <a:pt x="1213180" y="650413"/>
                    <a:pt x="1192987" y="634068"/>
                    <a:pt x="1177623" y="612464"/>
                  </a:cubicBezTo>
                  <a:lnTo>
                    <a:pt x="1177623" y="898394"/>
                  </a:lnTo>
                  <a:lnTo>
                    <a:pt x="1060609" y="898394"/>
                  </a:lnTo>
                  <a:lnTo>
                    <a:pt x="1060609" y="208210"/>
                  </a:lnTo>
                  <a:lnTo>
                    <a:pt x="1176757" y="208210"/>
                  </a:lnTo>
                  <a:lnTo>
                    <a:pt x="1176757" y="272167"/>
                  </a:lnTo>
                  <a:cubicBezTo>
                    <a:pt x="1192130" y="249433"/>
                    <a:pt x="1212342" y="231529"/>
                    <a:pt x="1237393" y="218437"/>
                  </a:cubicBezTo>
                  <a:cubicBezTo>
                    <a:pt x="1262443" y="205366"/>
                    <a:pt x="1290628" y="198820"/>
                    <a:pt x="1321937" y="198820"/>
                  </a:cubicBezTo>
                  <a:cubicBezTo>
                    <a:pt x="1350969" y="198820"/>
                    <a:pt x="1378868" y="204353"/>
                    <a:pt x="1405633" y="215457"/>
                  </a:cubicBezTo>
                  <a:cubicBezTo>
                    <a:pt x="1432398" y="226542"/>
                    <a:pt x="1456020" y="242614"/>
                    <a:pt x="1476518" y="263653"/>
                  </a:cubicBezTo>
                  <a:cubicBezTo>
                    <a:pt x="1497025" y="284693"/>
                    <a:pt x="1513370" y="309999"/>
                    <a:pt x="1525619" y="339552"/>
                  </a:cubicBezTo>
                  <a:cubicBezTo>
                    <a:pt x="1537849" y="369125"/>
                    <a:pt x="1543984" y="402106"/>
                    <a:pt x="1543984" y="438477"/>
                  </a:cubicBezTo>
                  <a:cubicBezTo>
                    <a:pt x="1543984" y="475453"/>
                    <a:pt x="1537716" y="508552"/>
                    <a:pt x="1525191" y="537831"/>
                  </a:cubicBezTo>
                  <a:cubicBezTo>
                    <a:pt x="1512665" y="567131"/>
                    <a:pt x="1496168" y="592281"/>
                    <a:pt x="1475661" y="613302"/>
                  </a:cubicBezTo>
                  <a:cubicBezTo>
                    <a:pt x="1455163" y="634342"/>
                    <a:pt x="1431674" y="650394"/>
                    <a:pt x="1405195" y="661498"/>
                  </a:cubicBezTo>
                  <a:cubicBezTo>
                    <a:pt x="1378725" y="672583"/>
                    <a:pt x="1351236" y="678135"/>
                    <a:pt x="1322775" y="678135"/>
                  </a:cubicBezTo>
                  <a:lnTo>
                    <a:pt x="1322794" y="678135"/>
                  </a:lnTo>
                  <a:close/>
                  <a:moveTo>
                    <a:pt x="1298877" y="567267"/>
                  </a:moveTo>
                  <a:cubicBezTo>
                    <a:pt x="1316517" y="567267"/>
                    <a:pt x="1333043" y="563858"/>
                    <a:pt x="1348416" y="557040"/>
                  </a:cubicBezTo>
                  <a:cubicBezTo>
                    <a:pt x="1363780" y="550222"/>
                    <a:pt x="1377306" y="540987"/>
                    <a:pt x="1388964" y="529318"/>
                  </a:cubicBezTo>
                  <a:cubicBezTo>
                    <a:pt x="1400632" y="517669"/>
                    <a:pt x="1409748" y="504032"/>
                    <a:pt x="1416301" y="488388"/>
                  </a:cubicBezTo>
                  <a:cubicBezTo>
                    <a:pt x="1422835" y="472764"/>
                    <a:pt x="1426131" y="455835"/>
                    <a:pt x="1426131" y="437640"/>
                  </a:cubicBezTo>
                  <a:cubicBezTo>
                    <a:pt x="1426131" y="419444"/>
                    <a:pt x="1422854" y="402535"/>
                    <a:pt x="1416301" y="386892"/>
                  </a:cubicBezTo>
                  <a:cubicBezTo>
                    <a:pt x="1409748" y="371268"/>
                    <a:pt x="1400632" y="357611"/>
                    <a:pt x="1388964" y="345962"/>
                  </a:cubicBezTo>
                  <a:cubicBezTo>
                    <a:pt x="1377286" y="334312"/>
                    <a:pt x="1363780" y="325058"/>
                    <a:pt x="1348416" y="318239"/>
                  </a:cubicBezTo>
                  <a:cubicBezTo>
                    <a:pt x="1333043" y="311421"/>
                    <a:pt x="1316517" y="308012"/>
                    <a:pt x="1298877" y="308012"/>
                  </a:cubicBezTo>
                  <a:cubicBezTo>
                    <a:pt x="1280665" y="308012"/>
                    <a:pt x="1263729" y="311421"/>
                    <a:pt x="1248061" y="318239"/>
                  </a:cubicBezTo>
                  <a:cubicBezTo>
                    <a:pt x="1232402" y="325058"/>
                    <a:pt x="1218876" y="334312"/>
                    <a:pt x="1207503" y="345962"/>
                  </a:cubicBezTo>
                  <a:cubicBezTo>
                    <a:pt x="1196111" y="357631"/>
                    <a:pt x="1187139" y="371423"/>
                    <a:pt x="1180605" y="387320"/>
                  </a:cubicBezTo>
                  <a:cubicBezTo>
                    <a:pt x="1174052" y="403236"/>
                    <a:pt x="1170794" y="420029"/>
                    <a:pt x="1170794" y="437640"/>
                  </a:cubicBezTo>
                  <a:cubicBezTo>
                    <a:pt x="1170794" y="455835"/>
                    <a:pt x="1174052" y="472764"/>
                    <a:pt x="1180605" y="488388"/>
                  </a:cubicBezTo>
                  <a:cubicBezTo>
                    <a:pt x="1187139" y="504032"/>
                    <a:pt x="1196111" y="517669"/>
                    <a:pt x="1207503" y="529318"/>
                  </a:cubicBezTo>
                  <a:cubicBezTo>
                    <a:pt x="1218876" y="540987"/>
                    <a:pt x="1232402" y="550222"/>
                    <a:pt x="1248061" y="557040"/>
                  </a:cubicBezTo>
                  <a:cubicBezTo>
                    <a:pt x="1263710" y="563858"/>
                    <a:pt x="1280636" y="567267"/>
                    <a:pt x="1298877" y="567267"/>
                  </a:cubicBezTo>
                  <a:close/>
                  <a:moveTo>
                    <a:pt x="1628975" y="208210"/>
                  </a:moveTo>
                  <a:lnTo>
                    <a:pt x="1745123" y="208210"/>
                  </a:lnTo>
                  <a:lnTo>
                    <a:pt x="1745123" y="279005"/>
                  </a:lnTo>
                  <a:cubicBezTo>
                    <a:pt x="1756515" y="251712"/>
                    <a:pt x="1773155" y="231666"/>
                    <a:pt x="1795082" y="218866"/>
                  </a:cubicBezTo>
                  <a:cubicBezTo>
                    <a:pt x="1816989" y="206067"/>
                    <a:pt x="1842764" y="199678"/>
                    <a:pt x="1872377" y="199678"/>
                  </a:cubicBezTo>
                  <a:cubicBezTo>
                    <a:pt x="1887750" y="199678"/>
                    <a:pt x="1902123" y="201372"/>
                    <a:pt x="1915506" y="204801"/>
                  </a:cubicBezTo>
                  <a:cubicBezTo>
                    <a:pt x="1928870" y="208210"/>
                    <a:pt x="1940404" y="212476"/>
                    <a:pt x="1950101" y="217600"/>
                  </a:cubicBezTo>
                  <a:lnTo>
                    <a:pt x="1907391" y="333591"/>
                  </a:lnTo>
                  <a:cubicBezTo>
                    <a:pt x="1901133" y="329052"/>
                    <a:pt x="1892589" y="325214"/>
                    <a:pt x="1881778" y="322078"/>
                  </a:cubicBezTo>
                  <a:cubicBezTo>
                    <a:pt x="1870948" y="318960"/>
                    <a:pt x="1858994" y="317383"/>
                    <a:pt x="1845907" y="317383"/>
                  </a:cubicBezTo>
                  <a:cubicBezTo>
                    <a:pt x="1815722" y="317383"/>
                    <a:pt x="1791519" y="325779"/>
                    <a:pt x="1773317" y="342533"/>
                  </a:cubicBezTo>
                  <a:cubicBezTo>
                    <a:pt x="1755096" y="359306"/>
                    <a:pt x="1745980" y="387028"/>
                    <a:pt x="1745980" y="425697"/>
                  </a:cubicBezTo>
                  <a:lnTo>
                    <a:pt x="1745980" y="668765"/>
                  </a:lnTo>
                  <a:lnTo>
                    <a:pt x="1628975" y="668765"/>
                  </a:lnTo>
                  <a:lnTo>
                    <a:pt x="1628975" y="208229"/>
                  </a:lnTo>
                  <a:lnTo>
                    <a:pt x="1628975" y="208210"/>
                  </a:lnTo>
                  <a:close/>
                  <a:moveTo>
                    <a:pt x="2210857" y="678135"/>
                  </a:moveTo>
                  <a:cubicBezTo>
                    <a:pt x="2176120" y="678135"/>
                    <a:pt x="2143944" y="671882"/>
                    <a:pt x="2114350" y="659374"/>
                  </a:cubicBezTo>
                  <a:cubicBezTo>
                    <a:pt x="2084737" y="646868"/>
                    <a:pt x="2058972" y="629666"/>
                    <a:pt x="2037064" y="607769"/>
                  </a:cubicBezTo>
                  <a:cubicBezTo>
                    <a:pt x="2015138" y="585892"/>
                    <a:pt x="1998069" y="560430"/>
                    <a:pt x="1985820" y="531442"/>
                  </a:cubicBezTo>
                  <a:cubicBezTo>
                    <a:pt x="1973561" y="502454"/>
                    <a:pt x="1967456" y="471459"/>
                    <a:pt x="1967456" y="438477"/>
                  </a:cubicBezTo>
                  <a:cubicBezTo>
                    <a:pt x="1967456" y="405516"/>
                    <a:pt x="1973561" y="374384"/>
                    <a:pt x="1985820" y="345084"/>
                  </a:cubicBezTo>
                  <a:cubicBezTo>
                    <a:pt x="1998050" y="315805"/>
                    <a:pt x="2015138" y="290362"/>
                    <a:pt x="2037064" y="268758"/>
                  </a:cubicBezTo>
                  <a:cubicBezTo>
                    <a:pt x="2058972" y="247153"/>
                    <a:pt x="2084737" y="230107"/>
                    <a:pt x="2114350" y="217581"/>
                  </a:cubicBezTo>
                  <a:cubicBezTo>
                    <a:pt x="2143944" y="205074"/>
                    <a:pt x="2176139" y="198820"/>
                    <a:pt x="2210857" y="198820"/>
                  </a:cubicBezTo>
                  <a:cubicBezTo>
                    <a:pt x="2245014" y="198820"/>
                    <a:pt x="2277047" y="205074"/>
                    <a:pt x="2306936" y="217581"/>
                  </a:cubicBezTo>
                  <a:cubicBezTo>
                    <a:pt x="2336826" y="230087"/>
                    <a:pt x="2362734" y="247153"/>
                    <a:pt x="2384660" y="268758"/>
                  </a:cubicBezTo>
                  <a:cubicBezTo>
                    <a:pt x="2406568" y="290362"/>
                    <a:pt x="2423789" y="315805"/>
                    <a:pt x="2436333" y="345084"/>
                  </a:cubicBezTo>
                  <a:cubicBezTo>
                    <a:pt x="2448858" y="374365"/>
                    <a:pt x="2455117" y="405496"/>
                    <a:pt x="2455117" y="438477"/>
                  </a:cubicBezTo>
                  <a:cubicBezTo>
                    <a:pt x="2455117" y="471459"/>
                    <a:pt x="2448858" y="502435"/>
                    <a:pt x="2436333" y="531442"/>
                  </a:cubicBezTo>
                  <a:cubicBezTo>
                    <a:pt x="2423808" y="560450"/>
                    <a:pt x="2406720" y="585892"/>
                    <a:pt x="2385089" y="607769"/>
                  </a:cubicBezTo>
                  <a:cubicBezTo>
                    <a:pt x="2363429" y="629666"/>
                    <a:pt x="2337683" y="646868"/>
                    <a:pt x="2307793" y="659374"/>
                  </a:cubicBezTo>
                  <a:cubicBezTo>
                    <a:pt x="2277904" y="671882"/>
                    <a:pt x="2245586" y="678135"/>
                    <a:pt x="2210857" y="678135"/>
                  </a:cubicBezTo>
                  <a:close/>
                  <a:moveTo>
                    <a:pt x="2211715" y="566410"/>
                  </a:moveTo>
                  <a:cubicBezTo>
                    <a:pt x="2229355" y="566410"/>
                    <a:pt x="2245881" y="563001"/>
                    <a:pt x="2261245" y="556183"/>
                  </a:cubicBezTo>
                  <a:cubicBezTo>
                    <a:pt x="2276618" y="549364"/>
                    <a:pt x="2289982" y="540267"/>
                    <a:pt x="2301392" y="528889"/>
                  </a:cubicBezTo>
                  <a:cubicBezTo>
                    <a:pt x="2312784" y="517532"/>
                    <a:pt x="2321748" y="504032"/>
                    <a:pt x="2328301" y="488388"/>
                  </a:cubicBezTo>
                  <a:cubicBezTo>
                    <a:pt x="2334835" y="472764"/>
                    <a:pt x="2338131" y="455835"/>
                    <a:pt x="2338131" y="437640"/>
                  </a:cubicBezTo>
                  <a:cubicBezTo>
                    <a:pt x="2338131" y="420029"/>
                    <a:pt x="2334854" y="403236"/>
                    <a:pt x="2328301" y="387320"/>
                  </a:cubicBezTo>
                  <a:cubicBezTo>
                    <a:pt x="2321748" y="371404"/>
                    <a:pt x="2312784" y="357767"/>
                    <a:pt x="2301392" y="346390"/>
                  </a:cubicBezTo>
                  <a:cubicBezTo>
                    <a:pt x="2290001" y="335033"/>
                    <a:pt x="2276618" y="325915"/>
                    <a:pt x="2261245" y="319096"/>
                  </a:cubicBezTo>
                  <a:cubicBezTo>
                    <a:pt x="2245881" y="312278"/>
                    <a:pt x="2229355" y="308849"/>
                    <a:pt x="2211715" y="308849"/>
                  </a:cubicBezTo>
                  <a:cubicBezTo>
                    <a:pt x="2194065" y="308849"/>
                    <a:pt x="2177558" y="312259"/>
                    <a:pt x="2162185" y="319077"/>
                  </a:cubicBezTo>
                  <a:cubicBezTo>
                    <a:pt x="2146811" y="325895"/>
                    <a:pt x="2133429" y="334994"/>
                    <a:pt x="2122037" y="346370"/>
                  </a:cubicBezTo>
                  <a:cubicBezTo>
                    <a:pt x="2110645" y="357748"/>
                    <a:pt x="2101672" y="371404"/>
                    <a:pt x="2095138" y="387300"/>
                  </a:cubicBezTo>
                  <a:cubicBezTo>
                    <a:pt x="2088585" y="403217"/>
                    <a:pt x="2085308" y="420009"/>
                    <a:pt x="2085308" y="437621"/>
                  </a:cubicBezTo>
                  <a:cubicBezTo>
                    <a:pt x="2085308" y="455815"/>
                    <a:pt x="2088585" y="472745"/>
                    <a:pt x="2095138" y="488369"/>
                  </a:cubicBezTo>
                  <a:cubicBezTo>
                    <a:pt x="2101672" y="504012"/>
                    <a:pt x="2110645" y="517513"/>
                    <a:pt x="2122037" y="528870"/>
                  </a:cubicBezTo>
                  <a:cubicBezTo>
                    <a:pt x="2133410" y="540247"/>
                    <a:pt x="2146811" y="549345"/>
                    <a:pt x="2162185" y="556163"/>
                  </a:cubicBezTo>
                  <a:cubicBezTo>
                    <a:pt x="2177558" y="562982"/>
                    <a:pt x="2194065" y="566391"/>
                    <a:pt x="2211715" y="566391"/>
                  </a:cubicBezTo>
                  <a:lnTo>
                    <a:pt x="2211715" y="566410"/>
                  </a:lnTo>
                  <a:close/>
                  <a:moveTo>
                    <a:pt x="0" y="208054"/>
                  </a:moveTo>
                  <a:lnTo>
                    <a:pt x="119447" y="208054"/>
                  </a:lnTo>
                  <a:lnTo>
                    <a:pt x="212442" y="501928"/>
                  </a:lnTo>
                  <a:lnTo>
                    <a:pt x="321648" y="208074"/>
                  </a:lnTo>
                  <a:lnTo>
                    <a:pt x="426581" y="208074"/>
                  </a:lnTo>
                  <a:lnTo>
                    <a:pt x="534090" y="501947"/>
                  </a:lnTo>
                  <a:lnTo>
                    <a:pt x="630498" y="208093"/>
                  </a:lnTo>
                  <a:lnTo>
                    <a:pt x="749945" y="208093"/>
                  </a:lnTo>
                  <a:lnTo>
                    <a:pt x="593804" y="668180"/>
                  </a:lnTo>
                  <a:lnTo>
                    <a:pt x="482881" y="668180"/>
                  </a:lnTo>
                  <a:lnTo>
                    <a:pt x="372817" y="368267"/>
                  </a:lnTo>
                  <a:lnTo>
                    <a:pt x="261895" y="668180"/>
                  </a:lnTo>
                  <a:lnTo>
                    <a:pt x="149275" y="668180"/>
                  </a:lnTo>
                  <a:lnTo>
                    <a:pt x="0" y="2080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14803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69B984-E41C-50E5-3B35-5965064AB13B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223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- General Use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  <p:sldLayoutId id="2147483675" r:id="rId14"/>
    <p:sldLayoutId id="2147483676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FA1C794B-69EA-48F8-84AB-6C4A16A92234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7/7/2026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5EFC61F-4E1E-4BF5-9032-1529612278DD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46BC08-6071-B594-0536-A56D86BA4B13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223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- General Use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Relationship Id="rId5" Type="http://schemas.openxmlformats.org/officeDocument/2006/relationships/image" Target="../media/image4.jpeg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1618E1-A2B7-1BD1-8627-C61FA4C1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5186440"/>
            <a:ext cx="9346323" cy="38251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b="0">
                <a:latin typeface="Tenorite"/>
              </a:rPr>
              <a:t>Evidence-driven root cause analysis for Indoor Radio Unit failures</a:t>
            </a:r>
          </a:p>
          <a:p>
            <a:endParaRPr lang="en-US" b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FA23A72-4BA8-4CD0-9F63-A4F2B4078BEE}"/>
              </a:ext>
            </a:extLst>
          </p:cNvPr>
          <p:cNvSpPr txBox="1">
            <a:spLocks/>
          </p:cNvSpPr>
          <p:nvPr/>
        </p:nvSpPr>
        <p:spPr>
          <a:xfrm>
            <a:off x="1813379" y="1926772"/>
            <a:ext cx="6230437" cy="300091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7200" b="1" kern="1200">
                <a:solidFill>
                  <a:schemeClr val="bg1"/>
                </a:solidFill>
                <a:latin typeface="Tenorite" pitchFamily="2" charset="0"/>
                <a:ea typeface="+mj-ea"/>
                <a:cs typeface="+mj-cs"/>
              </a:defRPr>
            </a:lvl1pPr>
          </a:lstStyle>
          <a:p>
            <a:r>
              <a:rPr lang="en-US">
                <a:latin typeface="Tenorite"/>
              </a:rPr>
              <a:t>AI-Powered Log Analyzer Agent</a:t>
            </a:r>
            <a:endParaRPr lang="en-US" b="0">
              <a:latin typeface="Tenorite"/>
            </a:endParaRPr>
          </a:p>
          <a:p>
            <a:endParaRPr lang="en-US">
              <a:solidFill>
                <a:srgbClr val="FFFFFF"/>
              </a:solidFill>
              <a:latin typeface="Tenorite"/>
            </a:endParaRPr>
          </a:p>
          <a:p>
            <a:endParaRPr lang="en-US" b="0">
              <a:solidFill>
                <a:srgbClr val="000000"/>
              </a:solidFill>
              <a:latin typeface="Tenorite"/>
            </a:endParaRPr>
          </a:p>
          <a:p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1134981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">
            <a:extLst>
              <a:ext uri="{FF2B5EF4-FFF2-40B4-BE49-F238E27FC236}">
                <a16:creationId xmlns:a16="http://schemas.microsoft.com/office/drawing/2014/main" id="{E80215CB-41F2-6B49-DAB4-D0C8038E3D3A}"/>
              </a:ext>
            </a:extLst>
          </p:cNvPr>
          <p:cNvSpPr/>
          <p:nvPr/>
        </p:nvSpPr>
        <p:spPr>
          <a:xfrm>
            <a:off x="424489" y="2126530"/>
            <a:ext cx="3600000" cy="4050007"/>
          </a:xfrm>
          <a:prstGeom prst="roundRect">
            <a:avLst>
              <a:gd name="adj" fmla="val 3372"/>
            </a:avLst>
          </a:prstGeom>
          <a:solidFill>
            <a:srgbClr val="BCB6C6">
              <a:alpha val="10000"/>
            </a:srgbClr>
          </a:solidFill>
          <a:ln w="12700">
            <a:miter lim="400000"/>
          </a:ln>
        </p:spPr>
        <p:txBody>
          <a:bodyPr lIns="27725" tIns="27725" rIns="27725" bIns="27725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 lang="en-US" sz="1092">
              <a:latin typeface="Tenorite" pitchFamily="2" charset="0"/>
            </a:endParaRPr>
          </a:p>
        </p:txBody>
      </p:sp>
      <p:sp>
        <p:nvSpPr>
          <p:cNvPr id="16" name="Rectángulo">
            <a:extLst>
              <a:ext uri="{FF2B5EF4-FFF2-40B4-BE49-F238E27FC236}">
                <a16:creationId xmlns:a16="http://schemas.microsoft.com/office/drawing/2014/main" id="{077B751D-BD54-DB26-7B05-E5B0387A1582}"/>
              </a:ext>
            </a:extLst>
          </p:cNvPr>
          <p:cNvSpPr/>
          <p:nvPr/>
        </p:nvSpPr>
        <p:spPr>
          <a:xfrm>
            <a:off x="4263576" y="2126530"/>
            <a:ext cx="3600000" cy="4050007"/>
          </a:xfrm>
          <a:prstGeom prst="roundRect">
            <a:avLst>
              <a:gd name="adj" fmla="val 3372"/>
            </a:avLst>
          </a:prstGeom>
          <a:solidFill>
            <a:srgbClr val="BCB6C6">
              <a:alpha val="10000"/>
            </a:srgbClr>
          </a:solidFill>
          <a:ln w="12700">
            <a:miter lim="400000"/>
          </a:ln>
        </p:spPr>
        <p:txBody>
          <a:bodyPr lIns="27725" tIns="27725" rIns="27725" bIns="27725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 lang="en-US" sz="1092">
              <a:latin typeface="Tenorite" pitchFamily="2" charset="0"/>
            </a:endParaRPr>
          </a:p>
        </p:txBody>
      </p:sp>
      <p:sp>
        <p:nvSpPr>
          <p:cNvPr id="17" name="Rectángulo">
            <a:extLst>
              <a:ext uri="{FF2B5EF4-FFF2-40B4-BE49-F238E27FC236}">
                <a16:creationId xmlns:a16="http://schemas.microsoft.com/office/drawing/2014/main" id="{2CBAEAE0-1C3A-F5C0-0871-023624B9F52F}"/>
              </a:ext>
            </a:extLst>
          </p:cNvPr>
          <p:cNvSpPr/>
          <p:nvPr/>
        </p:nvSpPr>
        <p:spPr>
          <a:xfrm>
            <a:off x="8096425" y="2126530"/>
            <a:ext cx="3600000" cy="4050007"/>
          </a:xfrm>
          <a:prstGeom prst="roundRect">
            <a:avLst>
              <a:gd name="adj" fmla="val 3372"/>
            </a:avLst>
          </a:prstGeom>
          <a:solidFill>
            <a:srgbClr val="BCB6C6">
              <a:alpha val="10000"/>
            </a:srgbClr>
          </a:solidFill>
          <a:ln w="12700">
            <a:miter lim="400000"/>
          </a:ln>
        </p:spPr>
        <p:txBody>
          <a:bodyPr lIns="27725" tIns="27725" rIns="27725" bIns="27725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 lang="en-US" sz="1092">
              <a:latin typeface="Tenorite" pitchFamily="2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FFDD1525-5920-44C5-5ADE-5A9930594D06}"/>
              </a:ext>
            </a:extLst>
          </p:cNvPr>
          <p:cNvSpPr txBox="1"/>
          <p:nvPr/>
        </p:nvSpPr>
        <p:spPr>
          <a:xfrm>
            <a:off x="699568" y="2327265"/>
            <a:ext cx="3294110" cy="1592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7725" tIns="27725" rIns="27725" bIns="27725" anchor="t">
            <a:spAutoFit/>
          </a:bodyPr>
          <a:lstStyle>
            <a:lvl1pPr indent="35993">
              <a:lnSpc>
                <a:spcPts val="2500"/>
              </a:lnSpc>
              <a:spcBef>
                <a:spcPts val="600"/>
              </a:spcBef>
              <a:defRPr sz="2100">
                <a:latin typeface="Proxima Nova Rg"/>
                <a:ea typeface="Proxima Nova Rg"/>
                <a:cs typeface="Proxima Nova Rg"/>
                <a:sym typeface="Proxima Nova"/>
              </a:defRPr>
            </a:lvl1pPr>
          </a:lstStyle>
          <a:p>
            <a:pPr indent="0"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</a:pPr>
            <a:r>
              <a:rPr lang="en-US" sz="1400" dirty="0">
                <a:latin typeface="Tenorite"/>
              </a:rPr>
              <a:t>• </a:t>
            </a:r>
            <a:r>
              <a:rPr lang="en-US" sz="1400" dirty="0" err="1">
                <a:latin typeface="Tenorite"/>
              </a:rPr>
              <a:t>radiosw</a:t>
            </a:r>
            <a:r>
              <a:rPr lang="en-US" sz="1400" dirty="0">
                <a:latin typeface="Tenorite"/>
              </a:rPr>
              <a:t>  — product firmware</a:t>
            </a:r>
            <a:endParaRPr lang="en-US" sz="1400">
              <a:latin typeface="Tenorite"/>
            </a:endParaRPr>
          </a:p>
          <a:p>
            <a:pPr indent="0"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</a:pPr>
            <a:r>
              <a:rPr lang="en-US" sz="1400" dirty="0">
                <a:latin typeface="Tenorite"/>
              </a:rPr>
              <a:t>• </a:t>
            </a:r>
            <a:r>
              <a:rPr lang="en-US" sz="1400" dirty="0" err="1">
                <a:latin typeface="Tenorite"/>
              </a:rPr>
              <a:t>elvis-tc</a:t>
            </a:r>
            <a:r>
              <a:rPr lang="en-US" sz="1400" dirty="0">
                <a:latin typeface="Tenorite"/>
              </a:rPr>
              <a:t> (Java) — test cases</a:t>
            </a:r>
            <a:endParaRPr lang="en-US" sz="1400">
              <a:latin typeface="Tenorite"/>
            </a:endParaRPr>
          </a:p>
          <a:p>
            <a:pPr indent="0"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</a:pPr>
            <a:r>
              <a:rPr lang="en-US" sz="1400" dirty="0">
                <a:latin typeface="Tenorite"/>
              </a:rPr>
              <a:t>• </a:t>
            </a:r>
            <a:r>
              <a:rPr lang="en-US" sz="1400" dirty="0" err="1">
                <a:latin typeface="Tenorite"/>
              </a:rPr>
              <a:t>elvis-fw</a:t>
            </a:r>
            <a:r>
              <a:rPr lang="en-US" sz="1400" dirty="0">
                <a:latin typeface="Tenorite"/>
              </a:rPr>
              <a:t> (Java) — test framework</a:t>
            </a:r>
            <a:endParaRPr lang="en-US" sz="1400">
              <a:latin typeface="Tenorite"/>
            </a:endParaRPr>
          </a:p>
          <a:p>
            <a:pPr indent="0"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</a:pPr>
            <a:r>
              <a:rPr lang="en-US" sz="1400">
                <a:latin typeface="Tenorite"/>
              </a:rPr>
              <a:t>• Jira, Gerrit, Jenkins, Visualizer, ci-executor</a:t>
            </a:r>
          </a:p>
          <a:p>
            <a:pPr indent="0">
              <a:lnSpc>
                <a:spcPct val="100000"/>
              </a:lnSpc>
            </a:pPr>
            <a:endParaRPr lang="en-US" sz="1400" dirty="0">
              <a:latin typeface="Tenorite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EFA885-31F1-28B3-8B77-344388713685}"/>
              </a:ext>
            </a:extLst>
          </p:cNvPr>
          <p:cNvSpPr txBox="1"/>
          <p:nvPr/>
        </p:nvSpPr>
        <p:spPr>
          <a:xfrm>
            <a:off x="8323353" y="2327265"/>
            <a:ext cx="3156238" cy="2507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7725" tIns="27725" rIns="27725" bIns="27725" anchor="t">
            <a:spAutoFit/>
          </a:bodyPr>
          <a:lstStyle>
            <a:lvl1pPr indent="35993">
              <a:lnSpc>
                <a:spcPts val="2500"/>
              </a:lnSpc>
              <a:spcBef>
                <a:spcPts val="600"/>
              </a:spcBef>
              <a:defRPr sz="2100">
                <a:latin typeface="Proxima Nova Rg"/>
                <a:ea typeface="Proxima Nova Rg"/>
                <a:cs typeface="Proxima Nova Rg"/>
                <a:sym typeface="Proxima Nova"/>
              </a:defRPr>
            </a:lvl1pPr>
          </a:lstStyle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400" dirty="0">
                <a:latin typeface="Tenorite"/>
              </a:rPr>
              <a:t>True root‑cause errors are often buried early in logs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400">
                <a:latin typeface="Tenorite"/>
              </a:rPr>
              <a:t>Later log entries are often secondary failures or noise</a:t>
            </a:r>
            <a:endParaRPr lang="en-US" sz="1400" dirty="0">
              <a:latin typeface="Tenorite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400" dirty="0">
                <a:latin typeface="Tenorite"/>
              </a:rPr>
              <a:t>As a result, misdiagnosis is common and cycles are </a:t>
            </a:r>
            <a:r>
              <a:rPr lang="en-US" sz="1400">
                <a:latin typeface="Tenorite"/>
              </a:rPr>
              <a:t>repeated.</a:t>
            </a:r>
            <a:endParaRPr lang="en-US" sz="1400">
              <a:latin typeface="Tenorite"/>
              <a:cs typeface="Segoe UI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400">
                <a:latin typeface="Tenorite"/>
                <a:cs typeface="Segoe UI"/>
              </a:rPr>
              <a:t>Engineers often need to manually correlate events across different log sources</a:t>
            </a:r>
            <a:r>
              <a:rPr lang="en-US" sz="1400" dirty="0">
                <a:latin typeface="Tenorite"/>
                <a:cs typeface="Segoe UI"/>
              </a:rPr>
              <a:t> </a:t>
            </a:r>
            <a:endParaRPr lang="en-US" sz="1400" dirty="0">
              <a:latin typeface="Tenorite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 sz="1400" dirty="0">
              <a:latin typeface="Tenorite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5F582AB-02CF-548E-85D6-551EA711395A}"/>
              </a:ext>
            </a:extLst>
          </p:cNvPr>
          <p:cNvGrpSpPr/>
          <p:nvPr/>
        </p:nvGrpSpPr>
        <p:grpSpPr>
          <a:xfrm>
            <a:off x="699973" y="3454915"/>
            <a:ext cx="3109038" cy="2305651"/>
            <a:chOff x="-198497" y="1626103"/>
            <a:chExt cx="5537286" cy="4106429"/>
          </a:xfrm>
        </p:grpSpPr>
        <p:grpSp>
          <p:nvGrpSpPr>
            <p:cNvPr id="52" name="Grupo 7">
              <a:extLst>
                <a:ext uri="{FF2B5EF4-FFF2-40B4-BE49-F238E27FC236}">
                  <a16:creationId xmlns:a16="http://schemas.microsoft.com/office/drawing/2014/main" id="{216765E1-80FB-CCE4-4B86-737A88FC5BE3}"/>
                </a:ext>
              </a:extLst>
            </p:cNvPr>
            <p:cNvGrpSpPr/>
            <p:nvPr/>
          </p:nvGrpSpPr>
          <p:grpSpPr>
            <a:xfrm>
              <a:off x="171795" y="1626103"/>
              <a:ext cx="4582101" cy="4106429"/>
              <a:chOff x="6610913" y="1441716"/>
              <a:chExt cx="3517535" cy="3318529"/>
            </a:xfrm>
          </p:grpSpPr>
          <p:sp>
            <p:nvSpPr>
              <p:cNvPr id="53" name="Elipse 1">
                <a:extLst>
                  <a:ext uri="{FF2B5EF4-FFF2-40B4-BE49-F238E27FC236}">
                    <a16:creationId xmlns:a16="http://schemas.microsoft.com/office/drawing/2014/main" id="{A63F9794-D13A-FDAA-A13E-B240DE0E61AF}"/>
                  </a:ext>
                </a:extLst>
              </p:cNvPr>
              <p:cNvSpPr/>
              <p:nvPr/>
            </p:nvSpPr>
            <p:spPr>
              <a:xfrm>
                <a:off x="7275255" y="1441716"/>
                <a:ext cx="2232248" cy="2232248"/>
              </a:xfrm>
              <a:prstGeom prst="ellipse">
                <a:avLst/>
              </a:prstGeom>
              <a:solidFill>
                <a:srgbClr val="9A4BB9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54" name="Elipse 2">
                <a:extLst>
                  <a:ext uri="{FF2B5EF4-FFF2-40B4-BE49-F238E27FC236}">
                    <a16:creationId xmlns:a16="http://schemas.microsoft.com/office/drawing/2014/main" id="{B616E21A-DBB6-9248-3FCE-4967B7C43A2A}"/>
                  </a:ext>
                </a:extLst>
              </p:cNvPr>
              <p:cNvSpPr/>
              <p:nvPr/>
            </p:nvSpPr>
            <p:spPr>
              <a:xfrm>
                <a:off x="6610913" y="2527997"/>
                <a:ext cx="2232248" cy="2232248"/>
              </a:xfrm>
              <a:prstGeom prst="ellipse">
                <a:avLst/>
              </a:prstGeom>
              <a:solidFill>
                <a:srgbClr val="B71D6B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55" name="Elipse 4">
                <a:extLst>
                  <a:ext uri="{FF2B5EF4-FFF2-40B4-BE49-F238E27FC236}">
                    <a16:creationId xmlns:a16="http://schemas.microsoft.com/office/drawing/2014/main" id="{525C9378-81E2-08D0-671E-F30AC247AD7F}"/>
                  </a:ext>
                </a:extLst>
              </p:cNvPr>
              <p:cNvSpPr/>
              <p:nvPr/>
            </p:nvSpPr>
            <p:spPr>
              <a:xfrm>
                <a:off x="7896200" y="2527997"/>
                <a:ext cx="2232248" cy="2232248"/>
              </a:xfrm>
              <a:prstGeom prst="ellipse">
                <a:avLst/>
              </a:prstGeom>
              <a:solidFill>
                <a:srgbClr val="0095B7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</p:grpSp>
        <p:sp>
          <p:nvSpPr>
            <p:cNvPr id="56" name="TextBox 20">
              <a:extLst>
                <a:ext uri="{FF2B5EF4-FFF2-40B4-BE49-F238E27FC236}">
                  <a16:creationId xmlns:a16="http://schemas.microsoft.com/office/drawing/2014/main" id="{E83A46D1-9BE0-4FEF-02BB-087713A903CB}"/>
                </a:ext>
              </a:extLst>
            </p:cNvPr>
            <p:cNvSpPr txBox="1"/>
            <p:nvPr/>
          </p:nvSpPr>
          <p:spPr>
            <a:xfrm>
              <a:off x="1843559" y="2137619"/>
              <a:ext cx="1169035" cy="423208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noAutofit/>
            </a:bodyPr>
            <a:lstStyle/>
            <a:p>
              <a:pPr marL="21590" algn="ctr">
                <a:lnSpc>
                  <a:spcPts val="1333"/>
                </a:lnSpc>
                <a:spcBef>
                  <a:spcPts val="400"/>
                </a:spcBef>
              </a:pPr>
              <a:r>
                <a:rPr lang="en-US" sz="1000" b="1">
                  <a:solidFill>
                    <a:srgbClr val="341954"/>
                  </a:solidFill>
                  <a:latin typeface="Tenorite"/>
                </a:rPr>
                <a:t>C/c+</a:t>
              </a:r>
              <a:endParaRPr lang="en-US">
                <a:latin typeface="Tenorite"/>
              </a:endParaRPr>
            </a:p>
          </p:txBody>
        </p:sp>
        <p:sp>
          <p:nvSpPr>
            <p:cNvPr id="57" name="TextBox 20">
              <a:extLst>
                <a:ext uri="{FF2B5EF4-FFF2-40B4-BE49-F238E27FC236}">
                  <a16:creationId xmlns:a16="http://schemas.microsoft.com/office/drawing/2014/main" id="{0416D392-880A-77C7-7C59-F23380DC7810}"/>
                </a:ext>
              </a:extLst>
            </p:cNvPr>
            <p:cNvSpPr txBox="1"/>
            <p:nvPr/>
          </p:nvSpPr>
          <p:spPr>
            <a:xfrm>
              <a:off x="3290629" y="4392968"/>
              <a:ext cx="1169036" cy="423206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noAutofit/>
            </a:bodyPr>
            <a:lstStyle/>
            <a:p>
              <a:pPr marL="21590" algn="ctr">
                <a:lnSpc>
                  <a:spcPts val="1333"/>
                </a:lnSpc>
                <a:spcBef>
                  <a:spcPts val="400"/>
                </a:spcBef>
              </a:pPr>
              <a:r>
                <a:rPr lang="en-US" sz="1000" b="1">
                  <a:solidFill>
                    <a:srgbClr val="341954"/>
                  </a:solidFill>
                  <a:latin typeface="Tenorite"/>
                </a:rPr>
                <a:t>JAVA</a:t>
              </a:r>
            </a:p>
          </p:txBody>
        </p:sp>
        <p:sp>
          <p:nvSpPr>
            <p:cNvPr id="58" name="TextBox 20">
              <a:extLst>
                <a:ext uri="{FF2B5EF4-FFF2-40B4-BE49-F238E27FC236}">
                  <a16:creationId xmlns:a16="http://schemas.microsoft.com/office/drawing/2014/main" id="{2AE667A7-49CE-3876-8BE4-7955681B989C}"/>
                </a:ext>
              </a:extLst>
            </p:cNvPr>
            <p:cNvSpPr txBox="1"/>
            <p:nvPr/>
          </p:nvSpPr>
          <p:spPr>
            <a:xfrm>
              <a:off x="511763" y="4392968"/>
              <a:ext cx="1169036" cy="423206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noAutofit/>
            </a:bodyPr>
            <a:lstStyle/>
            <a:p>
              <a:pPr marL="21590" algn="ctr">
                <a:lnSpc>
                  <a:spcPts val="1333"/>
                </a:lnSpc>
                <a:spcBef>
                  <a:spcPts val="400"/>
                </a:spcBef>
              </a:pPr>
              <a:r>
                <a:rPr lang="en-US" sz="1000" b="1">
                  <a:solidFill>
                    <a:srgbClr val="341954"/>
                  </a:solidFill>
                  <a:latin typeface="Tenorite"/>
                </a:rPr>
                <a:t>Python</a:t>
              </a:r>
            </a:p>
          </p:txBody>
        </p:sp>
        <p:sp>
          <p:nvSpPr>
            <p:cNvPr id="60" name="TextBox 20">
              <a:extLst>
                <a:ext uri="{FF2B5EF4-FFF2-40B4-BE49-F238E27FC236}">
                  <a16:creationId xmlns:a16="http://schemas.microsoft.com/office/drawing/2014/main" id="{9FA9298A-6B33-B1CF-A20F-C4728B2B2DAC}"/>
                </a:ext>
              </a:extLst>
            </p:cNvPr>
            <p:cNvSpPr txBox="1"/>
            <p:nvPr/>
          </p:nvSpPr>
          <p:spPr>
            <a:xfrm>
              <a:off x="3251076" y="2648024"/>
              <a:ext cx="2087713" cy="1611976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noAutofit/>
            </a:bodyPr>
            <a:lstStyle/>
            <a:p>
              <a:pPr marL="21590" algn="ctr">
                <a:lnSpc>
                  <a:spcPts val="1333"/>
                </a:lnSpc>
                <a:spcBef>
                  <a:spcPts val="400"/>
                </a:spcBef>
              </a:pPr>
              <a:r>
                <a:rPr lang="en-US" sz="1200" b="1">
                  <a:solidFill>
                    <a:srgbClr val="341854"/>
                  </a:solidFill>
                  <a:latin typeface="Tenorite"/>
                </a:rPr>
                <a:t>Cross Repo awareness</a:t>
              </a:r>
            </a:p>
          </p:txBody>
        </p:sp>
        <p:sp>
          <p:nvSpPr>
            <p:cNvPr id="61" name="TextBox 20">
              <a:extLst>
                <a:ext uri="{FF2B5EF4-FFF2-40B4-BE49-F238E27FC236}">
                  <a16:creationId xmlns:a16="http://schemas.microsoft.com/office/drawing/2014/main" id="{1DF4B76F-5DC8-B325-B55E-F058B9D3720C}"/>
                </a:ext>
              </a:extLst>
            </p:cNvPr>
            <p:cNvSpPr txBox="1"/>
            <p:nvPr/>
          </p:nvSpPr>
          <p:spPr>
            <a:xfrm>
              <a:off x="-198497" y="2300860"/>
              <a:ext cx="1297522" cy="463358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noAutofit/>
            </a:bodyPr>
            <a:lstStyle/>
            <a:p>
              <a:pPr marL="21590" algn="ctr">
                <a:lnSpc>
                  <a:spcPts val="1333"/>
                </a:lnSpc>
                <a:spcBef>
                  <a:spcPts val="400"/>
                </a:spcBef>
              </a:pPr>
              <a:r>
                <a:rPr lang="en-US" sz="1200" b="1">
                  <a:solidFill>
                    <a:srgbClr val="341854"/>
                  </a:solidFill>
                  <a:latin typeface="Tenorite"/>
                </a:rPr>
                <a:t>Repo</a:t>
              </a:r>
              <a:endParaRPr lang="en-US"/>
            </a:p>
          </p:txBody>
        </p:sp>
        <p:cxnSp>
          <p:nvCxnSpPr>
            <p:cNvPr id="64" name="Conector recto de flecha 29">
              <a:extLst>
                <a:ext uri="{FF2B5EF4-FFF2-40B4-BE49-F238E27FC236}">
                  <a16:creationId xmlns:a16="http://schemas.microsoft.com/office/drawing/2014/main" id="{6013F7D0-4BFC-CC48-E675-62D1A3CC4C1B}"/>
                </a:ext>
              </a:extLst>
            </p:cNvPr>
            <p:cNvCxnSpPr>
              <a:cxnSpLocks/>
            </p:cNvCxnSpPr>
            <p:nvPr/>
          </p:nvCxnSpPr>
          <p:spPr>
            <a:xfrm>
              <a:off x="553215" y="2718957"/>
              <a:ext cx="1878592" cy="1237094"/>
            </a:xfrm>
            <a:prstGeom prst="straightConnector1">
              <a:avLst/>
            </a:prstGeom>
            <a:ln w="9525">
              <a:solidFill>
                <a:srgbClr val="BCB6C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Text Placeholder 2">
            <a:extLst>
              <a:ext uri="{FF2B5EF4-FFF2-40B4-BE49-F238E27FC236}">
                <a16:creationId xmlns:a16="http://schemas.microsoft.com/office/drawing/2014/main" id="{70B4BB02-A15A-6E6E-2FD8-11DD955AF00C}"/>
              </a:ext>
            </a:extLst>
          </p:cNvPr>
          <p:cNvSpPr txBox="1">
            <a:spLocks/>
          </p:cNvSpPr>
          <p:nvPr/>
        </p:nvSpPr>
        <p:spPr>
          <a:xfrm>
            <a:off x="424489" y="958172"/>
            <a:ext cx="11444402" cy="25853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09019" indent="-309019" algn="l" defTabSz="609570" rtl="0" eaLnBrk="1" latinLnBrk="0" hangingPunct="1">
              <a:spcBef>
                <a:spcPts val="8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kumimoji="0" lang="en-US" sz="2667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50" indent="-380981" algn="l" defTabSz="609570" rtl="0" eaLnBrk="1" latinLnBrk="0" hangingPunct="1">
              <a:spcBef>
                <a:spcPts val="800"/>
              </a:spcBef>
              <a:buClr>
                <a:srgbClr val="00B0F0"/>
              </a:buClr>
              <a:buFont typeface="Arial" charset="0"/>
              <a:buChar char="•"/>
              <a:def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447728" indent="-228589" algn="l" defTabSz="609570" rtl="0" eaLnBrk="1" latinLnBrk="0" hangingPunct="1">
              <a:spcBef>
                <a:spcPts val="800"/>
              </a:spcBef>
              <a:buClr>
                <a:srgbClr val="00B0F0"/>
              </a:buClr>
              <a:buFont typeface="Arial" charset="0"/>
              <a:buChar char="•"/>
              <a:def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057298" indent="-228589" algn="l" defTabSz="609570" rtl="0" eaLnBrk="1" latinLnBrk="0" hangingPunct="1">
              <a:spcBef>
                <a:spcPts val="800"/>
              </a:spcBef>
              <a:buClr>
                <a:srgbClr val="00B0F0"/>
              </a:buClr>
              <a:buFont typeface="Arial" charset="0"/>
              <a:buChar char="•"/>
              <a:defRPr kumimoji="0" lang="en-US" sz="1467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666867" indent="-228589" algn="l" defTabSz="609570" rtl="0" eaLnBrk="1" latinLnBrk="0" hangingPunct="1">
              <a:spcBef>
                <a:spcPts val="800"/>
              </a:spcBef>
              <a:buClr>
                <a:srgbClr val="00B0F0"/>
              </a:buClr>
              <a:buFont typeface="Arial" charset="0"/>
              <a:buChar char="•"/>
              <a:def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632" indent="-304784" algn="l" defTabSz="609570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609570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609570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609570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cs typeface="Arial"/>
              </a:rPr>
              <a:t>Each failure requires 2–8 hours of manual investigation</a:t>
            </a:r>
            <a:endParaRPr lang="en-US"/>
          </a:p>
        </p:txBody>
      </p:sp>
      <p:sp>
        <p:nvSpPr>
          <p:cNvPr id="76" name="Title 3">
            <a:extLst>
              <a:ext uri="{FF2B5EF4-FFF2-40B4-BE49-F238E27FC236}">
                <a16:creationId xmlns:a16="http://schemas.microsoft.com/office/drawing/2014/main" id="{DE9597B0-B351-826F-3EC0-44702F6B3430}"/>
              </a:ext>
            </a:extLst>
          </p:cNvPr>
          <p:cNvSpPr txBox="1">
            <a:spLocks/>
          </p:cNvSpPr>
          <p:nvPr/>
        </p:nvSpPr>
        <p:spPr>
          <a:xfrm>
            <a:off x="455542" y="342165"/>
            <a:ext cx="9979735" cy="612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en-US" sz="4400" i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>
                <a:ea typeface="+mj-lt"/>
                <a:cs typeface="+mj-lt"/>
              </a:rPr>
              <a:t>The Challenge with Failure Diagnosis Today</a:t>
            </a:r>
            <a:endParaRPr lang="en-US" sz="3600">
              <a:ea typeface="+mj-lt"/>
              <a:cs typeface="+mj-lt"/>
            </a:endParaRPr>
          </a:p>
          <a:p>
            <a:endParaRPr lang="en-US" sz="3600" b="1">
              <a:latin typeface="Tenorite" pitchFamily="2" charset="0"/>
              <a:cs typeface="Telugu MN" pitchFamily="2" charset="0"/>
            </a:endParaRPr>
          </a:p>
        </p:txBody>
      </p:sp>
      <p:sp>
        <p:nvSpPr>
          <p:cNvPr id="77" name="TextBox 20">
            <a:extLst>
              <a:ext uri="{FF2B5EF4-FFF2-40B4-BE49-F238E27FC236}">
                <a16:creationId xmlns:a16="http://schemas.microsoft.com/office/drawing/2014/main" id="{EBFCB04E-3ABE-C6F0-79D8-747B96BF921E}"/>
              </a:ext>
            </a:extLst>
          </p:cNvPr>
          <p:cNvSpPr txBox="1"/>
          <p:nvPr/>
        </p:nvSpPr>
        <p:spPr>
          <a:xfrm>
            <a:off x="452948" y="1585871"/>
            <a:ext cx="2707369" cy="5484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7725" tIns="27725" rIns="27725" bIns="27725" anchor="t">
            <a:spAutoFit/>
          </a:bodyPr>
          <a:lstStyle>
            <a:lvl1pPr indent="35993">
              <a:lnSpc>
                <a:spcPts val="2500"/>
              </a:lnSpc>
              <a:spcBef>
                <a:spcPts val="600"/>
              </a:spcBef>
              <a:defRPr sz="2100">
                <a:latin typeface="Proxima Nova Rg"/>
                <a:ea typeface="Proxima Nova Rg"/>
                <a:cs typeface="Proxima Nova Rg"/>
                <a:sym typeface="Proxima Nova"/>
              </a:defRPr>
            </a:lvl1pPr>
          </a:lstStyle>
          <a:p>
            <a:pPr indent="0">
              <a:lnSpc>
                <a:spcPct val="100000"/>
              </a:lnSpc>
            </a:pPr>
            <a:r>
              <a:rPr lang="en-US" sz="1600" b="1">
                <a:solidFill>
                  <a:srgbClr val="000000"/>
                </a:solidFill>
                <a:latin typeface="Tenorite"/>
              </a:rPr>
              <a:t>Engineers must cross-check multiple systems manually</a:t>
            </a:r>
            <a:endParaRPr lang="en-US" sz="1600" b="1">
              <a:latin typeface="Tenorite"/>
            </a:endParaRPr>
          </a:p>
        </p:txBody>
      </p:sp>
      <p:sp>
        <p:nvSpPr>
          <p:cNvPr id="78" name="TextBox 20">
            <a:extLst>
              <a:ext uri="{FF2B5EF4-FFF2-40B4-BE49-F238E27FC236}">
                <a16:creationId xmlns:a16="http://schemas.microsoft.com/office/drawing/2014/main" id="{CEAF28F5-29E6-9E8E-59C8-A09515A44152}"/>
              </a:ext>
            </a:extLst>
          </p:cNvPr>
          <p:cNvSpPr txBox="1"/>
          <p:nvPr/>
        </p:nvSpPr>
        <p:spPr>
          <a:xfrm>
            <a:off x="4266577" y="1600385"/>
            <a:ext cx="3273425" cy="5484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7725" tIns="27725" rIns="27725" bIns="27725" anchor="t">
            <a:spAutoFit/>
          </a:bodyPr>
          <a:lstStyle>
            <a:lvl1pPr indent="35993">
              <a:lnSpc>
                <a:spcPts val="2500"/>
              </a:lnSpc>
              <a:spcBef>
                <a:spcPts val="600"/>
              </a:spcBef>
              <a:defRPr sz="2100">
                <a:latin typeface="Proxima Nova Rg"/>
                <a:ea typeface="Proxima Nova Rg"/>
                <a:cs typeface="Proxima Nova Rg"/>
                <a:sym typeface="Proxima Nova"/>
              </a:defRPr>
            </a:lvl1pPr>
          </a:lstStyle>
          <a:p>
            <a:pPr indent="0">
              <a:lnSpc>
                <a:spcPct val="100000"/>
              </a:lnSpc>
            </a:pPr>
            <a:r>
              <a:rPr lang="en-US" sz="1600" b="1">
                <a:latin typeface="Tenorite"/>
              </a:rPr>
              <a:t>Logs are large, noisy, and difficult to interpret</a:t>
            </a:r>
          </a:p>
        </p:txBody>
      </p:sp>
      <p:sp>
        <p:nvSpPr>
          <p:cNvPr id="79" name="TextBox 20">
            <a:extLst>
              <a:ext uri="{FF2B5EF4-FFF2-40B4-BE49-F238E27FC236}">
                <a16:creationId xmlns:a16="http://schemas.microsoft.com/office/drawing/2014/main" id="{170D04BA-AB94-E5FB-3571-D9C99B4157E5}"/>
              </a:ext>
            </a:extLst>
          </p:cNvPr>
          <p:cNvSpPr txBox="1"/>
          <p:nvPr/>
        </p:nvSpPr>
        <p:spPr>
          <a:xfrm>
            <a:off x="8179991" y="1709242"/>
            <a:ext cx="2707369" cy="302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7725" tIns="27725" rIns="27725" bIns="27725" anchor="t">
            <a:spAutoFit/>
          </a:bodyPr>
          <a:lstStyle>
            <a:lvl1pPr indent="35993">
              <a:lnSpc>
                <a:spcPts val="2500"/>
              </a:lnSpc>
              <a:spcBef>
                <a:spcPts val="600"/>
              </a:spcBef>
              <a:defRPr sz="2100">
                <a:latin typeface="Proxima Nova Rg"/>
                <a:ea typeface="Proxima Nova Rg"/>
                <a:cs typeface="Proxima Nova Rg"/>
                <a:sym typeface="Proxima Nova"/>
              </a:defRPr>
            </a:lvl1pPr>
          </a:lstStyle>
          <a:p>
            <a:pPr indent="0">
              <a:lnSpc>
                <a:spcPct val="100000"/>
              </a:lnSpc>
            </a:pPr>
            <a:r>
              <a:rPr lang="en-US" sz="1600" b="1">
                <a:latin typeface="Tenorite"/>
              </a:rPr>
              <a:t>Why This Is Hard:</a:t>
            </a:r>
            <a:endParaRPr lang="en-US" sz="1600">
              <a:latin typeface="Tenorite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E4C74C2-5152-2564-279E-43EFA85D2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8000" y="6192000"/>
            <a:ext cx="402187" cy="226790"/>
          </a:xfrm>
        </p:spPr>
        <p:txBody>
          <a:bodyPr/>
          <a:lstStyle/>
          <a:p>
            <a:fld id="{86CB4B4D-7CA3-9044-876B-883B54F8677D}" type="slidenum">
              <a:rPr lang="en-US" noProof="0" smtClean="0"/>
              <a:pPr/>
              <a:t>2</a:t>
            </a:fld>
            <a:endParaRPr lang="en-US" noProof="0"/>
          </a:p>
        </p:txBody>
      </p:sp>
      <p:sp>
        <p:nvSpPr>
          <p:cNvPr id="2" name="TextBox 20">
            <a:extLst>
              <a:ext uri="{FF2B5EF4-FFF2-40B4-BE49-F238E27FC236}">
                <a16:creationId xmlns:a16="http://schemas.microsoft.com/office/drawing/2014/main" id="{4BE2FAAC-8304-0487-DA60-C4CBAA9AD19C}"/>
              </a:ext>
            </a:extLst>
          </p:cNvPr>
          <p:cNvSpPr txBox="1"/>
          <p:nvPr/>
        </p:nvSpPr>
        <p:spPr>
          <a:xfrm>
            <a:off x="4362157" y="2327265"/>
            <a:ext cx="3399641" cy="3544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xmlns="" val="1"/>
            </a:ext>
          </a:extLst>
        </p:spPr>
        <p:txBody>
          <a:bodyPr wrap="square" lIns="27725" tIns="27725" rIns="27725" bIns="27725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35993" algn="l" defTabSz="914400" rtl="0" fontAlgn="auto" latinLnBrk="0" hangingPunct="0">
              <a:lnSpc>
                <a:spcPts val="25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roxima Nova Rg"/>
                <a:ea typeface="Proxima Nova Rg"/>
                <a:cs typeface="Proxima Nova Rg"/>
                <a:sym typeface="Proxima Nova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Tenorite Regular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Tenorite Regular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Tenorite Regular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Tenorite Regular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Tenorite Regular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Tenorite Regular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Tenorite Regular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Tenorite Regular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  <a:buFont typeface="Arial"/>
              <a:buChar char="•"/>
            </a:pPr>
            <a:r>
              <a:rPr lang="en-US" sz="1400">
                <a:solidFill>
                  <a:schemeClr val="tx1"/>
                </a:solidFill>
                <a:latin typeface="Tenorite"/>
              </a:rPr>
              <a:t>Trouble Shooter</a:t>
            </a:r>
            <a:r>
              <a:rPr lang="en-US" sz="1400" dirty="0">
                <a:solidFill>
                  <a:schemeClr val="tx1"/>
                </a:solidFill>
                <a:latin typeface="Tenorite"/>
              </a:rPr>
              <a:t> dumps, TE logs, console.log (COLI)</a:t>
            </a:r>
            <a:endParaRPr lang="en-US" sz="1400">
              <a:solidFill>
                <a:schemeClr val="tx1"/>
              </a:solidFill>
              <a:latin typeface="Tenorite"/>
            </a:endParaRPr>
          </a:p>
          <a:p>
            <a:pPr marL="285750" indent="-285750"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  <a:buFont typeface="Arial"/>
              <a:buChar char="•"/>
            </a:pPr>
            <a:r>
              <a:rPr lang="en-US" sz="1400">
                <a:solidFill>
                  <a:schemeClr val="tx1"/>
                </a:solidFill>
                <a:latin typeface="Tenorite"/>
              </a:rPr>
              <a:t>• True root-cause errors buried early in logs</a:t>
            </a:r>
            <a:endParaRPr lang="en-US" sz="1400" dirty="0">
              <a:solidFill>
                <a:schemeClr val="tx1"/>
              </a:solidFill>
              <a:latin typeface="Tenorite"/>
            </a:endParaRPr>
          </a:p>
          <a:p>
            <a:pPr marL="285750" indent="-285750"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  <a:buFont typeface="Arial"/>
              <a:buChar char="•"/>
            </a:pPr>
            <a:r>
              <a:rPr lang="en-US" sz="1400" dirty="0">
                <a:solidFill>
                  <a:schemeClr val="tx1"/>
                </a:solidFill>
                <a:latin typeface="Tenorite"/>
              </a:rPr>
              <a:t>• Later entries are cascade symptoms, not </a:t>
            </a:r>
            <a:r>
              <a:rPr lang="en-US" sz="1400">
                <a:solidFill>
                  <a:schemeClr val="tx1"/>
                </a:solidFill>
                <a:latin typeface="Tenorite"/>
              </a:rPr>
              <a:t>causes</a:t>
            </a:r>
          </a:p>
          <a:p>
            <a:pPr marL="285750" indent="-285750"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  <a:buFont typeface="Arial"/>
              <a:buChar char="•"/>
            </a:pPr>
            <a:r>
              <a:rPr lang="en-US" sz="1400">
                <a:solidFill>
                  <a:schemeClr val="tx1"/>
                </a:solidFill>
                <a:latin typeface="Tenorite"/>
                <a:cs typeface="Segoe UI"/>
              </a:rPr>
              <a:t>High-volume log files make manual analysis time-consuming and error-prone</a:t>
            </a:r>
          </a:p>
          <a:p>
            <a:pPr marL="285750" indent="-285750"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  <a:buFont typeface="Arial"/>
              <a:buChar char="•"/>
            </a:pPr>
            <a:r>
              <a:rPr lang="en-US" sz="1400">
                <a:solidFill>
                  <a:schemeClr val="tx1"/>
                </a:solidFill>
                <a:latin typeface="Tenorite"/>
                <a:cs typeface="Segoe UI"/>
              </a:rPr>
              <a:t>Relevant events are scattered across multiple log sources, requiring correlation</a:t>
            </a:r>
          </a:p>
          <a:p>
            <a:pPr marL="285750" indent="-285750"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  <a:buFont typeface="Arial"/>
              <a:buChar char="•"/>
            </a:pPr>
            <a:r>
              <a:rPr lang="en-US" sz="1400">
                <a:solidFill>
                  <a:schemeClr val="tx1"/>
                </a:solidFill>
                <a:latin typeface="Tenorite"/>
                <a:cs typeface="Segoe UI"/>
              </a:rPr>
              <a:t>Repeated patterns and noise obscure critical failure indicators and root causes</a:t>
            </a:r>
            <a:endParaRPr lang="en-US" sz="1400">
              <a:solidFill>
                <a:schemeClr val="tx1"/>
              </a:solidFill>
              <a:latin typeface="Tenorite"/>
            </a:endParaRPr>
          </a:p>
        </p:txBody>
      </p:sp>
    </p:spTree>
    <p:extLst>
      <p:ext uri="{BB962C8B-B14F-4D97-AF65-F5344CB8AC3E}">
        <p14:creationId xmlns:p14="http://schemas.microsoft.com/office/powerpoint/2010/main" val="2616126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5462240-28E6-F612-B0BA-5F7C1312C335}"/>
              </a:ext>
            </a:extLst>
          </p:cNvPr>
          <p:cNvSpPr/>
          <p:nvPr/>
        </p:nvSpPr>
        <p:spPr>
          <a:xfrm flipH="1">
            <a:off x="4022657" y="3556652"/>
            <a:ext cx="622300" cy="0"/>
          </a:xfrm>
          <a:custGeom>
            <a:avLst/>
            <a:gdLst>
              <a:gd name="connsiteX0" fmla="*/ 622300 w 622300"/>
              <a:gd name="connsiteY0" fmla="*/ 0 h 0"/>
              <a:gd name="connsiteX1" fmla="*/ 0 w 6223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2300">
                <a:moveTo>
                  <a:pt x="622300" y="0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CBACF2C-53C5-97D4-9444-96DF6ACEE50B}"/>
              </a:ext>
            </a:extLst>
          </p:cNvPr>
          <p:cNvSpPr/>
          <p:nvPr/>
        </p:nvSpPr>
        <p:spPr>
          <a:xfrm flipH="1">
            <a:off x="3895657" y="1863436"/>
            <a:ext cx="1074420" cy="1086978"/>
          </a:xfrm>
          <a:custGeom>
            <a:avLst/>
            <a:gdLst>
              <a:gd name="connsiteX0" fmla="*/ 1074420 w 1074420"/>
              <a:gd name="connsiteY0" fmla="*/ 0 h 1341120"/>
              <a:gd name="connsiteX1" fmla="*/ 556260 w 1074420"/>
              <a:gd name="connsiteY1" fmla="*/ 0 h 1341120"/>
              <a:gd name="connsiteX2" fmla="*/ 0 w 1074420"/>
              <a:gd name="connsiteY2" fmla="*/ 1341120 h 134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4420" h="1341120">
                <a:moveTo>
                  <a:pt x="1074420" y="0"/>
                </a:moveTo>
                <a:lnTo>
                  <a:pt x="556260" y="0"/>
                </a:lnTo>
                <a:lnTo>
                  <a:pt x="0" y="1341120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399F10F-B196-22EF-3889-A2F14D09878E}"/>
              </a:ext>
            </a:extLst>
          </p:cNvPr>
          <p:cNvSpPr/>
          <p:nvPr/>
        </p:nvSpPr>
        <p:spPr>
          <a:xfrm flipH="1" flipV="1">
            <a:off x="3895657" y="4073840"/>
            <a:ext cx="1074420" cy="962287"/>
          </a:xfrm>
          <a:custGeom>
            <a:avLst/>
            <a:gdLst>
              <a:gd name="connsiteX0" fmla="*/ 1074420 w 1074420"/>
              <a:gd name="connsiteY0" fmla="*/ 0 h 1341120"/>
              <a:gd name="connsiteX1" fmla="*/ 556260 w 1074420"/>
              <a:gd name="connsiteY1" fmla="*/ 0 h 1341120"/>
              <a:gd name="connsiteX2" fmla="*/ 0 w 1074420"/>
              <a:gd name="connsiteY2" fmla="*/ 1341120 h 134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4420" h="1341120">
                <a:moveTo>
                  <a:pt x="1074420" y="0"/>
                </a:moveTo>
                <a:lnTo>
                  <a:pt x="556260" y="0"/>
                </a:lnTo>
                <a:lnTo>
                  <a:pt x="0" y="1341120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037A06-0AEF-F6E6-87C3-9318A89A55F2}"/>
              </a:ext>
            </a:extLst>
          </p:cNvPr>
          <p:cNvSpPr/>
          <p:nvPr/>
        </p:nvSpPr>
        <p:spPr>
          <a:xfrm>
            <a:off x="7504545" y="3388180"/>
            <a:ext cx="622300" cy="0"/>
          </a:xfrm>
          <a:custGeom>
            <a:avLst/>
            <a:gdLst>
              <a:gd name="connsiteX0" fmla="*/ 622300 w 622300"/>
              <a:gd name="connsiteY0" fmla="*/ 0 h 0"/>
              <a:gd name="connsiteX1" fmla="*/ 0 w 6223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2300">
                <a:moveTo>
                  <a:pt x="622300" y="0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64CFAFA-21FB-33E0-A202-A7FB8D50E2B7}"/>
              </a:ext>
            </a:extLst>
          </p:cNvPr>
          <p:cNvSpPr/>
          <p:nvPr/>
        </p:nvSpPr>
        <p:spPr>
          <a:xfrm>
            <a:off x="7283334" y="1801783"/>
            <a:ext cx="1074420" cy="1154982"/>
          </a:xfrm>
          <a:custGeom>
            <a:avLst/>
            <a:gdLst>
              <a:gd name="connsiteX0" fmla="*/ 1074420 w 1074420"/>
              <a:gd name="connsiteY0" fmla="*/ 0 h 1341120"/>
              <a:gd name="connsiteX1" fmla="*/ 556260 w 1074420"/>
              <a:gd name="connsiteY1" fmla="*/ 0 h 1341120"/>
              <a:gd name="connsiteX2" fmla="*/ 0 w 1074420"/>
              <a:gd name="connsiteY2" fmla="*/ 1341120 h 134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4420" h="1341120">
                <a:moveTo>
                  <a:pt x="1074420" y="0"/>
                </a:moveTo>
                <a:lnTo>
                  <a:pt x="556260" y="0"/>
                </a:lnTo>
                <a:lnTo>
                  <a:pt x="0" y="1341120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CA46373-2B81-C70B-EECD-4ED8810B0FA5}"/>
              </a:ext>
            </a:extLst>
          </p:cNvPr>
          <p:cNvSpPr/>
          <p:nvPr/>
        </p:nvSpPr>
        <p:spPr>
          <a:xfrm flipV="1">
            <a:off x="7283334" y="3922708"/>
            <a:ext cx="1074420" cy="1154982"/>
          </a:xfrm>
          <a:custGeom>
            <a:avLst/>
            <a:gdLst>
              <a:gd name="connsiteX0" fmla="*/ 1074420 w 1074420"/>
              <a:gd name="connsiteY0" fmla="*/ 0 h 1341120"/>
              <a:gd name="connsiteX1" fmla="*/ 556260 w 1074420"/>
              <a:gd name="connsiteY1" fmla="*/ 0 h 1341120"/>
              <a:gd name="connsiteX2" fmla="*/ 0 w 1074420"/>
              <a:gd name="connsiteY2" fmla="*/ 1341120 h 134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4420" h="1341120">
                <a:moveTo>
                  <a:pt x="1074420" y="0"/>
                </a:moveTo>
                <a:lnTo>
                  <a:pt x="556260" y="0"/>
                </a:lnTo>
                <a:lnTo>
                  <a:pt x="0" y="1341120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"/>
            </a:endParaRPr>
          </a:p>
        </p:txBody>
      </p: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ED7C0E4-6354-2B58-1EAB-5D44AC16602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ED7C0E4-6354-2B58-1EAB-5D44AC1660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" name="TextBox 219">
            <a:extLst>
              <a:ext uri="{FF2B5EF4-FFF2-40B4-BE49-F238E27FC236}">
                <a16:creationId xmlns:a16="http://schemas.microsoft.com/office/drawing/2014/main" id="{EDC868D0-2269-BF58-6C7E-6805C1FDC5B7}"/>
              </a:ext>
            </a:extLst>
          </p:cNvPr>
          <p:cNvSpPr txBox="1"/>
          <p:nvPr/>
        </p:nvSpPr>
        <p:spPr>
          <a:xfrm flipH="1">
            <a:off x="589987" y="1733706"/>
            <a:ext cx="3305669" cy="1084912"/>
          </a:xfrm>
          <a:prstGeom prst="rect">
            <a:avLst/>
          </a:prstGeom>
          <a:noFill/>
          <a:ln>
            <a:noFill/>
          </a:ln>
        </p:spPr>
        <p:txBody>
          <a:bodyPr wrap="square" lIns="48000" tIns="45720" rIns="48000" bIns="45720" anchor="ctr">
            <a:spAutoFit/>
          </a:bodyPr>
          <a:lstStyle/>
          <a:p>
            <a:pPr defTabSz="609585">
              <a:spcAft>
                <a:spcPts val="300"/>
              </a:spcAft>
              <a:buClr>
                <a:srgbClr val="0089CF"/>
              </a:buClr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41854"/>
                </a:solidFill>
                <a:effectLst/>
                <a:uLnTx/>
                <a:uFillTx/>
                <a:latin typeface="Tenorite"/>
              </a:rPr>
              <a:t>1. </a:t>
            </a:r>
            <a:r>
              <a:rPr lang="en-US" sz="1400" b="1">
                <a:solidFill>
                  <a:srgbClr val="341854"/>
                </a:solidFill>
                <a:latin typeface="Tenorite"/>
                <a:ea typeface="+mn-lt"/>
                <a:cs typeface="+mn-lt"/>
              </a:rPr>
              <a:t>Fetch &amp; Classify</a:t>
            </a:r>
            <a:endParaRPr lang="en-US" sz="1400">
              <a:solidFill>
                <a:srgbClr val="341854"/>
              </a:solidFill>
              <a:latin typeface="Tenorite"/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3B3838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sz="1200">
                <a:latin typeface="Tenorite"/>
                <a:cs typeface="Arial"/>
              </a:rPr>
              <a:t>Authenticate</a:t>
            </a:r>
            <a:r>
              <a:rPr lang="en-US" sz="1200">
                <a:latin typeface="Tenorite"/>
                <a:ea typeface="+mn-lt"/>
                <a:cs typeface="+mn-lt"/>
              </a:rPr>
              <a:t> to Jira → fetch Jira metadata (error, radio type, TC name)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3B3838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sz="1200">
                <a:latin typeface="Tenorite"/>
                <a:ea typeface="+mn-lt"/>
                <a:cs typeface="+mn-lt"/>
              </a:rPr>
              <a:t>Download logs from </a:t>
            </a:r>
            <a:r>
              <a:rPr lang="en-US" sz="1200" err="1">
                <a:latin typeface="Tenorite"/>
                <a:ea typeface="+mn-lt"/>
                <a:cs typeface="+mn-lt"/>
              </a:rPr>
              <a:t>cvengine</a:t>
            </a:r>
            <a:r>
              <a:rPr lang="en-US" sz="1200">
                <a:latin typeface="Tenorite"/>
                <a:ea typeface="+mn-lt"/>
                <a:cs typeface="+mn-lt"/>
              </a:rPr>
              <a:t> / ki81fw4 → classify failure family</a:t>
            </a:r>
            <a:endParaRPr lang="en-US">
              <a:latin typeface="Tenorite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CD53A07D-DDDE-6C2F-F001-90ABDD24CA6E}"/>
              </a:ext>
            </a:extLst>
          </p:cNvPr>
          <p:cNvSpPr txBox="1"/>
          <p:nvPr/>
        </p:nvSpPr>
        <p:spPr>
          <a:xfrm flipH="1">
            <a:off x="8343510" y="3294100"/>
            <a:ext cx="3239196" cy="900246"/>
          </a:xfrm>
          <a:prstGeom prst="rect">
            <a:avLst/>
          </a:prstGeom>
          <a:noFill/>
          <a:ln>
            <a:noFill/>
          </a:ln>
        </p:spPr>
        <p:txBody>
          <a:bodyPr wrap="square" lIns="48000" tIns="45720" rIns="48000" bIns="45720" anchor="ctr">
            <a:spAutoFit/>
          </a:bodyPr>
          <a:lstStyle/>
          <a:p>
            <a:pPr defTabSz="609585">
              <a:spcAft>
                <a:spcPts val="300"/>
              </a:spcAft>
              <a:buClr>
                <a:srgbClr val="0089CF"/>
              </a:buClr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C4515D"/>
                </a:solidFill>
                <a:effectLst/>
                <a:uLnTx/>
                <a:uFillTx/>
                <a:latin typeface="Tenorite"/>
              </a:rPr>
              <a:t>5.</a:t>
            </a:r>
            <a:r>
              <a:rPr lang="en-US" sz="1400" b="1">
                <a:solidFill>
                  <a:srgbClr val="C4515D"/>
                </a:solidFill>
                <a:latin typeface="Tenorite"/>
                <a:ea typeface="+mn-lt"/>
                <a:cs typeface="+mn-lt"/>
              </a:rPr>
              <a:t>LLM Reasoning (Kiro CLI / Claude)</a:t>
            </a:r>
            <a:endParaRPr lang="en-US" sz="1400" b="1" i="0" u="none" strike="noStrike" kern="1200" cap="none" spc="0" normalizeH="0" baseline="0" noProof="0">
              <a:ln>
                <a:noFill/>
              </a:ln>
              <a:solidFill>
                <a:srgbClr val="C5515D"/>
              </a:solidFill>
              <a:effectLst/>
              <a:uLnTx/>
              <a:uFillTx/>
              <a:latin typeface="Tenorite"/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3B3838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sz="1200">
                <a:latin typeface="Tenorite"/>
                <a:ea typeface="+mn-lt"/>
                <a:cs typeface="+mn-lt"/>
              </a:rPr>
              <a:t>Full source code tracing: </a:t>
            </a:r>
            <a:r>
              <a:rPr lang="en-US" sz="1200" err="1">
                <a:latin typeface="Tenorite"/>
                <a:ea typeface="+mn-lt"/>
                <a:cs typeface="+mn-lt"/>
              </a:rPr>
              <a:t>radiosw</a:t>
            </a:r>
            <a:r>
              <a:rPr lang="en-US" sz="1200">
                <a:latin typeface="Tenorite"/>
                <a:ea typeface="+mn-lt"/>
                <a:cs typeface="+mn-lt"/>
              </a:rPr>
              <a:t> + </a:t>
            </a:r>
            <a:r>
              <a:rPr lang="en-US" sz="1200" err="1">
                <a:latin typeface="Tenorite"/>
                <a:ea typeface="+mn-lt"/>
                <a:cs typeface="+mn-lt"/>
              </a:rPr>
              <a:t>elvis-tc</a:t>
            </a:r>
            <a:r>
              <a:rPr lang="en-US" sz="1200">
                <a:latin typeface="Tenorite"/>
                <a:ea typeface="+mn-lt"/>
                <a:cs typeface="+mn-lt"/>
              </a:rPr>
              <a:t> + </a:t>
            </a:r>
            <a:r>
              <a:rPr lang="en-US" sz="1200" err="1">
                <a:latin typeface="Tenorite"/>
                <a:ea typeface="+mn-lt"/>
                <a:cs typeface="+mn-lt"/>
              </a:rPr>
              <a:t>elvis-fw</a:t>
            </a:r>
            <a:endParaRPr lang="en-US" sz="1200">
              <a:latin typeface="Tenorite"/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3B3838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sz="1200">
                <a:latin typeface="Tenorite"/>
                <a:ea typeface="+mn-lt"/>
                <a:cs typeface="+mn-lt"/>
              </a:rPr>
              <a:t>Root cause (file + line) → fix suggestion </a:t>
            </a:r>
            <a:endParaRPr lang="en-US" sz="1200">
              <a:latin typeface="Tenorite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353CC74F-26FC-0629-7E9A-22EE4E1520AC}"/>
              </a:ext>
            </a:extLst>
          </p:cNvPr>
          <p:cNvSpPr txBox="1"/>
          <p:nvPr/>
        </p:nvSpPr>
        <p:spPr>
          <a:xfrm flipH="1">
            <a:off x="8685999" y="4883471"/>
            <a:ext cx="3322016" cy="1467068"/>
          </a:xfrm>
          <a:prstGeom prst="rect">
            <a:avLst/>
          </a:prstGeom>
          <a:noFill/>
          <a:ln>
            <a:noFill/>
          </a:ln>
        </p:spPr>
        <p:txBody>
          <a:bodyPr wrap="square" lIns="48000" tIns="45720" rIns="48000" bIns="45720" anchor="ctr">
            <a:spAutoFit/>
          </a:bodyPr>
          <a:lstStyle/>
          <a:p>
            <a:pPr defTabSz="609585">
              <a:spcAft>
                <a:spcPts val="300"/>
              </a:spcAft>
              <a:buClr>
                <a:srgbClr val="0089CF"/>
              </a:buClr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9A4CB9"/>
                </a:solidFill>
                <a:effectLst/>
                <a:uLnTx/>
                <a:uFillTx/>
                <a:latin typeface="Tenorite"/>
              </a:rPr>
              <a:t>6. </a:t>
            </a:r>
            <a:r>
              <a:rPr lang="en-US" sz="1400" b="1">
                <a:solidFill>
                  <a:srgbClr val="8D39B0"/>
                </a:solidFill>
                <a:latin typeface="Tenorite"/>
                <a:cs typeface="Arial"/>
              </a:rPr>
              <a:t>Adversarial</a:t>
            </a:r>
            <a:r>
              <a:rPr lang="en-US" sz="1400" b="1">
                <a:solidFill>
                  <a:srgbClr val="8D39B0"/>
                </a:solidFill>
                <a:latin typeface="Tenorite"/>
                <a:ea typeface="+mn-lt"/>
                <a:cs typeface="+mn-lt"/>
              </a:rPr>
              <a:t> Reviewer and Deep Investigation</a:t>
            </a:r>
            <a:endParaRPr lang="en-US" sz="1400">
              <a:solidFill>
                <a:srgbClr val="8D39B0"/>
              </a:solidFill>
              <a:latin typeface="Tenorite"/>
              <a:ea typeface="+mn-lt"/>
              <a:cs typeface="+mn-lt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B3838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sz="1200">
                <a:latin typeface="Tenorite"/>
                <a:ea typeface="+mn-lt"/>
                <a:cs typeface="+mn-lt"/>
              </a:rPr>
              <a:t>Adversarial reviewer pass Challenges hypothesis independently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3B3838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sz="1200">
                <a:latin typeface="Tenorite"/>
                <a:ea typeface="+mn-lt"/>
                <a:cs typeface="+mn-lt"/>
              </a:rPr>
              <a:t>Checks for logic gaps &amp; blind spots</a:t>
            </a:r>
          </a:p>
          <a:p>
            <a:pPr marL="171450" indent="-171450">
              <a:spcBef>
                <a:spcPts val="900"/>
              </a:spcBef>
              <a:buFont typeface="Arial" panose="020B0604020202020204" pitchFamily="34" charset="0"/>
              <a:buChar char="•"/>
              <a:defRPr sz="1400">
                <a:solidFill>
                  <a:srgbClr val="3B3838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sz="1200">
                <a:latin typeface="Tenorite"/>
                <a:ea typeface="+mn-lt"/>
                <a:cs typeface="+mn-lt"/>
              </a:rPr>
              <a:t>Second reviewer pass → final verdict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129165D7-E6AE-BF81-0AC2-F86C2F6DCD85}"/>
              </a:ext>
            </a:extLst>
          </p:cNvPr>
          <p:cNvSpPr txBox="1"/>
          <p:nvPr/>
        </p:nvSpPr>
        <p:spPr>
          <a:xfrm flipH="1">
            <a:off x="609294" y="3155600"/>
            <a:ext cx="3486073" cy="1269578"/>
          </a:xfrm>
          <a:prstGeom prst="rect">
            <a:avLst/>
          </a:prstGeom>
          <a:noFill/>
          <a:ln>
            <a:noFill/>
          </a:ln>
        </p:spPr>
        <p:txBody>
          <a:bodyPr wrap="square" lIns="48000" tIns="45720" rIns="48000" bIns="45720" anchor="ctr">
            <a:spAutoFit/>
          </a:bodyPr>
          <a:lstStyle/>
          <a:p>
            <a:pPr defTabSz="609585">
              <a:spcAft>
                <a:spcPts val="300"/>
              </a:spcAft>
              <a:buClr>
                <a:srgbClr val="0089CF"/>
              </a:buClr>
              <a:defRPr/>
            </a:pPr>
            <a:r>
              <a:rPr lang="en-US" sz="1400" b="1">
                <a:solidFill>
                  <a:srgbClr val="D93D7A"/>
                </a:solidFill>
                <a:latin typeface="Tenorite"/>
              </a:rPr>
              <a:t>2</a:t>
            </a:r>
            <a:r>
              <a:rPr lang="en-US" sz="1400" b="1">
                <a:solidFill>
                  <a:srgbClr val="B71D6B"/>
                </a:solidFill>
                <a:latin typeface="Tenorite"/>
              </a:rPr>
              <a:t>. </a:t>
            </a:r>
            <a:r>
              <a:rPr lang="en-US" sz="1400" b="1">
                <a:solidFill>
                  <a:srgbClr val="B71D6B"/>
                </a:solidFill>
                <a:latin typeface="Tenorite"/>
                <a:cs typeface="Arial"/>
              </a:rPr>
              <a:t>Parse</a:t>
            </a:r>
            <a:r>
              <a:rPr lang="en-US" sz="1400" b="1">
                <a:solidFill>
                  <a:srgbClr val="B71D6B"/>
                </a:solidFill>
                <a:latin typeface="Tenorite"/>
                <a:ea typeface="+mn-lt"/>
                <a:cs typeface="+mn-lt"/>
              </a:rPr>
              <a:t> &amp; Structure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3B3838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sz="1200" err="1">
                <a:solidFill>
                  <a:srgbClr val="5A5A5A"/>
                </a:solidFill>
                <a:latin typeface="Tenorite"/>
              </a:rPr>
              <a:t>TroubleShooter</a:t>
            </a:r>
            <a:r>
              <a:rPr lang="en-US" sz="1200">
                <a:solidFill>
                  <a:srgbClr val="5A5A5A"/>
                </a:solidFill>
                <a:latin typeface="Tenorite"/>
              </a:rPr>
              <a:t> ($ command markers) → System State model</a:t>
            </a:r>
            <a:endParaRPr lang="en-US" sz="1200">
              <a:solidFill>
                <a:srgbClr val="000000"/>
              </a:solidFill>
              <a:latin typeface="Tenorite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3B3838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sz="1200">
                <a:solidFill>
                  <a:srgbClr val="5A5A5A"/>
                </a:solidFill>
                <a:latin typeface="Tenorite"/>
              </a:rPr>
              <a:t>TE log scan (ERROR &gt; ABN &gt; WARN) → Console.log COLI + stack traces → cascade detection</a:t>
            </a:r>
            <a:endParaRPr lang="en-US" sz="1200">
              <a:latin typeface="Tenorite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A250CE3C-A932-A27D-1329-6FADCEC24C9D}"/>
              </a:ext>
            </a:extLst>
          </p:cNvPr>
          <p:cNvSpPr txBox="1"/>
          <p:nvPr/>
        </p:nvSpPr>
        <p:spPr>
          <a:xfrm flipH="1">
            <a:off x="8448247" y="1779871"/>
            <a:ext cx="3376607" cy="792525"/>
          </a:xfrm>
          <a:prstGeom prst="rect">
            <a:avLst/>
          </a:prstGeom>
          <a:noFill/>
          <a:ln>
            <a:noFill/>
          </a:ln>
        </p:spPr>
        <p:txBody>
          <a:bodyPr wrap="square" lIns="48000" tIns="45720" rIns="48000" bIns="45720" anchor="ctr">
            <a:spAutoFit/>
          </a:bodyPr>
          <a:lstStyle/>
          <a:p>
            <a:pPr defTabSz="609585">
              <a:buClr>
                <a:srgbClr val="0089CF"/>
              </a:buClr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95B7"/>
                </a:solidFill>
                <a:effectLst/>
                <a:uLnTx/>
                <a:uFillTx/>
                <a:latin typeface="Tenorite"/>
              </a:rPr>
              <a:t>4. </a:t>
            </a:r>
            <a:r>
              <a:rPr lang="en-US" sz="1400" b="1">
                <a:solidFill>
                  <a:srgbClr val="0095B7"/>
                </a:solidFill>
                <a:latin typeface="Tenorite"/>
                <a:cs typeface="Arial"/>
              </a:rPr>
              <a:t>Build</a:t>
            </a:r>
            <a:r>
              <a:rPr lang="en-US" sz="1400" b="1">
                <a:solidFill>
                  <a:srgbClr val="0095B7"/>
                </a:solidFill>
                <a:latin typeface="Tenorite"/>
                <a:ea typeface="+mn-lt"/>
                <a:cs typeface="+mn-lt"/>
              </a:rPr>
              <a:t> Evidence Package</a:t>
            </a:r>
            <a:endParaRPr lang="en-US" sz="1400" b="1" i="0" u="none" strike="noStrike" kern="1200" cap="none" spc="0" normalizeH="0" baseline="0" noProof="0">
              <a:ln>
                <a:noFill/>
              </a:ln>
              <a:solidFill>
                <a:srgbClr val="0095B7"/>
              </a:solidFill>
              <a:effectLst/>
              <a:uLnTx/>
              <a:uFillTx/>
              <a:latin typeface="Tenorite"/>
              <a:ea typeface="+mn-lt"/>
              <a:cs typeface="+mn-lt"/>
            </a:endParaRPr>
          </a:p>
          <a:p>
            <a:pPr marL="135255" indent="-135255">
              <a:spcBef>
                <a:spcPts val="900"/>
              </a:spcBef>
              <a:buFont typeface="Arial" panose="020B0604020202020204" pitchFamily="34" charset="0"/>
              <a:buChar char="•"/>
              <a:defRPr sz="1400">
                <a:solidFill>
                  <a:srgbClr val="3B3838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sz="1200">
                <a:solidFill>
                  <a:srgbClr val="5A5A5A"/>
                </a:solidFill>
                <a:latin typeface="Tenorite"/>
                <a:ea typeface="+mj-lt"/>
                <a:cs typeface="+mj-lt"/>
              </a:rPr>
              <a:t>Structured facts (not raw logs) for LLM → confidence-scored hypothesis with evidence</a:t>
            </a:r>
            <a:r>
              <a:rPr lang="en-US" sz="1200">
                <a:latin typeface="Tenorite"/>
                <a:ea typeface="+mj-lt"/>
                <a:cs typeface="+mj-lt"/>
              </a:rPr>
              <a:t> 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D648408C-72FF-00BB-40F6-4A14EA8BB879}"/>
              </a:ext>
            </a:extLst>
          </p:cNvPr>
          <p:cNvSpPr txBox="1"/>
          <p:nvPr/>
        </p:nvSpPr>
        <p:spPr>
          <a:xfrm flipH="1">
            <a:off x="609294" y="4881369"/>
            <a:ext cx="3206830" cy="1269578"/>
          </a:xfrm>
          <a:prstGeom prst="rect">
            <a:avLst/>
          </a:prstGeom>
          <a:noFill/>
          <a:ln>
            <a:noFill/>
          </a:ln>
        </p:spPr>
        <p:txBody>
          <a:bodyPr wrap="square" lIns="48000" tIns="45720" rIns="48000" bIns="45720" anchor="ctr">
            <a:spAutoFit/>
          </a:bodyPr>
          <a:lstStyle/>
          <a:p>
            <a:pPr defTabSz="609585">
              <a:spcAft>
                <a:spcPts val="300"/>
              </a:spcAft>
              <a:buClr>
                <a:srgbClr val="0089CF"/>
              </a:buClr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B0A3"/>
                </a:solidFill>
                <a:effectLst/>
                <a:uLnTx/>
                <a:uFillTx/>
                <a:latin typeface="Tenorite"/>
              </a:rPr>
              <a:t>3. </a:t>
            </a:r>
            <a:r>
              <a:rPr lang="en-US" sz="1400" b="1">
                <a:solidFill>
                  <a:srgbClr val="00B0A3"/>
                </a:solidFill>
                <a:latin typeface="Tenorite"/>
                <a:ea typeface="+mn-lt"/>
                <a:cs typeface="+mn-lt"/>
              </a:rPr>
              <a:t>Compare &amp; Search</a:t>
            </a:r>
            <a:endParaRPr lang="en-US" sz="1400" b="1" i="0" u="none" strike="noStrike" kern="1200" cap="none" spc="0" normalizeH="0" baseline="0" noProof="0">
              <a:ln>
                <a:noFill/>
              </a:ln>
              <a:solidFill>
                <a:srgbClr val="00A98B"/>
              </a:solidFill>
              <a:effectLst/>
              <a:uLnTx/>
              <a:uFillTx/>
              <a:latin typeface="Tenorite"/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3B3838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sz="1200">
                <a:solidFill>
                  <a:srgbClr val="3B3838"/>
                </a:solidFill>
                <a:latin typeface="Tenorite"/>
                <a:ea typeface="+mn-lt"/>
                <a:cs typeface="+mn-lt"/>
              </a:rPr>
              <a:t>Position pattern (all TPs = code, one TP = HW, intermittent = flaky)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3B3838"/>
                </a:solidFill>
                <a:latin typeface="Proxima Nova Rg"/>
                <a:ea typeface="Proxima Nova Rg"/>
                <a:cs typeface="Proxima Nova Rg"/>
                <a:sym typeface="Proxima Nova"/>
              </a:defRPr>
            </a:pPr>
            <a:r>
              <a:rPr lang="en-US" sz="1200">
                <a:solidFill>
                  <a:srgbClr val="3B3838"/>
                </a:solidFill>
                <a:latin typeface="Tenorite"/>
                <a:ea typeface="+mn-lt"/>
                <a:cs typeface="+mn-lt"/>
              </a:rPr>
              <a:t>Visualizer TC history + ci-executor regression → Gerrit commit search → cross-validate</a:t>
            </a:r>
            <a:endParaRPr lang="en-US">
              <a:latin typeface="Tenorite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258755-FD45-8388-984A-BD3B7AAB153A}"/>
              </a:ext>
            </a:extLst>
          </p:cNvPr>
          <p:cNvSpPr/>
          <p:nvPr/>
        </p:nvSpPr>
        <p:spPr>
          <a:xfrm>
            <a:off x="5389476" y="2990110"/>
            <a:ext cx="1585392" cy="15853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D92796-6376-18C2-4203-6F88C6C5E554}"/>
              </a:ext>
            </a:extLst>
          </p:cNvPr>
          <p:cNvSpPr txBox="1"/>
          <p:nvPr/>
        </p:nvSpPr>
        <p:spPr>
          <a:xfrm>
            <a:off x="5491841" y="3414176"/>
            <a:ext cx="14185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6F2C91">
                    <a:lumMod val="10000"/>
                  </a:srgbClr>
                </a:solidFill>
                <a:effectLst/>
                <a:uLnTx/>
                <a:uFillTx/>
                <a:latin typeface=""/>
                <a:cs typeface="Arial" panose="020B0604020202020204" pitchFamily="34" charset="0"/>
              </a:rPr>
              <a:t>Solution Tenets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D2B2B37-1B6F-A134-E6A5-309DDA19D55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85409" y="2105890"/>
            <a:ext cx="3131858" cy="3117272"/>
          </a:xfrm>
          <a:prstGeom prst="ellipse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73378E-045F-032F-66FE-67708FBC7826}"/>
              </a:ext>
            </a:extLst>
          </p:cNvPr>
          <p:cNvSpPr txBox="1">
            <a:spLocks/>
          </p:cNvSpPr>
          <p:nvPr/>
        </p:nvSpPr>
        <p:spPr>
          <a:xfrm>
            <a:off x="621916" y="1077221"/>
            <a:ext cx="11444402" cy="25853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09019" indent="-309019" algn="l" defTabSz="609570" rtl="0" eaLnBrk="1" latinLnBrk="0" hangingPunct="1">
              <a:spcBef>
                <a:spcPts val="8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kumimoji="0" lang="en-US" sz="2667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50" indent="-380981" algn="l" defTabSz="609570" rtl="0" eaLnBrk="1" latinLnBrk="0" hangingPunct="1">
              <a:spcBef>
                <a:spcPts val="800"/>
              </a:spcBef>
              <a:buClr>
                <a:srgbClr val="00B0F0"/>
              </a:buClr>
              <a:buFont typeface="Arial" charset="0"/>
              <a:buChar char="•"/>
              <a:def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447728" indent="-228589" algn="l" defTabSz="609570" rtl="0" eaLnBrk="1" latinLnBrk="0" hangingPunct="1">
              <a:spcBef>
                <a:spcPts val="800"/>
              </a:spcBef>
              <a:buClr>
                <a:srgbClr val="00B0F0"/>
              </a:buClr>
              <a:buFont typeface="Arial" charset="0"/>
              <a:buChar char="•"/>
              <a:def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057298" indent="-228589" algn="l" defTabSz="609570" rtl="0" eaLnBrk="1" latinLnBrk="0" hangingPunct="1">
              <a:spcBef>
                <a:spcPts val="800"/>
              </a:spcBef>
              <a:buClr>
                <a:srgbClr val="00B0F0"/>
              </a:buClr>
              <a:buFont typeface="Arial" charset="0"/>
              <a:buChar char="•"/>
              <a:defRPr kumimoji="0" lang="en-US" sz="1467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666867" indent="-228589" algn="l" defTabSz="609570" rtl="0" eaLnBrk="1" latinLnBrk="0" hangingPunct="1">
              <a:spcBef>
                <a:spcPts val="800"/>
              </a:spcBef>
              <a:buClr>
                <a:srgbClr val="00B0F0"/>
              </a:buClr>
              <a:buFont typeface="Arial" charset="0"/>
              <a:buChar char="•"/>
              <a:def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632" indent="-304784" algn="l" defTabSz="609570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609570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609570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609570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8610" indent="-308610"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cs typeface="Arial"/>
              </a:rPr>
              <a:t>Python extracts deterministic facts. LLM reasons over structured evidence. Every conclusion is cited.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rgbClr val="000000"/>
              </a:solidFill>
              <a:latin typeface="Tenorite" pitchFamily="2" charset="0"/>
              <a:cs typeface="Helvetica" panose="020B0604020202020204" pitchFamily="34" charset="0"/>
            </a:endParaRP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05E1DF8E-4A53-7378-A243-18DFB422A1AA}"/>
              </a:ext>
            </a:extLst>
          </p:cNvPr>
          <p:cNvSpPr txBox="1">
            <a:spLocks/>
          </p:cNvSpPr>
          <p:nvPr/>
        </p:nvSpPr>
        <p:spPr>
          <a:xfrm>
            <a:off x="645714" y="427267"/>
            <a:ext cx="11162647" cy="489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en-US" sz="4400" i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>
                <a:ea typeface="+mj-lt"/>
                <a:cs typeface="+mj-lt"/>
              </a:rPr>
              <a:t>An Evidence-Driven Approach to Failure Analysis</a:t>
            </a:r>
            <a:endParaRPr lang="en-US" sz="3600">
              <a:ea typeface="+mj-lt"/>
              <a:cs typeface="+mj-lt"/>
            </a:endParaRPr>
          </a:p>
          <a:p>
            <a:endParaRPr lang="en-US" sz="3600" b="1">
              <a:latin typeface="Tenorite" pitchFamily="2" charset="0"/>
            </a:endParaRPr>
          </a:p>
        </p:txBody>
      </p:sp>
      <p:sp>
        <p:nvSpPr>
          <p:cNvPr id="15" name="Oval 5">
            <a:extLst>
              <a:ext uri="{FF2B5EF4-FFF2-40B4-BE49-F238E27FC236}">
                <a16:creationId xmlns:a16="http://schemas.microsoft.com/office/drawing/2014/main" id="{1F4A96C7-C138-CAC8-A951-B20BBA4629A5}"/>
              </a:ext>
            </a:extLst>
          </p:cNvPr>
          <p:cNvSpPr/>
          <p:nvPr/>
        </p:nvSpPr>
        <p:spPr>
          <a:xfrm>
            <a:off x="4888808" y="2501996"/>
            <a:ext cx="2325061" cy="232506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2438773C-DA56-47D6-50E3-8EE4B1B660EE}"/>
              </a:ext>
            </a:extLst>
          </p:cNvPr>
          <p:cNvSpPr txBox="1"/>
          <p:nvPr/>
        </p:nvSpPr>
        <p:spPr>
          <a:xfrm>
            <a:off x="5272476" y="2929900"/>
            <a:ext cx="1636223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defTabSz="914377">
              <a:defRPr/>
            </a:pPr>
            <a:r>
              <a:rPr lang="en-US" b="1">
                <a:latin typeface="Tenorite"/>
                <a:ea typeface="+mn-lt"/>
                <a:cs typeface="+mn-lt"/>
              </a:rPr>
              <a:t>From hours of manual investigation to &lt; 5 minutes</a:t>
            </a:r>
            <a:r>
              <a:rPr lang="en-US" b="1">
                <a:solidFill>
                  <a:srgbClr val="156082"/>
                </a:solidFill>
                <a:latin typeface="Tenorite"/>
                <a:ea typeface="+mn-lt"/>
                <a:cs typeface="+mn-lt"/>
              </a:rPr>
              <a:t> </a:t>
            </a:r>
          </a:p>
          <a:p>
            <a:pPr algn="ctr" defTabSz="914377">
              <a:defRPr/>
            </a:pPr>
            <a:endParaRPr lang="en-US" b="1">
              <a:latin typeface="Tenorite"/>
              <a:cs typeface="Arial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B9403FD-B449-2AEB-372C-A07CF7228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8000" y="6192000"/>
            <a:ext cx="402187" cy="226790"/>
          </a:xfrm>
        </p:spPr>
        <p:txBody>
          <a:bodyPr/>
          <a:lstStyle/>
          <a:p>
            <a:fld id="{86CB4B4D-7CA3-9044-876B-883B54F8677D}" type="slidenum">
              <a:rPr lang="en-US" noProof="0" smtClean="0"/>
              <a:pPr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53841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365760" y="137160"/>
            <a:ext cx="9144000" cy="4602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 anchor="t">
            <a:spAutoFit/>
          </a:bodyPr>
          <a:lstStyle/>
          <a:p>
            <a:r>
              <a:rPr lang="en-US" sz="2400" b="1" spc="-1">
                <a:solidFill>
                  <a:srgbClr val="1A1A2E"/>
                </a:solidFill>
                <a:latin typeface="Segoe UI"/>
              </a:rPr>
              <a:t>System Architecture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54" name="CustomShape 2"/>
          <p:cNvSpPr/>
          <p:nvPr/>
        </p:nvSpPr>
        <p:spPr>
          <a:xfrm>
            <a:off x="365760" y="565200"/>
            <a:ext cx="9144000" cy="25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latin typeface="Segoe UI"/>
              </a:rPr>
              <a:t>6-Stage Investigation Pipeline — Deterministic extraction feeds LLM reasoning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55" name="CustomShape 3"/>
          <p:cNvSpPr/>
          <p:nvPr/>
        </p:nvSpPr>
        <p:spPr>
          <a:xfrm>
            <a:off x="4937760" y="822960"/>
            <a:ext cx="2285640" cy="3654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600">
            <a:solidFill>
              <a:srgbClr val="D1D5DB"/>
            </a:solidFill>
            <a:round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6" name="CustomShape 4"/>
          <p:cNvSpPr/>
          <p:nvPr/>
        </p:nvSpPr>
        <p:spPr>
          <a:xfrm>
            <a:off x="4937760" y="841320"/>
            <a:ext cx="2285640" cy="288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300" b="1" strike="noStrike" spc="-1">
                <a:solidFill>
                  <a:srgbClr val="1F2A37"/>
                </a:solidFill>
                <a:latin typeface="Segoe UI"/>
              </a:rPr>
              <a:t>JIRA TICKET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57" name="CustomShape 5"/>
          <p:cNvSpPr/>
          <p:nvPr/>
        </p:nvSpPr>
        <p:spPr>
          <a:xfrm>
            <a:off x="5852160" y="1188720"/>
            <a:ext cx="456840" cy="27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D1D5DB"/>
                </a:solidFill>
                <a:latin typeface="Segoe UI"/>
              </a:rPr>
              <a:t>▼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58" name="CustomShape 6"/>
          <p:cNvSpPr/>
          <p:nvPr/>
        </p:nvSpPr>
        <p:spPr>
          <a:xfrm>
            <a:off x="274320" y="1417320"/>
            <a:ext cx="11612880" cy="2011320"/>
          </a:xfrm>
          <a:prstGeom prst="roundRect">
            <a:avLst>
              <a:gd name="adj" fmla="val 5000"/>
            </a:avLst>
          </a:prstGeom>
          <a:solidFill>
            <a:srgbClr val="EEEEEE"/>
          </a:solidFill>
          <a:ln w="19080">
            <a:solidFill>
              <a:srgbClr val="FFFFFF"/>
            </a:solidFill>
            <a:round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9" name="CustomShape 7"/>
          <p:cNvSpPr/>
          <p:nvPr/>
        </p:nvSpPr>
        <p:spPr>
          <a:xfrm>
            <a:off x="548640" y="1490400"/>
            <a:ext cx="45716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1" strike="noStrike" spc="-1">
                <a:solidFill>
                  <a:srgbClr val="0D9488"/>
                </a:solidFill>
                <a:latin typeface="Segoe UI"/>
              </a:rPr>
              <a:t>DETERMINISTIC PIPELINE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60" name="CustomShape 8"/>
          <p:cNvSpPr/>
          <p:nvPr/>
        </p:nvSpPr>
        <p:spPr>
          <a:xfrm>
            <a:off x="5029200" y="1490400"/>
            <a:ext cx="2742840" cy="227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strike="noStrike" spc="-1">
                <a:latin typeface="Segoe UI"/>
              </a:rPr>
              <a:t>Python — No LLM — Reproducible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161" name="CustomShape 9"/>
          <p:cNvSpPr/>
          <p:nvPr/>
        </p:nvSpPr>
        <p:spPr>
          <a:xfrm>
            <a:off x="457200" y="1828800"/>
            <a:ext cx="265140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2" name="CustomShape 10"/>
          <p:cNvSpPr/>
          <p:nvPr/>
        </p:nvSpPr>
        <p:spPr>
          <a:xfrm>
            <a:off x="548640" y="1920240"/>
            <a:ext cx="319680" cy="31968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</a:rPr>
              <a:t>1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63" name="CustomShape 11"/>
          <p:cNvSpPr/>
          <p:nvPr/>
        </p:nvSpPr>
        <p:spPr>
          <a:xfrm>
            <a:off x="914400" y="1901880"/>
            <a:ext cx="2102760" cy="272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1F2A37"/>
                </a:solidFill>
                <a:latin typeface="Segoe UI"/>
              </a:rPr>
              <a:t>EXTRACT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64" name="CustomShape 12"/>
          <p:cNvSpPr/>
          <p:nvPr/>
        </p:nvSpPr>
        <p:spPr>
          <a:xfrm>
            <a:off x="914400" y="2130480"/>
            <a:ext cx="2102760" cy="21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" b="0" strike="noStrike" spc="-1">
                <a:solidFill>
                  <a:srgbClr val="0D9488"/>
                </a:solidFill>
                <a:latin typeface="JetBrains Mono"/>
              </a:rPr>
              <a:t>jira_extractor.py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165" name="CustomShape 13"/>
          <p:cNvSpPr/>
          <p:nvPr/>
        </p:nvSpPr>
        <p:spPr>
          <a:xfrm>
            <a:off x="548640" y="2377440"/>
            <a:ext cx="2468520" cy="55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45000" rIns="90000" bIns="45000" anchor="t">
            <a:sp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CFI metadata &amp; TC info</a:t>
            </a:r>
            <a:endParaRPr lang="en-US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Radio, build, NOSA</a:t>
            </a:r>
            <a:endParaRPr lang="en-US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Log URLs &amp; links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166" name="CustomShape 14"/>
          <p:cNvSpPr/>
          <p:nvPr/>
        </p:nvSpPr>
        <p:spPr>
          <a:xfrm>
            <a:off x="3108960" y="2377440"/>
            <a:ext cx="18252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rgbClr val="0D9488"/>
                </a:solidFill>
                <a:latin typeface="Segoe UI"/>
              </a:rPr>
              <a:t>›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67" name="CustomShape 15"/>
          <p:cNvSpPr/>
          <p:nvPr/>
        </p:nvSpPr>
        <p:spPr>
          <a:xfrm>
            <a:off x="3204754" y="1734457"/>
            <a:ext cx="265140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8" name="CustomShape 16"/>
          <p:cNvSpPr/>
          <p:nvPr/>
        </p:nvSpPr>
        <p:spPr>
          <a:xfrm>
            <a:off x="3383280" y="1920240"/>
            <a:ext cx="319680" cy="31968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</a:rPr>
              <a:t>2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69" name="CustomShape 17"/>
          <p:cNvSpPr/>
          <p:nvPr/>
        </p:nvSpPr>
        <p:spPr>
          <a:xfrm>
            <a:off x="3749040" y="1901880"/>
            <a:ext cx="2102760" cy="272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1F2A37"/>
                </a:solidFill>
                <a:latin typeface="Segoe UI"/>
              </a:rPr>
              <a:t>SCOPE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70" name="CustomShape 18"/>
          <p:cNvSpPr/>
          <p:nvPr/>
        </p:nvSpPr>
        <p:spPr>
          <a:xfrm>
            <a:off x="3749040" y="2130480"/>
            <a:ext cx="2102760" cy="21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" b="0" strike="noStrike" spc="-1">
                <a:solidFill>
                  <a:srgbClr val="0D9488"/>
                </a:solidFill>
                <a:latin typeface="JetBrains Mono"/>
              </a:rPr>
              <a:t>scope_analyzer.py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171" name="CustomShape 19"/>
          <p:cNvSpPr/>
          <p:nvPr/>
        </p:nvSpPr>
        <p:spPr>
          <a:xfrm>
            <a:off x="3383280" y="2377440"/>
            <a:ext cx="2468520" cy="55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45000" rIns="90000" bIns="45000" anchor="t">
            <a:sp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Regression boundary</a:t>
            </a:r>
            <a:endParaRPr lang="en-US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Fail rate &amp; history</a:t>
            </a:r>
            <a:endParaRPr lang="en-US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Position pattern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172" name="CustomShape 20"/>
          <p:cNvSpPr/>
          <p:nvPr/>
        </p:nvSpPr>
        <p:spPr>
          <a:xfrm>
            <a:off x="5943600" y="2377440"/>
            <a:ext cx="18252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rgbClr val="0D9488"/>
                </a:solidFill>
                <a:latin typeface="Segoe UI"/>
              </a:rPr>
              <a:t>›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73" name="CustomShape 21"/>
          <p:cNvSpPr/>
          <p:nvPr/>
        </p:nvSpPr>
        <p:spPr>
          <a:xfrm>
            <a:off x="6126480" y="1828800"/>
            <a:ext cx="265140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4" name="CustomShape 22"/>
          <p:cNvSpPr/>
          <p:nvPr/>
        </p:nvSpPr>
        <p:spPr>
          <a:xfrm>
            <a:off x="6217920" y="1920240"/>
            <a:ext cx="319680" cy="31968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</a:rPr>
              <a:t>3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75" name="CustomShape 23"/>
          <p:cNvSpPr/>
          <p:nvPr/>
        </p:nvSpPr>
        <p:spPr>
          <a:xfrm>
            <a:off x="6583680" y="1901880"/>
            <a:ext cx="2102760" cy="272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1F2A37"/>
                </a:solidFill>
                <a:latin typeface="Segoe UI"/>
              </a:rPr>
              <a:t>NARROW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76" name="CustomShape 24"/>
          <p:cNvSpPr/>
          <p:nvPr/>
        </p:nvSpPr>
        <p:spPr>
          <a:xfrm>
            <a:off x="6583680" y="2130480"/>
            <a:ext cx="2102760" cy="21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" b="0" strike="noStrike" spc="-1">
                <a:solidFill>
                  <a:srgbClr val="0D9488"/>
                </a:solidFill>
                <a:latin typeface="JetBrains Mono"/>
              </a:rPr>
              <a:t>commit_finder.py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177" name="CustomShape 25"/>
          <p:cNvSpPr/>
          <p:nvPr/>
        </p:nvSpPr>
        <p:spPr>
          <a:xfrm>
            <a:off x="6217920" y="2377440"/>
            <a:ext cx="2468520" cy="55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45000" rIns="90000" bIns="45000" anchor="t">
            <a:sp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Gerrit commit search</a:t>
            </a:r>
            <a:endParaRPr lang="en-US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Module-aware scoring</a:t>
            </a:r>
            <a:endParaRPr lang="en-US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Threading detection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178" name="CustomShape 26"/>
          <p:cNvSpPr/>
          <p:nvPr/>
        </p:nvSpPr>
        <p:spPr>
          <a:xfrm>
            <a:off x="8778240" y="2377440"/>
            <a:ext cx="18252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rgbClr val="0D9488"/>
                </a:solidFill>
                <a:latin typeface="Segoe UI"/>
              </a:rPr>
              <a:t>›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79" name="CustomShape 27"/>
          <p:cNvSpPr/>
          <p:nvPr/>
        </p:nvSpPr>
        <p:spPr>
          <a:xfrm>
            <a:off x="8961120" y="1828800"/>
            <a:ext cx="265140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0" name="CustomShape 28"/>
          <p:cNvSpPr/>
          <p:nvPr/>
        </p:nvSpPr>
        <p:spPr>
          <a:xfrm>
            <a:off x="9052560" y="1920240"/>
            <a:ext cx="319680" cy="31968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</a:rPr>
              <a:t>4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81" name="CustomShape 29"/>
          <p:cNvSpPr/>
          <p:nvPr/>
        </p:nvSpPr>
        <p:spPr>
          <a:xfrm>
            <a:off x="9418320" y="1901880"/>
            <a:ext cx="2102760" cy="272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1F2A37"/>
                </a:solidFill>
                <a:latin typeface="Segoe UI"/>
              </a:rPr>
              <a:t>PARSE &amp; ENRICH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82" name="CustomShape 30"/>
          <p:cNvSpPr/>
          <p:nvPr/>
        </p:nvSpPr>
        <p:spPr>
          <a:xfrm>
            <a:off x="9418320" y="2130480"/>
            <a:ext cx="2102760" cy="21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" b="0" strike="noStrike" spc="-1">
                <a:solidFill>
                  <a:srgbClr val="0D9488"/>
                </a:solidFill>
                <a:latin typeface="JetBrains Mono"/>
              </a:rPr>
              <a:t>log_parser.py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183" name="CustomShape 31"/>
          <p:cNvSpPr/>
          <p:nvPr/>
        </p:nvSpPr>
        <p:spPr>
          <a:xfrm>
            <a:off x="9052560" y="2377440"/>
            <a:ext cx="2468520" cy="55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45000" rIns="90000" bIns="45000" anchor="t">
            <a:sp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TE log diff (fail vs pass)</a:t>
            </a:r>
            <a:endParaRPr lang="en-US" sz="900" b="0" strike="noStrike" spc="-1">
              <a:latin typeface="Arial"/>
            </a:endParaRPr>
          </a:p>
          <a:p>
            <a:pPr>
              <a:spcAft>
                <a:spcPts val="201"/>
              </a:spcAft>
            </a:pPr>
            <a:r>
              <a:rPr lang="en-US" sz="900" spc="-1">
                <a:latin typeface="Segoe UI"/>
              </a:rPr>
              <a:t>Trouble Shooter</a:t>
            </a:r>
            <a:r>
              <a:rPr lang="en-US" sz="900" b="0" strike="noStrike" spc="-1">
                <a:latin typeface="Segoe UI"/>
              </a:rPr>
              <a:t> state</a:t>
            </a:r>
            <a:endParaRPr lang="en-US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7 issue-type enrichers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184" name="CustomShape 32"/>
          <p:cNvSpPr/>
          <p:nvPr/>
        </p:nvSpPr>
        <p:spPr>
          <a:xfrm>
            <a:off x="274320" y="3566160"/>
            <a:ext cx="11612880" cy="2468520"/>
          </a:xfrm>
          <a:prstGeom prst="roundRect">
            <a:avLst>
              <a:gd name="adj" fmla="val 5000"/>
            </a:avLst>
          </a:prstGeom>
          <a:solidFill>
            <a:srgbClr val="EEEEEE"/>
          </a:solidFill>
          <a:ln w="19080">
            <a:solidFill>
              <a:srgbClr val="FFFFFF"/>
            </a:solidFill>
            <a:round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5" name="CustomShape 33"/>
          <p:cNvSpPr/>
          <p:nvPr/>
        </p:nvSpPr>
        <p:spPr>
          <a:xfrm>
            <a:off x="548640" y="3639240"/>
            <a:ext cx="45716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1" strike="noStrike" spc="-1">
                <a:solidFill>
                  <a:srgbClr val="7C3AED"/>
                </a:solidFill>
                <a:latin typeface="Segoe UI"/>
              </a:rPr>
              <a:t>LLM REASONING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86" name="CustomShape 34"/>
          <p:cNvSpPr/>
          <p:nvPr/>
        </p:nvSpPr>
        <p:spPr>
          <a:xfrm>
            <a:off x="5029200" y="3639240"/>
            <a:ext cx="3657240" cy="227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strike="noStrike" spc="-1">
                <a:latin typeface="Segoe UI"/>
              </a:rPr>
              <a:t>Claude (Anthropic) via Kiro CLI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187" name="CustomShape 35"/>
          <p:cNvSpPr/>
          <p:nvPr/>
        </p:nvSpPr>
        <p:spPr>
          <a:xfrm>
            <a:off x="457200" y="4023360"/>
            <a:ext cx="3200040" cy="1828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600">
            <a:solidFill>
              <a:srgbClr val="A78BFA"/>
            </a:solidFill>
            <a:round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8" name="CustomShape 36"/>
          <p:cNvSpPr/>
          <p:nvPr/>
        </p:nvSpPr>
        <p:spPr>
          <a:xfrm>
            <a:off x="548640" y="4114800"/>
            <a:ext cx="319680" cy="31968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</a:rPr>
              <a:t>5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89" name="CustomShape 37"/>
          <p:cNvSpPr/>
          <p:nvPr/>
        </p:nvSpPr>
        <p:spPr>
          <a:xfrm>
            <a:off x="914400" y="4096440"/>
            <a:ext cx="2559960" cy="2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00" b="1" strike="noStrike" spc="-1">
                <a:solidFill>
                  <a:srgbClr val="1F2A37"/>
                </a:solidFill>
                <a:latin typeface="Segoe UI"/>
              </a:rPr>
              <a:t>REASONER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90" name="CustomShape 38"/>
          <p:cNvSpPr/>
          <p:nvPr/>
        </p:nvSpPr>
        <p:spPr>
          <a:xfrm>
            <a:off x="914400" y="4325040"/>
            <a:ext cx="2559960" cy="21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" b="0" strike="noStrike" spc="-1">
                <a:solidFill>
                  <a:srgbClr val="7C3AED"/>
                </a:solidFill>
                <a:latin typeface="JetBrains Mono"/>
              </a:rPr>
              <a:t>Reasoner.py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191" name="CustomShape 39"/>
          <p:cNvSpPr/>
          <p:nvPr/>
        </p:nvSpPr>
        <p:spPr>
          <a:xfrm>
            <a:off x="548640" y="4572000"/>
            <a:ext cx="2925720" cy="715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45000" rIns="90000" bIns="45000" anchor="t">
            <a:sp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Structured evidence → Hypothesis</a:t>
            </a:r>
            <a:endParaRPr lang="en-US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Root cause classification</a:t>
            </a:r>
            <a:endParaRPr lang="en-US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Confidence scoring (HIGH/MED)</a:t>
            </a:r>
            <a:endParaRPr lang="en-US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Evidence chain [E1]...[En]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192" name="CustomShape 40"/>
          <p:cNvSpPr/>
          <p:nvPr/>
        </p:nvSpPr>
        <p:spPr>
          <a:xfrm>
            <a:off x="3657600" y="4754880"/>
            <a:ext cx="45684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rgbClr val="7C3AED"/>
                </a:solidFill>
                <a:latin typeface="Segoe UI"/>
              </a:rPr>
              <a:t>→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93" name="CustomShape 41"/>
          <p:cNvSpPr/>
          <p:nvPr/>
        </p:nvSpPr>
        <p:spPr>
          <a:xfrm>
            <a:off x="4023360" y="4023360"/>
            <a:ext cx="3474360" cy="182844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25560">
            <a:solidFill>
              <a:srgbClr val="FBBF24"/>
            </a:solidFill>
            <a:round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4" name="CustomShape 42"/>
          <p:cNvSpPr/>
          <p:nvPr/>
        </p:nvSpPr>
        <p:spPr>
          <a:xfrm>
            <a:off x="4206240" y="4114800"/>
            <a:ext cx="3108600" cy="2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00" b="1" strike="noStrike" spc="-1">
                <a:solidFill>
                  <a:srgbClr val="D97706"/>
                </a:solidFill>
                <a:latin typeface="Segoe UI"/>
              </a:rPr>
              <a:t>⚖️  ADVERSARIAL REVIEWER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95" name="CustomShape 43"/>
          <p:cNvSpPr/>
          <p:nvPr/>
        </p:nvSpPr>
        <p:spPr>
          <a:xfrm>
            <a:off x="4206240" y="4370760"/>
            <a:ext cx="3108600" cy="2139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" b="0" strike="noStrike" spc="-1">
                <a:latin typeface="Segoe UI"/>
              </a:rPr>
              <a:t>Independent second opinion 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196" name="CustomShape 44"/>
          <p:cNvSpPr/>
          <p:nvPr/>
        </p:nvSpPr>
        <p:spPr>
          <a:xfrm>
            <a:off x="4206240" y="4617720"/>
            <a:ext cx="3108600" cy="715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45000" rIns="90000" bIns="45000" anchor="t">
            <a:sp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Challenges hypothesis independently</a:t>
            </a:r>
            <a:endParaRPr lang="en-US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Checks for logic gaps &amp; blind spots</a:t>
            </a:r>
            <a:endParaRPr lang="en-US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Validates evidence supports conclusion</a:t>
            </a:r>
            <a:endParaRPr lang="en-US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Verdict: ACCEPT  or  REJECT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197" name="CustomShape 45"/>
          <p:cNvSpPr/>
          <p:nvPr/>
        </p:nvSpPr>
        <p:spPr>
          <a:xfrm>
            <a:off x="4389120" y="5486400"/>
            <a:ext cx="1279800" cy="27396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12600">
            <a:solidFill>
              <a:srgbClr val="059669"/>
            </a:solidFill>
            <a:round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8" name="CustomShape 46"/>
          <p:cNvSpPr/>
          <p:nvPr/>
        </p:nvSpPr>
        <p:spPr>
          <a:xfrm>
            <a:off x="4389120" y="5486400"/>
            <a:ext cx="1279800" cy="227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00" b="1" strike="noStrike" spc="-1">
                <a:solidFill>
                  <a:srgbClr val="059669"/>
                </a:solidFill>
                <a:latin typeface="Segoe UI"/>
              </a:rPr>
              <a:t>✓ ACCEPT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199" name="CustomShape 47"/>
          <p:cNvSpPr/>
          <p:nvPr/>
        </p:nvSpPr>
        <p:spPr>
          <a:xfrm>
            <a:off x="5852160" y="5486400"/>
            <a:ext cx="1371240" cy="273960"/>
          </a:xfrm>
          <a:prstGeom prst="roundRect">
            <a:avLst>
              <a:gd name="adj" fmla="val 5000"/>
            </a:avLst>
          </a:prstGeom>
          <a:solidFill>
            <a:srgbClr val="FFE4E6"/>
          </a:solidFill>
          <a:ln w="12600">
            <a:solidFill>
              <a:srgbClr val="E11D48"/>
            </a:solidFill>
            <a:round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0" name="CustomShape 48"/>
          <p:cNvSpPr/>
          <p:nvPr/>
        </p:nvSpPr>
        <p:spPr>
          <a:xfrm>
            <a:off x="5852160" y="5486400"/>
            <a:ext cx="1371240" cy="227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00" b="1" strike="noStrike" spc="-1">
                <a:solidFill>
                  <a:srgbClr val="E11D48"/>
                </a:solidFill>
                <a:latin typeface="Segoe UI"/>
              </a:rPr>
              <a:t>✗ REJECT →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201" name="CustomShape 49"/>
          <p:cNvSpPr/>
          <p:nvPr/>
        </p:nvSpPr>
        <p:spPr>
          <a:xfrm>
            <a:off x="7772400" y="4023360"/>
            <a:ext cx="3840120" cy="1828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560">
            <a:solidFill>
              <a:srgbClr val="E11D48"/>
            </a:solidFill>
            <a:round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2" name="CustomShape 50"/>
          <p:cNvSpPr/>
          <p:nvPr/>
        </p:nvSpPr>
        <p:spPr>
          <a:xfrm>
            <a:off x="7863840" y="4114800"/>
            <a:ext cx="319680" cy="319680"/>
          </a:xfrm>
          <a:prstGeom prst="ellipse">
            <a:avLst/>
          </a:prstGeom>
          <a:solidFill>
            <a:srgbClr val="E11D48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</a:rPr>
              <a:t>6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03" name="CustomShape 51"/>
          <p:cNvSpPr/>
          <p:nvPr/>
        </p:nvSpPr>
        <p:spPr>
          <a:xfrm>
            <a:off x="8229600" y="4096440"/>
            <a:ext cx="3200040" cy="2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00" b="1" strike="noStrike" spc="-1">
                <a:solidFill>
                  <a:srgbClr val="1F2A37"/>
                </a:solidFill>
                <a:latin typeface="Segoe UI"/>
              </a:rPr>
              <a:t>DEEP INVESTIGATE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204" name="CustomShape 52"/>
          <p:cNvSpPr/>
          <p:nvPr/>
        </p:nvSpPr>
        <p:spPr>
          <a:xfrm>
            <a:off x="8229600" y="4325040"/>
            <a:ext cx="3200040" cy="21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" b="0" strike="noStrike" spc="-1">
                <a:solidFill>
                  <a:srgbClr val="E11D48"/>
                </a:solidFill>
                <a:latin typeface="JetBrains Mono"/>
              </a:rPr>
              <a:t>deep_investigator.py + code_reader.py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05" name="CustomShape 53"/>
          <p:cNvSpPr/>
          <p:nvPr/>
        </p:nvSpPr>
        <p:spPr>
          <a:xfrm>
            <a:off x="7863840" y="4572000"/>
            <a:ext cx="3565800" cy="715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45000" rIns="90000" bIns="45000" anchor="t">
            <a:sp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Full source tracing via Gerrit API</a:t>
            </a:r>
            <a:endParaRPr lang="en-US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 err="1">
                <a:latin typeface="Segoe UI"/>
              </a:rPr>
              <a:t>radiosw</a:t>
            </a:r>
            <a:r>
              <a:rPr lang="en-US" sz="900" b="0" strike="noStrike" spc="-1">
                <a:latin typeface="Segoe UI"/>
              </a:rPr>
              <a:t> (C/C++) + </a:t>
            </a:r>
            <a:r>
              <a:rPr lang="en-US" sz="900" b="0" strike="noStrike" spc="-1" err="1">
                <a:latin typeface="Segoe UI"/>
              </a:rPr>
              <a:t>elvis-tc</a:t>
            </a:r>
            <a:r>
              <a:rPr lang="en-US" sz="900" b="0" strike="noStrike" spc="-1">
                <a:latin typeface="Segoe UI"/>
              </a:rPr>
              <a:t> (Java)</a:t>
            </a:r>
            <a:endParaRPr lang="en-US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File + line level fix suggestion</a:t>
            </a:r>
            <a:endParaRPr lang="en-US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900" b="0" strike="noStrike" spc="-1">
                <a:latin typeface="Segoe UI"/>
              </a:rPr>
              <a:t>Second reviewer pass → final verdict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206" name="CustomShape 54"/>
          <p:cNvSpPr/>
          <p:nvPr/>
        </p:nvSpPr>
        <p:spPr>
          <a:xfrm>
            <a:off x="274320" y="6217920"/>
            <a:ext cx="11612880" cy="502560"/>
          </a:xfrm>
          <a:prstGeom prst="roundRect">
            <a:avLst>
              <a:gd name="adj" fmla="val 5000"/>
            </a:avLst>
          </a:prstGeom>
          <a:solidFill>
            <a:srgbClr val="EEEEEE"/>
          </a:solidFill>
          <a:ln w="19080">
            <a:solidFill>
              <a:srgbClr val="FFFFFF"/>
            </a:solidFill>
            <a:round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7" name="CustomShape 55"/>
          <p:cNvSpPr/>
          <p:nvPr/>
        </p:nvSpPr>
        <p:spPr>
          <a:xfrm>
            <a:off x="731520" y="6263640"/>
            <a:ext cx="2011320" cy="25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059669"/>
                </a:solidFill>
                <a:latin typeface="Segoe UI"/>
              </a:rPr>
              <a:t> Root Cause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08" name="CustomShape 56"/>
          <p:cNvSpPr/>
          <p:nvPr/>
        </p:nvSpPr>
        <p:spPr>
          <a:xfrm>
            <a:off x="3017520" y="6263640"/>
            <a:ext cx="2011320" cy="25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059669"/>
                </a:solidFill>
                <a:latin typeface="Segoe UI"/>
              </a:rPr>
              <a:t> Evidence Chain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09" name="CustomShape 57"/>
          <p:cNvSpPr/>
          <p:nvPr/>
        </p:nvSpPr>
        <p:spPr>
          <a:xfrm>
            <a:off x="5303520" y="6263640"/>
            <a:ext cx="2011320" cy="25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059669"/>
                </a:solidFill>
                <a:latin typeface="Segoe UI"/>
              </a:rPr>
              <a:t>  Fix Suggestion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10" name="CustomShape 58"/>
          <p:cNvSpPr/>
          <p:nvPr/>
        </p:nvSpPr>
        <p:spPr>
          <a:xfrm>
            <a:off x="7589520" y="6263640"/>
            <a:ext cx="2011320" cy="25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059669"/>
                </a:solidFill>
                <a:latin typeface="Segoe UI"/>
              </a:rPr>
              <a:t>  Confidence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11" name="CustomShape 59"/>
          <p:cNvSpPr/>
          <p:nvPr/>
        </p:nvSpPr>
        <p:spPr>
          <a:xfrm>
            <a:off x="9875520" y="6263640"/>
            <a:ext cx="2011320" cy="25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45000" rIns="5076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059669"/>
                </a:solidFill>
                <a:latin typeface="Segoe UI"/>
              </a:rPr>
              <a:t>  Adversarial Review</a:t>
            </a:r>
            <a:endParaRPr lang="en-US" sz="11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CustomShape 1"/>
          <p:cNvSpPr/>
          <p:nvPr/>
        </p:nvSpPr>
        <p:spPr>
          <a:xfrm>
            <a:off x="457200" y="274320"/>
            <a:ext cx="10972080" cy="521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2800" b="1" strike="noStrike" spc="-1">
                <a:solidFill>
                  <a:srgbClr val="000000"/>
                </a:solidFill>
                <a:latin typeface="Aptos Display"/>
                <a:ea typeface="DejaVu Sans"/>
              </a:rPr>
              <a:t>Evaluation Results — 33 Real </a:t>
            </a:r>
            <a:r>
              <a:rPr lang="en-US" sz="2800" b="1" spc="-1">
                <a:solidFill>
                  <a:srgbClr val="000000"/>
                </a:solidFill>
                <a:latin typeface="Aptos Display"/>
                <a:ea typeface="DejaVu Sans"/>
              </a:rPr>
              <a:t>Jira Tickets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213" name="CustomShape 2"/>
          <p:cNvSpPr/>
          <p:nvPr/>
        </p:nvSpPr>
        <p:spPr>
          <a:xfrm>
            <a:off x="823320" y="1097280"/>
            <a:ext cx="2102400" cy="127944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9080">
            <a:solidFill>
              <a:srgbClr val="888888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4" name="CustomShape 3"/>
          <p:cNvSpPr/>
          <p:nvPr/>
        </p:nvSpPr>
        <p:spPr>
          <a:xfrm>
            <a:off x="914400" y="1188720"/>
            <a:ext cx="210240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strike="noStrike" spc="-1">
                <a:solidFill>
                  <a:srgbClr val="196B24"/>
                </a:solidFill>
                <a:latin typeface="Aptos"/>
                <a:ea typeface="DejaVu Sans"/>
              </a:rPr>
              <a:t>94%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15" name="CustomShape 4"/>
          <p:cNvSpPr/>
          <p:nvPr/>
        </p:nvSpPr>
        <p:spPr>
          <a:xfrm>
            <a:off x="1188720" y="1737360"/>
            <a:ext cx="210240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5A5A5A"/>
                </a:solidFill>
                <a:latin typeface="Aptos"/>
                <a:ea typeface="DejaVu Sans"/>
              </a:rPr>
              <a:t>Root Cause Detection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16" name="CustomShape 5"/>
          <p:cNvSpPr/>
          <p:nvPr/>
        </p:nvSpPr>
        <p:spPr>
          <a:xfrm>
            <a:off x="3383280" y="1097280"/>
            <a:ext cx="2102400" cy="127944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9080">
            <a:solidFill>
              <a:srgbClr val="888888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7" name="CustomShape 6"/>
          <p:cNvSpPr/>
          <p:nvPr/>
        </p:nvSpPr>
        <p:spPr>
          <a:xfrm>
            <a:off x="3475080" y="1188720"/>
            <a:ext cx="210240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strike="noStrike" spc="-1">
                <a:solidFill>
                  <a:srgbClr val="196B24"/>
                </a:solidFill>
                <a:latin typeface="Aptos"/>
                <a:ea typeface="DejaVu Sans"/>
              </a:rPr>
              <a:t>90%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18" name="CustomShape 7"/>
          <p:cNvSpPr/>
          <p:nvPr/>
        </p:nvSpPr>
        <p:spPr>
          <a:xfrm>
            <a:off x="3566520" y="1677960"/>
            <a:ext cx="210240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5A5A5A"/>
                </a:solidFill>
                <a:latin typeface="Aptos"/>
                <a:ea typeface="DejaVu Sans"/>
              </a:rPr>
              <a:t>HIGH Confidence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19" name="CustomShape 8"/>
          <p:cNvSpPr/>
          <p:nvPr/>
        </p:nvSpPr>
        <p:spPr>
          <a:xfrm>
            <a:off x="5943960" y="1097640"/>
            <a:ext cx="2102400" cy="127944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9080">
            <a:solidFill>
              <a:srgbClr val="888888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0" name="CustomShape 9"/>
          <p:cNvSpPr/>
          <p:nvPr/>
        </p:nvSpPr>
        <p:spPr>
          <a:xfrm>
            <a:off x="5943960" y="1189800"/>
            <a:ext cx="210240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strike="noStrike" spc="-1">
                <a:solidFill>
                  <a:srgbClr val="196B24"/>
                </a:solidFill>
                <a:latin typeface="Aptos"/>
                <a:ea typeface="DejaVu Sans"/>
              </a:rPr>
              <a:t>4.7 min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21" name="CustomShape 10"/>
          <p:cNvSpPr/>
          <p:nvPr/>
        </p:nvSpPr>
        <p:spPr>
          <a:xfrm>
            <a:off x="6217920" y="1737360"/>
            <a:ext cx="210240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5A5A5A"/>
                </a:solidFill>
                <a:latin typeface="Aptos"/>
                <a:ea typeface="DejaVu Sans"/>
              </a:rPr>
              <a:t>Average Analysis Time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22" name="CustomShape 11"/>
          <p:cNvSpPr/>
          <p:nvPr/>
        </p:nvSpPr>
        <p:spPr>
          <a:xfrm>
            <a:off x="8503920" y="1097280"/>
            <a:ext cx="2102400" cy="127944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9080">
            <a:solidFill>
              <a:srgbClr val="888888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3" name="CustomShape 12"/>
          <p:cNvSpPr/>
          <p:nvPr/>
        </p:nvSpPr>
        <p:spPr>
          <a:xfrm>
            <a:off x="8504280" y="1189800"/>
            <a:ext cx="210240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strike="noStrike" spc="-1">
                <a:solidFill>
                  <a:srgbClr val="196B24"/>
                </a:solidFill>
                <a:latin typeface="Aptos"/>
                <a:ea typeface="DejaVu Sans"/>
              </a:rPr>
              <a:t>87%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24" name="CustomShape 13"/>
          <p:cNvSpPr/>
          <p:nvPr/>
        </p:nvSpPr>
        <p:spPr>
          <a:xfrm>
            <a:off x="8686800" y="1737360"/>
            <a:ext cx="246852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5A5A5A"/>
                </a:solidFill>
                <a:latin typeface="Aptos"/>
                <a:ea typeface="DejaVu Sans"/>
              </a:rPr>
              <a:t>Verified vs Jira Fix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25" name="CustomShape 14"/>
          <p:cNvSpPr/>
          <p:nvPr/>
        </p:nvSpPr>
        <p:spPr>
          <a:xfrm>
            <a:off x="457200" y="2651760"/>
            <a:ext cx="10972080" cy="33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0000"/>
                </a:solidFill>
                <a:latin typeface="Aptos"/>
                <a:ea typeface="DejaVu Sans"/>
              </a:rPr>
              <a:t>Comparison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226" name="CustomShape 15"/>
          <p:cNvSpPr/>
          <p:nvPr/>
        </p:nvSpPr>
        <p:spPr>
          <a:xfrm>
            <a:off x="457200" y="3063240"/>
            <a:ext cx="11246400" cy="365040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7" name="CustomShape 16"/>
          <p:cNvSpPr/>
          <p:nvPr/>
        </p:nvSpPr>
        <p:spPr>
          <a:xfrm>
            <a:off x="640080" y="3081600"/>
            <a:ext cx="319968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>
                <a:solidFill>
                  <a:srgbClr val="156082"/>
                </a:solidFill>
                <a:latin typeface="Aptos"/>
                <a:ea typeface="DejaVu Sans"/>
              </a:rPr>
              <a:t>Metric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28" name="CustomShape 17"/>
          <p:cNvSpPr/>
          <p:nvPr/>
        </p:nvSpPr>
        <p:spPr>
          <a:xfrm>
            <a:off x="4114800" y="3081600"/>
            <a:ext cx="365688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>
                <a:solidFill>
                  <a:srgbClr val="196B24"/>
                </a:solidFill>
                <a:latin typeface="Aptos"/>
                <a:ea typeface="DejaVu Sans"/>
              </a:rPr>
              <a:t>Log Analyser Agent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29" name="CustomShape 18"/>
          <p:cNvSpPr/>
          <p:nvPr/>
        </p:nvSpPr>
        <p:spPr>
          <a:xfrm>
            <a:off x="8412480" y="3081600"/>
            <a:ext cx="319968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>
                <a:solidFill>
                  <a:srgbClr val="E97132"/>
                </a:solidFill>
                <a:latin typeface="Aptos"/>
                <a:ea typeface="DejaVu Sans"/>
              </a:rPr>
              <a:t>Manual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30" name="CustomShape 19"/>
          <p:cNvSpPr/>
          <p:nvPr/>
        </p:nvSpPr>
        <p:spPr>
          <a:xfrm>
            <a:off x="457200" y="3474720"/>
            <a:ext cx="11246400" cy="34668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1" name="CustomShape 20"/>
          <p:cNvSpPr/>
          <p:nvPr/>
        </p:nvSpPr>
        <p:spPr>
          <a:xfrm>
            <a:off x="640080" y="3493080"/>
            <a:ext cx="319968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Aptos"/>
                <a:ea typeface="DejaVu Sans"/>
              </a:rPr>
              <a:t>Time to root cause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32" name="CustomShape 21"/>
          <p:cNvSpPr/>
          <p:nvPr/>
        </p:nvSpPr>
        <p:spPr>
          <a:xfrm>
            <a:off x="4114800" y="3493080"/>
            <a:ext cx="365688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196B24"/>
                </a:solidFill>
                <a:latin typeface="Aptos"/>
                <a:ea typeface="DejaVu Sans"/>
              </a:rPr>
              <a:t>4.7 minutes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33" name="CustomShape 22"/>
          <p:cNvSpPr/>
          <p:nvPr/>
        </p:nvSpPr>
        <p:spPr>
          <a:xfrm>
            <a:off x="8412480" y="3493080"/>
            <a:ext cx="319968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5A5A5A"/>
                </a:solidFill>
                <a:latin typeface="Aptos"/>
                <a:ea typeface="DejaVu Sans"/>
              </a:rPr>
              <a:t>2–8 hours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34" name="CustomShape 23"/>
          <p:cNvSpPr/>
          <p:nvPr/>
        </p:nvSpPr>
        <p:spPr>
          <a:xfrm>
            <a:off x="640080" y="3858840"/>
            <a:ext cx="319968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Aptos"/>
                <a:ea typeface="DejaVu Sans"/>
              </a:rPr>
              <a:t>Code tracing depth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35" name="CustomShape 24"/>
          <p:cNvSpPr/>
          <p:nvPr/>
        </p:nvSpPr>
        <p:spPr>
          <a:xfrm>
            <a:off x="4114800" y="3858840"/>
            <a:ext cx="365688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196B24"/>
                </a:solidFill>
                <a:latin typeface="Aptos"/>
                <a:ea typeface="DejaVu Sans"/>
              </a:rPr>
              <a:t>Full source (C/C++ + Java)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36" name="CustomShape 25"/>
          <p:cNvSpPr/>
          <p:nvPr/>
        </p:nvSpPr>
        <p:spPr>
          <a:xfrm>
            <a:off x="8412480" y="3858840"/>
            <a:ext cx="319968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5A5A5A"/>
                </a:solidFill>
                <a:latin typeface="Aptos"/>
                <a:ea typeface="DejaVu Sans"/>
              </a:rPr>
              <a:t>Manual grep/read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37" name="CustomShape 26"/>
          <p:cNvSpPr/>
          <p:nvPr/>
        </p:nvSpPr>
        <p:spPr>
          <a:xfrm>
            <a:off x="457200" y="4206240"/>
            <a:ext cx="11246400" cy="34668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8" name="CustomShape 27"/>
          <p:cNvSpPr/>
          <p:nvPr/>
        </p:nvSpPr>
        <p:spPr>
          <a:xfrm>
            <a:off x="640080" y="4224600"/>
            <a:ext cx="319968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Aptos"/>
                <a:ea typeface="DejaVu Sans"/>
              </a:rPr>
              <a:t>Evidence packaging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39" name="CustomShape 28"/>
          <p:cNvSpPr/>
          <p:nvPr/>
        </p:nvSpPr>
        <p:spPr>
          <a:xfrm>
            <a:off x="4114800" y="4224600"/>
            <a:ext cx="365688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196B24"/>
                </a:solidFill>
                <a:latin typeface="Aptos"/>
                <a:ea typeface="DejaVu Sans"/>
              </a:rPr>
              <a:t>Structured + cited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40" name="CustomShape 29"/>
          <p:cNvSpPr/>
          <p:nvPr/>
        </p:nvSpPr>
        <p:spPr>
          <a:xfrm>
            <a:off x="8412480" y="4224600"/>
            <a:ext cx="319968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5A5A5A"/>
                </a:solidFill>
                <a:latin typeface="Aptos"/>
                <a:ea typeface="DejaVu Sans"/>
              </a:rPr>
              <a:t>Ad-hoc notes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41" name="CustomShape 30"/>
          <p:cNvSpPr/>
          <p:nvPr/>
        </p:nvSpPr>
        <p:spPr>
          <a:xfrm>
            <a:off x="640080" y="4590360"/>
            <a:ext cx="319968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Aptos"/>
                <a:ea typeface="DejaVu Sans"/>
              </a:rPr>
              <a:t>Cross-validation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42" name="CustomShape 31"/>
          <p:cNvSpPr/>
          <p:nvPr/>
        </p:nvSpPr>
        <p:spPr>
          <a:xfrm>
            <a:off x="4114800" y="4590360"/>
            <a:ext cx="365688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196B24"/>
                </a:solidFill>
                <a:latin typeface="Aptos"/>
                <a:ea typeface="DejaVu Sans"/>
              </a:rPr>
              <a:t>Automated (prior CFIs)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43" name="CustomShape 32"/>
          <p:cNvSpPr/>
          <p:nvPr/>
        </p:nvSpPr>
        <p:spPr>
          <a:xfrm>
            <a:off x="8412480" y="4590360"/>
            <a:ext cx="319968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5A5A5A"/>
                </a:solidFill>
                <a:latin typeface="Aptos"/>
                <a:ea typeface="DejaVu Sans"/>
              </a:rPr>
              <a:t>Manual memory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44" name="CustomShape 33"/>
          <p:cNvSpPr/>
          <p:nvPr/>
        </p:nvSpPr>
        <p:spPr>
          <a:xfrm>
            <a:off x="457560" y="5198040"/>
            <a:ext cx="10972080" cy="288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00" b="1" strike="noStrike" spc="-1">
                <a:solidFill>
                  <a:srgbClr val="156082"/>
                </a:solidFill>
                <a:latin typeface="Aptos"/>
                <a:ea typeface="DejaVu Sans"/>
              </a:rPr>
              <a:t>Verified Example — CFI-102218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245" name="CustomShape 34"/>
          <p:cNvSpPr/>
          <p:nvPr/>
        </p:nvSpPr>
        <p:spPr>
          <a:xfrm>
            <a:off x="457560" y="5577840"/>
            <a:ext cx="10972080" cy="69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</a:pPr>
            <a:r>
              <a:rPr lang="en-US" sz="1100" b="0" strike="noStrike" spc="-1">
                <a:solidFill>
                  <a:srgbClr val="000000"/>
                </a:solidFill>
                <a:latin typeface="Aptos"/>
                <a:ea typeface="DejaVu Sans"/>
              </a:rPr>
              <a:t>Agent: getLinkPort() → getRefClkPortNo() at TcTimeAlignment.java:648</a:t>
            </a:r>
            <a:endParaRPr lang="en-US" sz="11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</a:pPr>
            <a:r>
              <a:rPr lang="en-US" sz="1100" b="0" strike="noStrike" spc="-1">
                <a:solidFill>
                  <a:srgbClr val="5A5A5A"/>
                </a:solidFill>
                <a:latin typeface="Aptos"/>
                <a:ea typeface="DejaVu Sans"/>
              </a:rPr>
              <a:t>Jira:  "instead of getlinkport changed to getRefClkPortno then step 2.2 is working fine"</a:t>
            </a:r>
            <a:endParaRPr lang="en-US" sz="11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99"/>
              </a:spcAft>
            </a:pPr>
            <a:r>
              <a:rPr lang="en-US" sz="1100" b="1" strike="noStrike" spc="-1">
                <a:solidFill>
                  <a:srgbClr val="196B24"/>
                </a:solidFill>
                <a:latin typeface="Aptos"/>
                <a:ea typeface="DejaVu Sans"/>
              </a:rPr>
              <a:t>Verdict: ✅ EXACT MATCH</a:t>
            </a:r>
            <a:endParaRPr lang="en-US" sz="11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601D13-1586-E231-A839-14C7B208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Tenorite"/>
              </a:rPr>
              <a:t>Thank you</a:t>
            </a:r>
            <a:r>
              <a:rPr lang="en-US">
                <a:solidFill>
                  <a:srgbClr val="95B44E"/>
                </a:solidFill>
                <a:latin typeface="Tenorit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52232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6C47639219C8468A0D98F9A082EF44" ma:contentTypeVersion="23" ma:contentTypeDescription="Create a new document." ma:contentTypeScope="" ma:versionID="b81bdb1088f307d1cfc8f34f0100fd19">
  <xsd:schema xmlns:xsd="http://www.w3.org/2001/XMLSchema" xmlns:xs="http://www.w3.org/2001/XMLSchema" xmlns:p="http://schemas.microsoft.com/office/2006/metadata/properties" xmlns:ns1="http://schemas.microsoft.com/sharepoint/v3" xmlns:ns2="7d448632-807b-4369-bd0d-e154416c3237" xmlns:ns3="8702e0de-234b-4481-933a-668b39ac738d" targetNamespace="http://schemas.microsoft.com/office/2006/metadata/properties" ma:root="true" ma:fieldsID="3d8cdb8c30e839d9f23d6342f992fc14" ns1:_="" ns2:_="" ns3:_="">
    <xsd:import namespace="http://schemas.microsoft.com/sharepoint/v3"/>
    <xsd:import namespace="7d448632-807b-4369-bd0d-e154416c3237"/>
    <xsd:import namespace="8702e0de-234b-4481-933a-668b39ac73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MediaServiceLocation" minOccurs="0"/>
                <xsd:element ref="ns2:MediaServiceOCR" minOccurs="0"/>
                <xsd:element ref="ns2:MediaServiceObjectDetectorVersions" minOccurs="0"/>
                <xsd:element ref="ns2:Remark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448632-807b-4369-bd0d-e154416c32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6df4c0-9ee9-406c-8b5c-a0fe24c95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Remarks" ma:index="25" nillable="true" ma:displayName="Remarks" ma:format="Dropdown" ma:internalName="Remarks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02e0de-234b-4481-933a-668b39ac738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e8671c5e-7923-448b-9598-66361d6032a3}" ma:internalName="TaxCatchAll" ma:showField="CatchAllData" ma:web="8702e0de-234b-4481-933a-668b39ac73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7d448632-807b-4369-bd0d-e154416c3237">
      <Terms xmlns="http://schemas.microsoft.com/office/infopath/2007/PartnerControls"/>
    </lcf76f155ced4ddcb4097134ff3c332f>
    <_ip_UnifiedCompliancePolicyProperties xmlns="http://schemas.microsoft.com/sharepoint/v3" xsi:nil="true"/>
    <Remarks xmlns="7d448632-807b-4369-bd0d-e154416c3237" xsi:nil="true"/>
    <TaxCatchAll xmlns="8702e0de-234b-4481-933a-668b39ac738d" xsi:nil="true"/>
  </documentManagement>
</p:properties>
</file>

<file path=customXml/itemProps1.xml><?xml version="1.0" encoding="utf-8"?>
<ds:datastoreItem xmlns:ds="http://schemas.openxmlformats.org/officeDocument/2006/customXml" ds:itemID="{77C3D867-5659-460E-8327-FB02848BCC44}"/>
</file>

<file path=customXml/itemProps2.xml><?xml version="1.0" encoding="utf-8"?>
<ds:datastoreItem xmlns:ds="http://schemas.openxmlformats.org/officeDocument/2006/customXml" ds:itemID="{7D9675EE-6B2D-4117-956F-864A02B7FEC5}"/>
</file>

<file path=customXml/itemProps3.xml><?xml version="1.0" encoding="utf-8"?>
<ds:datastoreItem xmlns:ds="http://schemas.openxmlformats.org/officeDocument/2006/customXml" ds:itemID="{0B46E696-4093-4592-930B-BE22756ECEB3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revision>4</cp:revision>
  <dcterms:created xsi:type="dcterms:W3CDTF">2013-07-15T20:26:40Z</dcterms:created>
  <dcterms:modified xsi:type="dcterms:W3CDTF">2026-07-07T08:15:06Z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MMClips">
    <vt:i4>0</vt:i4>
  </property>
  <property fmtid="{D5CDD505-2E9C-101B-9397-08002B2CF9AE}" pid="5" name="Notes">
    <vt:i4>0</vt:i4>
  </property>
  <property fmtid="{D5CDD505-2E9C-101B-9397-08002B2CF9AE}" pid="6" name="PresentationFormat">
    <vt:lpwstr>Widescreen</vt:lpwstr>
  </property>
  <property fmtid="{D5CDD505-2E9C-101B-9397-08002B2CF9AE}" pid="7" name="Slides">
    <vt:i4>6</vt:i4>
  </property>
  <property fmtid="{D5CDD505-2E9C-101B-9397-08002B2CF9AE}" pid="8" name="MSIP_Label_a8c544ca-bb84-4280-906e-934547e1d30c_Name">
    <vt:lpwstr>Internal - General Use</vt:lpwstr>
  </property>
  <property fmtid="{D5CDD505-2E9C-101B-9397-08002B2CF9AE}" pid="9" name="ShareDoc">
    <vt:lpwstr>0</vt:lpwstr>
  </property>
  <property fmtid="{D5CDD505-2E9C-101B-9397-08002B2CF9AE}" pid="10" name="MSIP_Label_a8c544ca-bb84-4280-906e-934547e1d30c_SiteId">
    <vt:lpwstr>258ac4e4-146a-411e-9dc8-79a9e12fd6da</vt:lpwstr>
  </property>
  <property fmtid="{D5CDD505-2E9C-101B-9397-08002B2CF9AE}" pid="11" name="MSIP_Label_a8c544ca-bb84-4280-906e-934547e1d30c_SetDate">
    <vt:lpwstr>2026-07-06T09:05:15Z</vt:lpwstr>
  </property>
  <property fmtid="{D5CDD505-2E9C-101B-9397-08002B2CF9AE}" pid="12" name="LinksUpToDate">
    <vt:lpwstr>0</vt:lpwstr>
  </property>
  <property fmtid="{D5CDD505-2E9C-101B-9397-08002B2CF9AE}" pid="13" name="MSIP_Label_a8c544ca-bb84-4280-906e-934547e1d30c_Enabled">
    <vt:lpwstr>True</vt:lpwstr>
  </property>
  <property fmtid="{D5CDD505-2E9C-101B-9397-08002B2CF9AE}" pid="14" name="MSIP_Label_a8c544ca-bb84-4280-906e-934547e1d30c_Extended_MSFT_Method">
    <vt:lpwstr>Standard</vt:lpwstr>
  </property>
  <property fmtid="{D5CDD505-2E9C-101B-9397-08002B2CF9AE}" pid="15" name="HyperlinksChanged">
    <vt:lpwstr>0</vt:lpwstr>
  </property>
  <property fmtid="{D5CDD505-2E9C-101B-9397-08002B2CF9AE}" pid="16" name="Sensitivity">
    <vt:lpwstr>Internal - General Use</vt:lpwstr>
  </property>
  <property fmtid="{D5CDD505-2E9C-101B-9397-08002B2CF9AE}" pid="17" name="MSIP_Label_a8c544ca-bb84-4280-906e-934547e1d30c_ActionId">
    <vt:lpwstr>cec53249-a249-493c-bd8d-6aa281d6a4e5</vt:lpwstr>
  </property>
  <property fmtid="{D5CDD505-2E9C-101B-9397-08002B2CF9AE}" pid="18" name="MSIP_Label_a8c544ca-bb84-4280-906e-934547e1d30c_Removed">
    <vt:lpwstr>False</vt:lpwstr>
  </property>
  <property fmtid="{D5CDD505-2E9C-101B-9397-08002B2CF9AE}" pid="19" name="ScaleCrop">
    <vt:lpwstr>0</vt:lpwstr>
  </property>
  <property fmtid="{D5CDD505-2E9C-101B-9397-08002B2CF9AE}" pid="20" name="MSIP_Label_a8c544ca-bb84-4280-906e-934547e1d30c_ContentBits">
    <vt:lpwstr>2</vt:lpwstr>
  </property>
  <property fmtid="{D5CDD505-2E9C-101B-9397-08002B2CF9AE}" pid="21" name="MSIP_Label_a8c544ca-bb84-4280-906e-934547e1d30c_Tag">
    <vt:lpwstr>10, 0, 1, 2</vt:lpwstr>
  </property>
  <property fmtid="{D5CDD505-2E9C-101B-9397-08002B2CF9AE}" pid="22" name="ClassificationContentMarkingFooterText">
    <vt:lpwstr>Internal - General Use</vt:lpwstr>
  </property>
  <property fmtid="{D5CDD505-2E9C-101B-9397-08002B2CF9AE}" pid="23" name="MSIP_Label_a8c544ca-bb84-4280-906e-934547e1d30c_Method">
    <vt:lpwstr>Privileged</vt:lpwstr>
  </property>
  <property fmtid="{D5CDD505-2E9C-101B-9397-08002B2CF9AE}" pid="24" name="ClassificationContentMarkingFooterLocations">
    <vt:lpwstr>Office Theme:5\Office Theme:3</vt:lpwstr>
  </property>
  <property fmtid="{D5CDD505-2E9C-101B-9397-08002B2CF9AE}" pid="25" name="ContentTypeId">
    <vt:lpwstr>0x010100EF6C47639219C8468A0D98F9A082EF44</vt:lpwstr>
  </property>
</Properties>
</file>