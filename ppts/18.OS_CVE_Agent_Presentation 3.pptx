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2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2743200" cy="2743200"/>
          </a:xfrm>
          <a:prstGeom prst="ellipse">
            <a:avLst/>
          </a:prstGeom>
          <a:solidFill>
            <a:srgbClr val="15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OS CVE Analysis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Calibri"/>
              </a:defRPr>
            </a:pPr>
            <a:r>
              <a:t>AI-Powered Automation for Vulnerability Ticket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840480"/>
            <a:ext cx="301752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C4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problem are we solving?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Every vulnerability scan generates 120+ OS CVE tickets in Jira (IDUN project).</a:t>
            </a:r>
            <a:br/>
            <a:r>
              <a:t>One engineer had to manually process each ticket — taking 2 to 3 DAYS per scan.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the engineer was doing manually for EACH ticket: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1.   Open the Jira ticket → read CVE ID and package name from the summary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2.   Open SUSE website → search for that specific CVE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3.   Find the exact package → check if fix is Available / In Progress / Not Affected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4.   Go back to Jira → manually fill 8 fields: Category, VEX, Rationale, Mitigation, Fix Version...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5.   Write the rationale text explaining why it's applicable or not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6.   Assign ticket, set sprint, set responsible person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7.   Move ticket status: New → In Progress → Waiting for Approval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8.   Repeat this 120+ times... for 2-3 days straight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760720"/>
            <a:ext cx="10332720" cy="731520"/>
          </a:xfrm>
          <a:prstGeom prst="roundRect">
            <a:avLst/>
          </a:prstGeom>
          <a:solidFill>
            <a:srgbClr val="2A1515"/>
          </a:solidFill>
          <a:ln w="19050">
            <a:solidFill>
              <a:srgbClr val="5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5897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C4C"/>
                </a:solidFill>
                <a:latin typeface="Calibri"/>
              </a:defRPr>
            </a:pPr>
            <a:r>
              <a:t>❌  Impact: 2-3 days of engineer time wasted per scan. Prone to human errors. Engineers stuck doing repetitive work instead of real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THE SOLUTION — OS CVE ANALYSIS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is this agent &amp; how 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rPr dirty="0"/>
              <a:t>An AI-powered automation tool (built using Kiro CLI + Jira MCP) that does ALL the manual</a:t>
            </a:r>
            <a:br>
              <a:rPr dirty="0"/>
            </a:br>
            <a:r>
              <a:rPr dirty="0"/>
              <a:t>steps automatically. You just type one command — the agent does the rest in ~</a:t>
            </a:r>
            <a:r>
              <a:rPr lang="en-US" dirty="0"/>
              <a:t>1</a:t>
            </a:r>
            <a:r>
              <a:rPr dirty="0"/>
              <a:t>5</a:t>
            </a:r>
            <a:r>
              <a:rPr lang="en-US" dirty="0"/>
              <a:t> to 20</a:t>
            </a:r>
            <a:r>
              <a:rPr dirty="0"/>
              <a:t>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Agent Workflow — What happens when you run 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Step 1:  </a:t>
            </a:r>
            <a:r>
              <a:rPr sz="1200">
                <a:solidFill>
                  <a:srgbClr val="BBBBCC"/>
                </a:solidFill>
                <a:latin typeface="Calibri"/>
              </a:rPr>
              <a:t>Fetches all open OS CVE tickets from Jira using a smart query (filters your team's tickets 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Step 2:  </a:t>
            </a:r>
            <a:r>
              <a:rPr sz="1200">
                <a:solidFill>
                  <a:srgbClr val="BBBBCC"/>
                </a:solidFill>
                <a:latin typeface="Calibri"/>
              </a:rPr>
              <a:t>Reads each ticket's CVE ID and package name from the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Step 3:  </a:t>
            </a:r>
            <a:r>
              <a:rPr sz="1200">
                <a:solidFill>
                  <a:srgbClr val="BBBBCC"/>
                </a:solidFill>
                <a:latin typeface="Calibri"/>
              </a:rPr>
              <a:t>Goes to SUSE website automatically → finds if the package has a fix or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Step 4:  </a:t>
            </a:r>
            <a:r>
              <a:rPr sz="1200">
                <a:solidFill>
                  <a:srgbClr val="BBBBCC"/>
                </a:solidFill>
                <a:latin typeface="Calibri"/>
              </a:rPr>
              <a:t>Classifies the ticket:  • No fix available → 'Not Applicable'  • Fix released → checks service  • Not affected → 'Not Applicable'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Step 5:  </a:t>
            </a:r>
            <a:r>
              <a:rPr sz="1200">
                <a:solidFill>
                  <a:srgbClr val="BBBBCC"/>
                </a:solidFill>
                <a:latin typeface="Calibri"/>
              </a:rPr>
              <a:t>Updates ALL 8 Jira fields automatically (Category, VEX, Rationale, Mitigation, Fix Version,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Step 6:  </a:t>
            </a:r>
            <a:r>
              <a:rPr sz="1200">
                <a:solidFill>
                  <a:srgbClr val="BBBBCC"/>
                </a:solidFill>
                <a:latin typeface="Calibri"/>
              </a:rPr>
              <a:t>Moves each ticket: New → In Progress → Waiting for Approval. Done!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035040"/>
            <a:ext cx="10332720" cy="548640"/>
          </a:xfrm>
          <a:prstGeom prst="roundRect">
            <a:avLst/>
          </a:prstGeom>
          <a:solidFill>
            <a:srgbClr val="0A2015"/>
          </a:solidFill>
          <a:ln w="19050">
            <a:solidFill>
              <a:srgbClr val="1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61081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🛡️  Safety: Agent shows a dry-run preview BEFORE making changes. You approve, then it executes. Safe to re-run anytime.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BENEFITS — EFFORT &amp; QUALITY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How much time does it save?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46320" cy="2286000"/>
          </a:xfrm>
          <a:prstGeom prst="roundRect">
            <a:avLst/>
          </a:prstGeom>
          <a:solidFill>
            <a:srgbClr val="2A1515"/>
          </a:solidFill>
          <a:ln w="19050">
            <a:solidFill>
              <a:srgbClr val="5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4C4C"/>
                </a:solidFill>
                <a:latin typeface="Calibri"/>
              </a:defRPr>
            </a:pPr>
            <a:r>
              <a:t>❌  BEFORE (Manual)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4C4C"/>
                </a:solidFill>
                <a:latin typeface="Calibri"/>
              </a:defRPr>
            </a:pPr>
            <a:r>
              <a:t>2–3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</a:pPr>
            <a:r>
              <a:rPr sz="1100">
                <a:solidFill>
                  <a:srgbClr val="BBBBCC"/>
                </a:solidFill>
                <a:latin typeface="Calibri"/>
              </a:rPr>
              <a:t>• 1 engineer fully occupied for 2-3 days</a:t>
            </a:r>
          </a:p>
          <a:p>
            <a:pPr algn="l">
              <a:spcAft>
                <a:spcPts val="550"/>
              </a:spcAft>
            </a:pPr>
            <a:r>
              <a:rPr sz="1100">
                <a:solidFill>
                  <a:srgbClr val="BBBBCC"/>
                </a:solidFill>
                <a:latin typeface="Calibri"/>
              </a:rPr>
              <a:t>• Copy-paste errors in VEX/Rationale fields</a:t>
            </a:r>
          </a:p>
          <a:p>
            <a:pPr algn="l">
              <a:spcAft>
                <a:spcPts val="550"/>
              </a:spcAft>
            </a:pPr>
            <a:r>
              <a:rPr sz="1100">
                <a:solidFill>
                  <a:srgbClr val="BBBBCC"/>
                </a:solidFill>
                <a:latin typeface="Calibri"/>
              </a:rPr>
              <a:t>• Inconsistent analysis across tickets</a:t>
            </a:r>
          </a:p>
          <a:p>
            <a:pPr algn="l">
              <a:spcAft>
                <a:spcPts val="550"/>
              </a:spcAft>
            </a:pPr>
            <a:r>
              <a:rPr sz="1100">
                <a:solidFill>
                  <a:srgbClr val="BBBBCC"/>
                </a:solidFill>
                <a:latin typeface="Calibri"/>
              </a:rPr>
              <a:t>• Boring, repetitive — low morale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4846320" cy="2286000"/>
          </a:xfrm>
          <a:prstGeom prst="roundRect">
            <a:avLst/>
          </a:prstGeom>
          <a:solidFill>
            <a:srgbClr val="0A2015"/>
          </a:solidFill>
          <a:ln w="19050">
            <a:solidFill>
              <a:srgbClr val="15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✅  AFTER (With 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CC71"/>
                </a:solidFill>
                <a:latin typeface="Calibri"/>
              </a:defRPr>
            </a:pPr>
            <a:r>
              <a:t>5–10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</a:pPr>
            <a:r>
              <a:rPr sz="1100">
                <a:solidFill>
                  <a:srgbClr val="BBBBCC"/>
                </a:solidFill>
                <a:latin typeface="Calibri"/>
              </a:rPr>
              <a:t>• Agent processes 20-30 tickets in ~5 min</a:t>
            </a:r>
          </a:p>
          <a:p>
            <a:pPr algn="l">
              <a:spcAft>
                <a:spcPts val="550"/>
              </a:spcAft>
            </a:pPr>
            <a:r>
              <a:rPr sz="1100">
                <a:solidFill>
                  <a:srgbClr val="BBBBCC"/>
                </a:solidFill>
                <a:latin typeface="Calibri"/>
              </a:rPr>
              <a:t>• Zero copy-paste errors — 100% consistent</a:t>
            </a:r>
          </a:p>
          <a:p>
            <a:pPr algn="l">
              <a:spcAft>
                <a:spcPts val="550"/>
              </a:spcAft>
            </a:pPr>
            <a:r>
              <a:rPr sz="1100">
                <a:solidFill>
                  <a:srgbClr val="BBBBCC"/>
                </a:solidFill>
                <a:latin typeface="Calibri"/>
              </a:rPr>
              <a:t>• Same quality every time, no human fatigue</a:t>
            </a:r>
          </a:p>
          <a:p>
            <a:pPr algn="l">
              <a:spcAft>
                <a:spcPts val="550"/>
              </a:spcAft>
            </a:pPr>
            <a:r>
              <a:rPr sz="1100">
                <a:solidFill>
                  <a:srgbClr val="BBBBCC"/>
                </a:solidFill>
                <a:latin typeface="Calibri"/>
              </a:rPr>
              <a:t>• Engineer reviews output, approves in 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 Numbers (from actual runs):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2560320" cy="1828800"/>
          </a:xfrm>
          <a:prstGeom prst="roundRect">
            <a:avLst/>
          </a:prstGeom>
          <a:solidFill>
            <a:srgbClr val="25253A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BBBCC"/>
                </a:solidFill>
                <a:latin typeface="Calibri"/>
              </a:defRPr>
            </a:pPr>
            <a:r>
              <a:t>⏱️  Agent Run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  <a:latin typeface="Calibri"/>
              </a:defRPr>
            </a:pPr>
            <a:r>
              <a:t>~5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52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for 23 tickets queried,</a:t>
            </a:r>
            <a:br/>
            <a:r>
              <a:t>12 processed end-to-end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4754880"/>
            <a:ext cx="2560320" cy="1828800"/>
          </a:xfrm>
          <a:prstGeom prst="roundRect">
            <a:avLst/>
          </a:prstGeom>
          <a:solidFill>
            <a:srgbClr val="25253A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BBBCC"/>
                </a:solidFill>
                <a:latin typeface="Calibri"/>
              </a:defRPr>
            </a:pPr>
            <a:r>
              <a:t>📊  Tickets Per 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212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  <a:latin typeface="Calibri"/>
              </a:defRPr>
            </a:pPr>
            <a:r>
              <a:t>120+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852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OS vulnerability tickets</a:t>
            </a:r>
            <a:br/>
            <a:r>
              <a:t>generated per scan cycle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754880"/>
            <a:ext cx="2560320" cy="1828800"/>
          </a:xfrm>
          <a:prstGeom prst="roundRect">
            <a:avLst/>
          </a:prstGeom>
          <a:solidFill>
            <a:srgbClr val="25253A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BBBCC"/>
                </a:solidFill>
                <a:latin typeface="Calibri"/>
              </a:defRPr>
            </a:pPr>
            <a:r>
              <a:t>🎯 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212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852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All fields filled correctly.</a:t>
            </a:r>
            <a:br/>
            <a:r>
              <a:t>No manual correction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59" y="4754880"/>
            <a:ext cx="2560320" cy="1828800"/>
          </a:xfrm>
          <a:prstGeom prst="roundRect">
            <a:avLst/>
          </a:prstGeom>
          <a:solidFill>
            <a:srgbClr val="25253A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599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BBBCC"/>
                </a:solidFill>
                <a:latin typeface="Calibri"/>
              </a:defRPr>
            </a:pPr>
            <a:r>
              <a:t>📅 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5212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  <a:latin typeface="Calibri"/>
              </a:defRPr>
            </a:pPr>
            <a:r>
              <a:t>Weekly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5852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Run once per sprint.</a:t>
            </a:r>
            <a:br/>
            <a:r>
              <a:t>10 min setup for new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14E63456-0315-446C-B7C5-B2A8453527EC}"/>
</file>

<file path=customXml/itemProps2.xml><?xml version="1.0" encoding="utf-8"?>
<ds:datastoreItem xmlns:ds="http://schemas.openxmlformats.org/officeDocument/2006/customXml" ds:itemID="{3C2F5B9A-BC24-46FD-9BA2-0958436AD070}"/>
</file>

<file path=customXml/itemProps3.xml><?xml version="1.0" encoding="utf-8"?>
<ds:datastoreItem xmlns:ds="http://schemas.openxmlformats.org/officeDocument/2006/customXml" ds:itemID="{A9DF95F5-1AB5-4945-B3F6-8B80D525C219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580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Prince Kumar (EXT)</cp:lastModifiedBy>
  <cp:revision>4</cp:revision>
  <dcterms:created xsi:type="dcterms:W3CDTF">2013-01-27T09:14:16Z</dcterms:created>
  <dcterms:modified xsi:type="dcterms:W3CDTF">2026-07-07T08:48:29Z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tentTypeId">
    <vt:lpwstr>0x010100EF6C47639219C8468A0D98F9A082EF44</vt:lpwstr>
  </property>
  <property fmtid="{D5CDD505-2E9C-101B-9397-08002B2CF9AE}" pid="3" name="MSIP_Label_a8c544ca-bb84-4280-906e-934547e1d30c_Enabled">
    <vt:lpwstr>True</vt:lpwstr>
  </property>
  <property fmtid="{D5CDD505-2E9C-101B-9397-08002B2CF9AE}" pid="4" name="MSIP_Label_a8c544ca-bb84-4280-906e-934547e1d30c_SiteId">
    <vt:lpwstr>258ac4e4-146a-411e-9dc8-79a9e12fd6da</vt:lpwstr>
  </property>
  <property fmtid="{D5CDD505-2E9C-101B-9397-08002B2CF9AE}" pid="5" name="MSIP_Label_a8c544ca-bb84-4280-906e-934547e1d30c_SetDate">
    <vt:lpwstr>2026-07-07T09:06:30Z</vt:lpwstr>
  </property>
  <property fmtid="{D5CDD505-2E9C-101B-9397-08002B2CF9AE}" pid="6" name="MSIP_Label_a8c544ca-bb84-4280-906e-934547e1d30c_Name">
    <vt:lpwstr>Internal - General Use</vt:lpwstr>
  </property>
  <property fmtid="{D5CDD505-2E9C-101B-9397-08002B2CF9AE}" pid="7" name="MSIP_Label_a8c544ca-bb84-4280-906e-934547e1d30c_ActionId">
    <vt:lpwstr>e7347610-c0ae-4de2-b9d7-3fc5c785e05d</vt:lpwstr>
  </property>
  <property fmtid="{D5CDD505-2E9C-101B-9397-08002B2CF9AE}" pid="8" name="MSIP_Label_a8c544ca-bb84-4280-906e-934547e1d30c_Removed">
    <vt:lpwstr>False</vt:lpwstr>
  </property>
  <property fmtid="{D5CDD505-2E9C-101B-9397-08002B2CF9AE}" pid="9" name="MSIP_Label_a8c544ca-bb84-4280-906e-934547e1d30c_Extended_MSFT_Method">
    <vt:lpwstr>Standard</vt:lpwstr>
  </property>
  <property fmtid="{D5CDD505-2E9C-101B-9397-08002B2CF9AE}" pid="10" name="Sensitivity">
    <vt:lpwstr>Internal - General Use</vt:lpwstr>
  </property>
</Properties>
</file>